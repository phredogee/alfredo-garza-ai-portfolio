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0" r:id="rId1"/>
  </p:sldMasterIdLst>
  <p:notesMasterIdLst>
    <p:notesMasterId r:id="rId13"/>
  </p:notesMasterIdLst>
  <p:sldIdLst>
    <p:sldId id="256" r:id="rId2"/>
    <p:sldId id="257" r:id="rId3"/>
    <p:sldId id="258" r:id="rId4"/>
    <p:sldId id="259" r:id="rId5"/>
    <p:sldId id="260" r:id="rId6"/>
    <p:sldId id="261" r:id="rId7"/>
    <p:sldId id="266" r:id="rId8"/>
    <p:sldId id="267" r:id="rId9"/>
    <p:sldId id="263" r:id="rId10"/>
    <p:sldId id="264" r:id="rId11"/>
    <p:sldId id="268" r:id="rId12"/>
  </p:sldIdLst>
  <p:sldSz cx="9144000" cy="5143500" type="screen16x9"/>
  <p:notesSz cx="51435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6" roundtripDataSignature="AMtx7miAqQvxm0Vue+rmfBdpzxZcwWjLH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4CFFF6-7F02-4280-AC3B-291B81E02A8B}" v="20" dt="2026-04-20T20:14:04.112"/>
  </p1510:revLst>
</p1510:revInfo>
</file>

<file path=ppt/tableStyles.xml><?xml version="1.0" encoding="utf-8"?>
<a:tblStyleLst xmlns:a="http://schemas.openxmlformats.org/drawingml/2006/main" def="{F125A0CD-B698-43B7-BC57-1E23A76C2744}">
  <a:tblStyle styleId="{F125A0CD-B698-43B7-BC57-1E23A76C2744}"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6513" autoAdjust="0"/>
  </p:normalViewPr>
  <p:slideViewPr>
    <p:cSldViewPr snapToGrid="0">
      <p:cViewPr>
        <p:scale>
          <a:sx n="100" d="100"/>
          <a:sy n="100" d="100"/>
        </p:scale>
        <p:origin x="1304" y="1868"/>
      </p:cViewPr>
      <p:guideLst/>
    </p:cSldViewPr>
  </p:slideViewPr>
  <p:notesTextViewPr>
    <p:cViewPr>
      <p:scale>
        <a:sx n="1" d="1"/>
        <a:sy n="1" d="1"/>
      </p:scale>
      <p:origin x="0" y="-1728"/>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customschemas.google.com/relationships/presentationmetadata" Target="meta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857400" y="685800"/>
            <a:ext cx="342915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4" name="Google Shape;4;n"/>
          <p:cNvSpPr txBox="1">
            <a:spLocks noGrp="1"/>
          </p:cNvSpPr>
          <p:nvPr>
            <p:ph type="body" idx="1"/>
          </p:nvPr>
        </p:nvSpPr>
        <p:spPr>
          <a:xfrm>
            <a:off x="514350" y="4343400"/>
            <a:ext cx="41148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
        <p:cNvGrpSpPr/>
        <p:nvPr/>
      </p:nvGrpSpPr>
      <p:grpSpPr>
        <a:xfrm>
          <a:off x="0" y="0"/>
          <a:ext cx="0" cy="0"/>
          <a:chOff x="0" y="0"/>
          <a:chExt cx="0" cy="0"/>
        </a:xfrm>
      </p:grpSpPr>
      <p:sp>
        <p:nvSpPr>
          <p:cNvPr id="8" name="Google Shape;8;p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a:lstStyle/>
          <a:p>
            <a:endParaRPr lang="en-US" dirty="0"/>
          </a:p>
        </p:txBody>
      </p:sp>
      <p:sp>
        <p:nvSpPr>
          <p:cNvPr id="9" name="Google Shape;9;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dirty="0">
                <a:solidFill>
                  <a:schemeClr val="dk1"/>
                </a:solidFill>
              </a:rPr>
              <a:t>[~60 sec] “Good [morning/afternoon], everyone. My name is [Name], and I’m presenting today with [teammates]. </a:t>
            </a:r>
            <a:r>
              <a:rPr lang="en-US" sz="1200" dirty="0"/>
              <a:t>Today we’ll present our recommendation for the best Type 1 hypervisor for a small business environment. We evaluated three major platforms and built a solution based on cost, features, and real-world practicality”</a:t>
            </a:r>
            <a:endParaRPr sz="1200" dirty="0">
              <a:solidFill>
                <a:schemeClr val="dk1"/>
              </a:solidFill>
              <a:latin typeface="Arial"/>
              <a:ea typeface="Arial"/>
              <a:cs typeface="Arial"/>
              <a:sym typeface="Arial"/>
            </a:endParaRPr>
          </a:p>
        </p:txBody>
      </p:sp>
      <p:sp>
        <p:nvSpPr>
          <p:cNvPr id="10" name="Google Shape;10;p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a:t>
            </a:fld>
            <a:endParaRPr sz="1800" dirty="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
        <p:cNvGrpSpPr/>
        <p:nvPr/>
      </p:nvGrpSpPr>
      <p:grpSpPr>
        <a:xfrm>
          <a:off x="0" y="0"/>
          <a:ext cx="0" cy="0"/>
          <a:chOff x="0" y="0"/>
          <a:chExt cx="0" cy="0"/>
        </a:xfrm>
      </p:grpSpPr>
      <p:sp>
        <p:nvSpPr>
          <p:cNvPr id="20" name="Google Shape;20;p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a:lstStyle/>
          <a:p>
            <a:endParaRPr lang="en-US" dirty="0"/>
          </a:p>
        </p:txBody>
      </p:sp>
      <p:sp>
        <p:nvSpPr>
          <p:cNvPr id="21" name="Google Shape;21;p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dirty="0">
                <a:solidFill>
                  <a:schemeClr val="dk1"/>
                </a:solidFill>
              </a:rPr>
              <a:t>Here’s a quick roadmap of our presentation. We’ll start by explaining the client’s specific scenario, then introduce the three hypervisors we evaluated. From there, we’ll define our comparison criteria, go through the detailed side-by-side analysis, and then cover our recommendation and the proposed architecture design. We’ve also included a references slide at the end. The whole presentation should run about 15 minutes, leaving time for questions at the end.</a:t>
            </a:r>
            <a:endParaRPr sz="1200" dirty="0">
              <a:solidFill>
                <a:schemeClr val="dk1"/>
              </a:solidFill>
              <a:latin typeface="Arial"/>
              <a:ea typeface="Arial"/>
              <a:cs typeface="Arial"/>
              <a:sym typeface="Arial"/>
            </a:endParaRPr>
          </a:p>
        </p:txBody>
      </p:sp>
      <p:sp>
        <p:nvSpPr>
          <p:cNvPr id="22" name="Google Shape;22;p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2</a:t>
            </a:fld>
            <a:endParaRPr sz="1800" dirty="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a:lstStyle/>
          <a:p>
            <a:endParaRPr lang="en-US" dirty="0"/>
          </a:p>
        </p:txBody>
      </p:sp>
      <p:sp>
        <p:nvSpPr>
          <p:cNvPr id="58" name="Google Shape;58;p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228600" marR="0" lvl="0" indent="-228600" algn="l" rtl="0">
              <a:spcBef>
                <a:spcPts val="0"/>
              </a:spcBef>
              <a:spcAft>
                <a:spcPts val="0"/>
              </a:spcAft>
            </a:pPr>
            <a:r>
              <a:rPr lang="en-US" sz="1200" dirty="0"/>
              <a:t>3 Physical Hosts (Servers)</a:t>
            </a:r>
          </a:p>
          <a:p>
            <a:pPr marL="228600" marR="0" lvl="0" indent="-228600" algn="l" rtl="0">
              <a:spcBef>
                <a:spcPts val="0"/>
              </a:spcBef>
              <a:spcAft>
                <a:spcPts val="0"/>
              </a:spcAft>
            </a:pPr>
            <a:r>
              <a:rPr lang="en-US" sz="1200" dirty="0"/>
              <a:t>10 Client Workstations </a:t>
            </a:r>
          </a:p>
          <a:p>
            <a:pPr marL="228600" marR="0" lvl="0" indent="-228600" algn="l" rtl="0">
              <a:spcBef>
                <a:spcPts val="0"/>
              </a:spcBef>
              <a:spcAft>
                <a:spcPts val="0"/>
              </a:spcAft>
            </a:pPr>
            <a:r>
              <a:rPr lang="en-US" sz="1200" dirty="0"/>
              <a:t>Budget-Constrained Environment </a:t>
            </a:r>
          </a:p>
          <a:p>
            <a:pPr marL="228600" marR="0" lvl="0" indent="-228600" algn="l" rtl="0">
              <a:spcBef>
                <a:spcPts val="0"/>
              </a:spcBef>
              <a:spcAft>
                <a:spcPts val="0"/>
              </a:spcAft>
            </a:pPr>
            <a:r>
              <a:rPr lang="en-US" sz="1200" dirty="0"/>
              <a:t>Goal: Cost Reduction, Simplicity, Reliability</a:t>
            </a:r>
          </a:p>
          <a:p>
            <a:pPr marL="228600" marR="0" lvl="0" indent="-228600" algn="l" rtl="0">
              <a:spcBef>
                <a:spcPts val="0"/>
              </a:spcBef>
              <a:spcAft>
                <a:spcPts val="0"/>
              </a:spcAft>
            </a:pPr>
            <a:endParaRPr lang="en-US" sz="1200" dirty="0">
              <a:solidFill>
                <a:schemeClr val="dk1"/>
              </a:solidFill>
              <a:latin typeface="Arial"/>
              <a:ea typeface="Arial"/>
              <a:cs typeface="Arial"/>
              <a:sym typeface="Arial"/>
            </a:endParaRPr>
          </a:p>
          <a:p>
            <a:pPr marL="0" marR="0" lvl="0" indent="0" algn="l" rtl="0">
              <a:spcBef>
                <a:spcPts val="0"/>
              </a:spcBef>
              <a:spcAft>
                <a:spcPts val="0"/>
              </a:spcAft>
              <a:buNone/>
            </a:pPr>
            <a:r>
              <a:rPr lang="en-US" sz="1200" dirty="0"/>
              <a:t>This is a small business with three servers and about ten users. Their goal is to reduce costs, simplify management, and improve reliability. Because budget is a key constraint, licensing becomes one of the most important decision factors.</a:t>
            </a:r>
            <a:endParaRPr sz="1200" dirty="0">
              <a:solidFill>
                <a:schemeClr val="dk1"/>
              </a:solidFill>
              <a:latin typeface="Arial"/>
              <a:ea typeface="Arial"/>
              <a:cs typeface="Arial"/>
              <a:sym typeface="Arial"/>
            </a:endParaRPr>
          </a:p>
        </p:txBody>
      </p:sp>
      <p:sp>
        <p:nvSpPr>
          <p:cNvPr id="59" name="Google Shape;59;p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3</a:t>
            </a:fld>
            <a:endParaRPr sz="1800" dirty="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a:lstStyle/>
          <a:p>
            <a:endParaRPr lang="en-US" dirty="0"/>
          </a:p>
        </p:txBody>
      </p:sp>
      <p:sp>
        <p:nvSpPr>
          <p:cNvPr id="80" name="Google Shape;80;p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158750" indent="0">
              <a:buNone/>
            </a:pPr>
            <a:r>
              <a:rPr lang="en-US" sz="1200" dirty="0"/>
              <a:t>        VMWare vSphere</a:t>
            </a:r>
          </a:p>
          <a:p>
            <a:r>
              <a:rPr lang="en-US" sz="1200" dirty="0"/>
              <a:t>ESXi (</a:t>
            </a:r>
            <a:r>
              <a:rPr lang="en-US" sz="1200" b="1" dirty="0"/>
              <a:t>Elastic Sky X Integrated</a:t>
            </a:r>
            <a:r>
              <a:rPr lang="en-US" sz="1200" dirty="0"/>
              <a:t>) hypervisor </a:t>
            </a:r>
          </a:p>
          <a:p>
            <a:r>
              <a:rPr lang="en-US" sz="1200" dirty="0"/>
              <a:t>Managed via vCenter Server </a:t>
            </a:r>
          </a:p>
          <a:p>
            <a:pPr marL="158750" indent="0">
              <a:buNone/>
            </a:pPr>
            <a:br>
              <a:rPr lang="en-US" sz="1200" dirty="0"/>
            </a:br>
            <a:endParaRPr lang="en-US" sz="1200" dirty="0"/>
          </a:p>
          <a:p>
            <a:r>
              <a:rPr lang="en-US" sz="1200" b="1" dirty="0"/>
              <a:t>Microsoft Hyper-V</a:t>
            </a:r>
          </a:p>
          <a:p>
            <a:r>
              <a:rPr lang="en-US" sz="1200" dirty="0"/>
              <a:t>Built into Windows Server (2019/2022/2025) </a:t>
            </a:r>
          </a:p>
          <a:p>
            <a:r>
              <a:rPr lang="en-US" sz="1200" dirty="0"/>
              <a:t>Type 1 hypervisor integrated with Microsoft ecosystem </a:t>
            </a:r>
          </a:p>
          <a:p>
            <a:pPr marL="158750" indent="0">
              <a:buNone/>
            </a:pPr>
            <a:br>
              <a:rPr lang="en-US" sz="1200" dirty="0"/>
            </a:br>
            <a:endParaRPr lang="en-US" sz="1200" dirty="0"/>
          </a:p>
          <a:p>
            <a:r>
              <a:rPr lang="en-US" sz="1200" b="1" dirty="0"/>
              <a:t>Proxmox VE</a:t>
            </a:r>
          </a:p>
          <a:p>
            <a:r>
              <a:rPr lang="en-US" sz="1200" dirty="0"/>
              <a:t>Proxmox VE (</a:t>
            </a:r>
            <a:r>
              <a:rPr lang="en-US" sz="1200" b="1" dirty="0"/>
              <a:t>Virtual Environment</a:t>
            </a:r>
            <a:r>
              <a:rPr lang="en-US" sz="1200" dirty="0"/>
              <a:t>) </a:t>
            </a:r>
          </a:p>
          <a:p>
            <a:r>
              <a:rPr lang="en-US" sz="1200" dirty="0"/>
              <a:t>Uses KVM (</a:t>
            </a:r>
            <a:r>
              <a:rPr lang="en-US" sz="1200" b="1" dirty="0"/>
              <a:t>Kernel-based Virtual Machine</a:t>
            </a:r>
            <a:r>
              <a:rPr lang="en-US" sz="1200" dirty="0"/>
              <a:t>) for VMs </a:t>
            </a:r>
          </a:p>
          <a:p>
            <a:r>
              <a:rPr lang="en-US" sz="1200" dirty="0"/>
              <a:t>Uses LXC (</a:t>
            </a:r>
            <a:r>
              <a:rPr lang="en-US" sz="1200" b="1" dirty="0"/>
              <a:t>Linux Containers</a:t>
            </a:r>
            <a:r>
              <a:rPr lang="en-US" sz="1200" dirty="0"/>
              <a:t>) for lightweight workloads</a:t>
            </a:r>
          </a:p>
          <a:p>
            <a:endParaRPr lang="en-US" sz="1200" dirty="0"/>
          </a:p>
          <a:p>
            <a:pPr marL="158750" indent="0">
              <a:buNone/>
            </a:pPr>
            <a:r>
              <a:rPr lang="en-US" sz="1200" dirty="0"/>
              <a:t>We evaluated three platforms. VMware vSphere is the enterprise standard. Hyper-V is tightly integrated with Windows environments. Proxmox VE is an open-source platform that combines KVM virtualization with Linux containers. All three are Type 1 hypervisors.</a:t>
            </a:r>
          </a:p>
          <a:p>
            <a:pPr marL="0" marR="0" lvl="0" indent="0" algn="l" rtl="0">
              <a:spcBef>
                <a:spcPts val="0"/>
              </a:spcBef>
              <a:spcAft>
                <a:spcPts val="0"/>
              </a:spcAft>
              <a:buNone/>
            </a:pPr>
            <a:endParaRPr sz="1200" dirty="0">
              <a:solidFill>
                <a:schemeClr val="dk1"/>
              </a:solidFill>
              <a:latin typeface="Arial"/>
              <a:ea typeface="Arial"/>
              <a:cs typeface="Arial"/>
              <a:sym typeface="Arial"/>
            </a:endParaRPr>
          </a:p>
        </p:txBody>
      </p:sp>
      <p:sp>
        <p:nvSpPr>
          <p:cNvPr id="81" name="Google Shape;81;p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4</a:t>
            </a:fld>
            <a:endParaRPr sz="1800" dirty="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a:lstStyle/>
          <a:p>
            <a:endParaRPr lang="en-US" dirty="0"/>
          </a:p>
        </p:txBody>
      </p:sp>
      <p:sp>
        <p:nvSpPr>
          <p:cNvPr id="121" name="Google Shape;121;p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dirty="0"/>
              <a:t>Cost is the biggest differentiator. VMware uses subscription pricing and is typically expensive for small environments. Hyper-V appears affordable initially, but licensing scales quickly because each Standard license only covers two virtual machines. Proxmox has no licensing cost, with optional support subscriptions. This makes it the most cost-efficient option for this scenario.</a:t>
            </a:r>
            <a:endParaRPr sz="1200" dirty="0">
              <a:solidFill>
                <a:schemeClr val="dk1"/>
              </a:solidFill>
            </a:endParaRPr>
          </a:p>
          <a:p>
            <a:pPr marL="0" marR="0" lvl="0" indent="0" algn="l" rtl="0">
              <a:spcBef>
                <a:spcPts val="0"/>
              </a:spcBef>
              <a:spcAft>
                <a:spcPts val="0"/>
              </a:spcAft>
              <a:buNone/>
            </a:pPr>
            <a:endParaRPr lang="en-US" sz="1200" dirty="0">
              <a:solidFill>
                <a:schemeClr val="dk1"/>
              </a:solidFill>
            </a:endParaRPr>
          </a:p>
          <a:p>
            <a:pPr marL="0" marR="0" lvl="0" indent="0" algn="l" rtl="0">
              <a:spcBef>
                <a:spcPts val="0"/>
              </a:spcBef>
              <a:spcAft>
                <a:spcPts val="0"/>
              </a:spcAft>
              <a:buNone/>
            </a:pPr>
            <a:r>
              <a:rPr lang="en-US" sz="1200" dirty="0"/>
              <a:t>Guest operating system licensing (such as Windows Server VMs) applies regardless of hypervisor and is not included in this comparison.</a:t>
            </a:r>
            <a:endParaRPr sz="1200" dirty="0">
              <a:solidFill>
                <a:schemeClr val="dk1"/>
              </a:solidFill>
            </a:endParaRPr>
          </a:p>
        </p:txBody>
      </p:sp>
      <p:sp>
        <p:nvSpPr>
          <p:cNvPr id="122" name="Google Shape;122;p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5</a:t>
            </a:fld>
            <a:endParaRPr sz="1800" dirty="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a:lstStyle/>
          <a:p>
            <a:endParaRPr lang="en-US" dirty="0"/>
          </a:p>
        </p:txBody>
      </p:sp>
      <p:sp>
        <p:nvSpPr>
          <p:cNvPr id="129" name="Google Shape;129;p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dirty="0"/>
              <a:t>We recommend Proxmox VE because it delivers enterprise-level features without licensing costs. It includes clustering, high availability, backups, and storage features out of the box. It’s simple to manage and scales without increasing cost</a:t>
            </a:r>
            <a:endParaRPr sz="1200" dirty="0">
              <a:solidFill>
                <a:schemeClr val="dk1"/>
              </a:solidFill>
              <a:latin typeface="Arial"/>
              <a:ea typeface="Arial"/>
              <a:cs typeface="Arial"/>
              <a:sym typeface="Arial"/>
            </a:endParaRPr>
          </a:p>
        </p:txBody>
      </p:sp>
      <p:sp>
        <p:nvSpPr>
          <p:cNvPr id="130" name="Google Shape;130;p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6</a:t>
            </a:fld>
            <a:endParaRPr sz="1800" dirty="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85800"/>
            <a:ext cx="6096000" cy="3429000"/>
          </a:xfrm>
        </p:spPr>
        <p:txBody>
          <a:bodyPr/>
          <a:lstStyle/>
          <a:p>
            <a:endParaRPr lang="en-US" dirty="0"/>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200" dirty="0"/>
              <a:t>Proxmox does have trade-offs. It has a smaller ecosystem and less enterprise vendor support compared to VMware. It also has a steeper learning curve. However, for a small business, these trade-offs are manageable given the cost savings.</a:t>
            </a:r>
            <a:endParaRPr lang="en-US" dirty="0"/>
          </a:p>
        </p:txBody>
      </p:sp>
    </p:spTree>
    <p:extLst>
      <p:ext uri="{BB962C8B-B14F-4D97-AF65-F5344CB8AC3E}">
        <p14:creationId xmlns:p14="http://schemas.microsoft.com/office/powerpoint/2010/main" val="9057009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a:lstStyle/>
          <a:p>
            <a:endParaRPr lang="en-US" dirty="0"/>
          </a:p>
        </p:txBody>
      </p:sp>
      <p:sp>
        <p:nvSpPr>
          <p:cNvPr id="155" name="Google Shape;155;p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158750" indent="0">
              <a:buNone/>
            </a:pPr>
            <a:r>
              <a:rPr lang="en-US" b="1" dirty="0"/>
              <a:t>1. High‑Level Overview</a:t>
            </a:r>
          </a:p>
          <a:p>
            <a:r>
              <a:rPr lang="en-US" dirty="0">
                <a:effectLst/>
              </a:rPr>
              <a:t>This architecture represents a </a:t>
            </a:r>
            <a:r>
              <a:rPr lang="en-US" b="1" dirty="0">
                <a:effectLst/>
              </a:rPr>
              <a:t>3‑node Proxmox VE high‑availability cluster</a:t>
            </a:r>
            <a:r>
              <a:rPr lang="en-US" dirty="0">
                <a:effectLst/>
              </a:rPr>
              <a:t> designed for reliability, scalability, and centralized management.</a:t>
            </a:r>
            <a:endParaRPr lang="en-US" dirty="0"/>
          </a:p>
          <a:p>
            <a:r>
              <a:rPr lang="en-US" dirty="0">
                <a:effectLst/>
              </a:rPr>
              <a:t>The goal is to ensure that </a:t>
            </a:r>
            <a:r>
              <a:rPr lang="en-US" b="1" dirty="0">
                <a:effectLst/>
              </a:rPr>
              <a:t>critical services stay online</a:t>
            </a:r>
            <a:r>
              <a:rPr lang="en-US" dirty="0">
                <a:effectLst/>
              </a:rPr>
              <a:t> even if one host fails.</a:t>
            </a:r>
          </a:p>
          <a:p>
            <a:endParaRPr lang="en-US" dirty="0">
              <a:effectLst/>
            </a:endParaRPr>
          </a:p>
          <a:p>
            <a:pPr marL="158750" indent="0">
              <a:buNone/>
            </a:pPr>
            <a:endParaRPr lang="en-US" dirty="0"/>
          </a:p>
          <a:p>
            <a:pPr marL="158750" indent="0">
              <a:buNone/>
            </a:pPr>
            <a:r>
              <a:rPr lang="en-US" b="1" dirty="0"/>
              <a:t>2. Client Layer</a:t>
            </a:r>
          </a:p>
          <a:p>
            <a:r>
              <a:rPr lang="en-US" dirty="0">
                <a:effectLst/>
              </a:rPr>
              <a:t>At the top, we have </a:t>
            </a:r>
            <a:r>
              <a:rPr lang="en-US" b="1" dirty="0">
                <a:effectLst/>
              </a:rPr>
              <a:t>10 client workstations</a:t>
            </a:r>
            <a:r>
              <a:rPr lang="en-US" dirty="0">
                <a:effectLst/>
              </a:rPr>
              <a:t> (Windows or thin clients).</a:t>
            </a:r>
            <a:endParaRPr lang="en-US" dirty="0"/>
          </a:p>
          <a:p>
            <a:r>
              <a:rPr lang="en-US" dirty="0">
                <a:effectLst/>
              </a:rPr>
              <a:t>These connect to the virtualized environment for authentication, file access, applications, and VDI sessions.</a:t>
            </a:r>
          </a:p>
          <a:p>
            <a:endParaRPr lang="en-US" dirty="0">
              <a:effectLst/>
            </a:endParaRPr>
          </a:p>
          <a:p>
            <a:pPr marL="158750" indent="0">
              <a:buNone/>
            </a:pPr>
            <a:endParaRPr lang="en-US" dirty="0"/>
          </a:p>
          <a:p>
            <a:pPr marL="158750" indent="0">
              <a:buNone/>
            </a:pPr>
            <a:r>
              <a:rPr lang="en-US" b="1" dirty="0"/>
              <a:t>3. Virtual Machine Layer</a:t>
            </a:r>
          </a:p>
          <a:p>
            <a:r>
              <a:rPr lang="en-US" dirty="0">
                <a:effectLst/>
              </a:rPr>
              <a:t>Highlight the diversity of workloads:</a:t>
            </a:r>
            <a:endParaRPr lang="en-US" dirty="0"/>
          </a:p>
          <a:p>
            <a:r>
              <a:rPr lang="en-US" b="1" dirty="0">
                <a:effectLst/>
              </a:rPr>
              <a:t>Windows Server 2022</a:t>
            </a:r>
            <a:r>
              <a:rPr lang="en-US" dirty="0">
                <a:effectLst/>
              </a:rPr>
              <a:t> for Active Directory and DNS</a:t>
            </a:r>
            <a:endParaRPr lang="en-US" dirty="0"/>
          </a:p>
          <a:p>
            <a:r>
              <a:rPr lang="en-US" b="1" dirty="0">
                <a:effectLst/>
              </a:rPr>
              <a:t>File Server (Samba)</a:t>
            </a:r>
            <a:r>
              <a:rPr lang="en-US" dirty="0">
                <a:effectLst/>
              </a:rPr>
              <a:t> for shared storage</a:t>
            </a:r>
            <a:endParaRPr lang="en-US" dirty="0"/>
          </a:p>
          <a:p>
            <a:r>
              <a:rPr lang="en-US" b="1" dirty="0">
                <a:effectLst/>
              </a:rPr>
              <a:t>Linux Application Server</a:t>
            </a:r>
            <a:r>
              <a:rPr lang="en-US" dirty="0">
                <a:effectLst/>
              </a:rPr>
              <a:t> for internal apps</a:t>
            </a:r>
            <a:endParaRPr lang="en-US" dirty="0"/>
          </a:p>
          <a:p>
            <a:r>
              <a:rPr lang="en-US" b="1" dirty="0">
                <a:effectLst/>
              </a:rPr>
              <a:t>LAMP Web + Database Server</a:t>
            </a:r>
            <a:endParaRPr lang="en-US" dirty="0"/>
          </a:p>
          <a:p>
            <a:r>
              <a:rPr lang="en-US" b="1" dirty="0">
                <a:effectLst/>
              </a:rPr>
              <a:t>Proxmox Backup Server</a:t>
            </a:r>
            <a:r>
              <a:rPr lang="en-US" dirty="0">
                <a:effectLst/>
              </a:rPr>
              <a:t> for centralized backups</a:t>
            </a:r>
            <a:endParaRPr lang="en-US" dirty="0"/>
          </a:p>
          <a:p>
            <a:r>
              <a:rPr lang="en-US" b="1" dirty="0">
                <a:effectLst/>
              </a:rPr>
              <a:t>Grafana Monitoring</a:t>
            </a:r>
            <a:r>
              <a:rPr lang="en-US" dirty="0">
                <a:effectLst/>
              </a:rPr>
              <a:t> for visibility</a:t>
            </a:r>
            <a:endParaRPr lang="en-US" dirty="0"/>
          </a:p>
          <a:p>
            <a:r>
              <a:rPr lang="en-US" b="1" dirty="0">
                <a:effectLst/>
              </a:rPr>
              <a:t>pfSense Firewall VM</a:t>
            </a:r>
            <a:r>
              <a:rPr lang="en-US" dirty="0">
                <a:effectLst/>
              </a:rPr>
              <a:t> for virtualized perimeter security</a:t>
            </a:r>
            <a:endParaRPr lang="en-US" dirty="0"/>
          </a:p>
          <a:p>
            <a:r>
              <a:rPr lang="en-US" b="1" dirty="0">
                <a:effectLst/>
              </a:rPr>
              <a:t>VDI Pool</a:t>
            </a:r>
            <a:r>
              <a:rPr lang="en-US" dirty="0">
                <a:effectLst/>
              </a:rPr>
              <a:t> (2–4 Windows 10 VMs) for remote desktops Emphasize: </a:t>
            </a:r>
            <a:r>
              <a:rPr lang="en-US" i="1" dirty="0">
                <a:effectLst/>
              </a:rPr>
              <a:t>All services are virtualized and can migrate between hosts.</a:t>
            </a:r>
          </a:p>
          <a:p>
            <a:endParaRPr lang="en-US" i="1" dirty="0">
              <a:effectLst/>
            </a:endParaRPr>
          </a:p>
          <a:p>
            <a:pPr marL="158750" indent="0">
              <a:buNone/>
            </a:pPr>
            <a:endParaRPr lang="en-US" dirty="0"/>
          </a:p>
          <a:p>
            <a:pPr marL="158750" indent="0">
              <a:buNone/>
            </a:pPr>
            <a:r>
              <a:rPr lang="en-US" b="1" dirty="0"/>
              <a:t>4. Proxmox Cluster Layer</a:t>
            </a:r>
          </a:p>
          <a:p>
            <a:r>
              <a:rPr lang="en-US" dirty="0">
                <a:effectLst/>
              </a:rPr>
              <a:t>Three identical hosts: </a:t>
            </a:r>
            <a:r>
              <a:rPr lang="en-US" b="1" dirty="0">
                <a:effectLst/>
              </a:rPr>
              <a:t>32 cores, 128 GB RAM, NVMe + HDD storage</a:t>
            </a:r>
            <a:r>
              <a:rPr lang="en-US" dirty="0">
                <a:effectLst/>
              </a:rPr>
              <a:t> each.</a:t>
            </a:r>
            <a:endParaRPr lang="en-US" dirty="0"/>
          </a:p>
          <a:p>
            <a:r>
              <a:rPr lang="en-US" dirty="0">
                <a:effectLst/>
              </a:rPr>
              <a:t>One node is marked </a:t>
            </a:r>
            <a:r>
              <a:rPr lang="en-US" b="1" dirty="0">
                <a:effectLst/>
              </a:rPr>
              <a:t>HA-enabled</a:t>
            </a:r>
            <a:r>
              <a:rPr lang="en-US" dirty="0">
                <a:effectLst/>
              </a:rPr>
              <a:t>, but in practice all three participate in HA.</a:t>
            </a:r>
            <a:endParaRPr lang="en-US" dirty="0"/>
          </a:p>
          <a:p>
            <a:r>
              <a:rPr lang="en-US" dirty="0">
                <a:effectLst/>
              </a:rPr>
              <a:t>Proxmox handles:</a:t>
            </a:r>
            <a:endParaRPr lang="en-US" dirty="0"/>
          </a:p>
          <a:p>
            <a:pPr lvl="1"/>
            <a:r>
              <a:rPr lang="en-US" dirty="0">
                <a:effectLst/>
              </a:rPr>
              <a:t>VM scheduling</a:t>
            </a:r>
            <a:endParaRPr lang="en-US" dirty="0"/>
          </a:p>
          <a:p>
            <a:pPr lvl="1"/>
            <a:r>
              <a:rPr lang="en-US" dirty="0">
                <a:effectLst/>
              </a:rPr>
              <a:t>Live migration</a:t>
            </a:r>
            <a:endParaRPr lang="en-US" dirty="0"/>
          </a:p>
          <a:p>
            <a:pPr lvl="1"/>
            <a:r>
              <a:rPr lang="en-US" dirty="0">
                <a:effectLst/>
              </a:rPr>
              <a:t>Failover if a node goes down</a:t>
            </a:r>
            <a:endParaRPr lang="en-US" dirty="0"/>
          </a:p>
          <a:p>
            <a:r>
              <a:rPr lang="en-US" dirty="0">
                <a:effectLst/>
              </a:rPr>
              <a:t>Key point: </a:t>
            </a:r>
            <a:r>
              <a:rPr lang="en-US" i="1" dirty="0">
                <a:effectLst/>
              </a:rPr>
              <a:t>The cluster behaves as one unified compute platform.</a:t>
            </a:r>
            <a:endParaRPr lang="en-US" dirty="0"/>
          </a:p>
          <a:p>
            <a:pPr marL="158750" indent="0">
              <a:buNone/>
            </a:pPr>
            <a:endParaRPr lang="en-US" b="1" dirty="0"/>
          </a:p>
          <a:p>
            <a:pPr marL="158750" indent="0">
              <a:buNone/>
            </a:pPr>
            <a:endParaRPr lang="en-US" b="1" dirty="0"/>
          </a:p>
          <a:p>
            <a:pPr marL="158750" indent="0">
              <a:buNone/>
            </a:pPr>
            <a:r>
              <a:rPr lang="en-US" b="1" dirty="0"/>
              <a:t>5. Management Layer</a:t>
            </a:r>
          </a:p>
          <a:p>
            <a:r>
              <a:rPr lang="en-US" dirty="0">
                <a:effectLst/>
              </a:rPr>
              <a:t>Managed through the </a:t>
            </a:r>
            <a:r>
              <a:rPr lang="en-US" b="1" dirty="0">
                <a:effectLst/>
              </a:rPr>
              <a:t>Proxmox Web UI</a:t>
            </a:r>
            <a:r>
              <a:rPr lang="en-US" dirty="0">
                <a:effectLst/>
              </a:rPr>
              <a:t>.</a:t>
            </a:r>
            <a:endParaRPr lang="en-US" dirty="0"/>
          </a:p>
          <a:p>
            <a:r>
              <a:rPr lang="en-US" dirty="0">
                <a:effectLst/>
              </a:rPr>
              <a:t>Centralized control for:</a:t>
            </a:r>
            <a:endParaRPr lang="en-US" dirty="0"/>
          </a:p>
          <a:p>
            <a:pPr lvl="1"/>
            <a:r>
              <a:rPr lang="en-US" dirty="0">
                <a:effectLst/>
              </a:rPr>
              <a:t>Cluster health</a:t>
            </a:r>
            <a:endParaRPr lang="en-US" dirty="0"/>
          </a:p>
          <a:p>
            <a:pPr lvl="1"/>
            <a:r>
              <a:rPr lang="en-US" dirty="0">
                <a:effectLst/>
              </a:rPr>
              <a:t>VM lifecycle</a:t>
            </a:r>
            <a:endParaRPr lang="en-US" dirty="0"/>
          </a:p>
          <a:p>
            <a:pPr lvl="1"/>
            <a:r>
              <a:rPr lang="en-US" dirty="0">
                <a:effectLst/>
              </a:rPr>
              <a:t>Backups</a:t>
            </a:r>
            <a:endParaRPr lang="en-US" dirty="0"/>
          </a:p>
          <a:p>
            <a:pPr lvl="1"/>
            <a:r>
              <a:rPr lang="en-US" dirty="0">
                <a:effectLst/>
              </a:rPr>
              <a:t>Monitoring</a:t>
            </a:r>
            <a:endParaRPr lang="en-US" dirty="0"/>
          </a:p>
          <a:p>
            <a:r>
              <a:rPr lang="en-US" dirty="0">
                <a:effectLst/>
              </a:rPr>
              <a:t>Important: </a:t>
            </a:r>
            <a:r>
              <a:rPr lang="en-US" i="1" dirty="0">
                <a:effectLst/>
              </a:rPr>
              <a:t>Management traffic is separate from data traffic.</a:t>
            </a:r>
            <a:endParaRPr lang="en-US" dirty="0"/>
          </a:p>
          <a:p>
            <a:pPr marL="158750" indent="0">
              <a:buNone/>
            </a:pPr>
            <a:endParaRPr lang="en-US" b="1" dirty="0"/>
          </a:p>
          <a:p>
            <a:pPr marL="158750" indent="0">
              <a:buNone/>
            </a:pPr>
            <a:endParaRPr lang="en-US" b="1" dirty="0"/>
          </a:p>
          <a:p>
            <a:pPr marL="158750" indent="0">
              <a:buNone/>
            </a:pPr>
            <a:r>
              <a:rPr lang="en-US" b="1" dirty="0"/>
              <a:t>6. Virtual Networking (VLANs)</a:t>
            </a:r>
          </a:p>
          <a:p>
            <a:r>
              <a:rPr lang="en-US" dirty="0">
                <a:effectLst/>
              </a:rPr>
              <a:t>Explain the segmentation:</a:t>
            </a:r>
            <a:endParaRPr lang="en-US" dirty="0"/>
          </a:p>
          <a:p>
            <a:r>
              <a:rPr lang="en-US" b="1" dirty="0">
                <a:effectLst/>
              </a:rPr>
              <a:t>VLAN 10 – Management</a:t>
            </a:r>
            <a:endParaRPr lang="en-US" dirty="0"/>
          </a:p>
          <a:p>
            <a:r>
              <a:rPr lang="en-US" b="1" dirty="0">
                <a:effectLst/>
              </a:rPr>
              <a:t>VLAN 20 – Production</a:t>
            </a:r>
            <a:endParaRPr lang="en-US" dirty="0"/>
          </a:p>
          <a:p>
            <a:r>
              <a:rPr lang="en-US" b="1" dirty="0">
                <a:effectLst/>
              </a:rPr>
              <a:t>VLAN 30 – Clients</a:t>
            </a:r>
            <a:endParaRPr lang="en-US" dirty="0"/>
          </a:p>
          <a:p>
            <a:r>
              <a:rPr lang="en-US" b="1" dirty="0">
                <a:effectLst/>
              </a:rPr>
              <a:t>VLAN 40 – Storage</a:t>
            </a:r>
            <a:r>
              <a:rPr lang="en-US" dirty="0">
                <a:effectLst/>
              </a:rPr>
              <a:t> This separation improves security, performance, and troubleshooting.</a:t>
            </a:r>
            <a:endParaRPr lang="en-US" dirty="0"/>
          </a:p>
          <a:p>
            <a:pPr marL="158750" indent="0">
              <a:buNone/>
            </a:pPr>
            <a:endParaRPr lang="en-US" b="1" dirty="0"/>
          </a:p>
          <a:p>
            <a:pPr marL="158750" indent="0">
              <a:buNone/>
            </a:pPr>
            <a:endParaRPr lang="en-US" b="1" dirty="0"/>
          </a:p>
          <a:p>
            <a:pPr marL="158750" indent="0">
              <a:buNone/>
            </a:pPr>
            <a:r>
              <a:rPr lang="en-US" b="1" dirty="0"/>
              <a:t>7. Storage Layer</a:t>
            </a:r>
          </a:p>
          <a:p>
            <a:r>
              <a:rPr lang="en-US" b="1" dirty="0">
                <a:effectLst/>
              </a:rPr>
              <a:t>Local ZFS pools</a:t>
            </a:r>
            <a:r>
              <a:rPr lang="en-US" dirty="0">
                <a:effectLst/>
              </a:rPr>
              <a:t> on each host for fast VM storage.</a:t>
            </a:r>
            <a:endParaRPr lang="en-US" dirty="0"/>
          </a:p>
          <a:p>
            <a:r>
              <a:rPr lang="en-US" b="1" dirty="0">
                <a:effectLst/>
              </a:rPr>
              <a:t>Mirrored pools</a:t>
            </a:r>
            <a:r>
              <a:rPr lang="en-US" dirty="0">
                <a:effectLst/>
              </a:rPr>
              <a:t> provide redundancy.</a:t>
            </a:r>
            <a:endParaRPr lang="en-US" dirty="0"/>
          </a:p>
          <a:p>
            <a:r>
              <a:rPr lang="en-US" b="1" dirty="0">
                <a:effectLst/>
              </a:rPr>
              <a:t>Shared NAS</a:t>
            </a:r>
            <a:r>
              <a:rPr lang="en-US" dirty="0">
                <a:effectLst/>
              </a:rPr>
              <a:t> via NFS/CIFS for shared data.</a:t>
            </a:r>
            <a:endParaRPr lang="en-US" dirty="0"/>
          </a:p>
          <a:p>
            <a:r>
              <a:rPr lang="en-US" b="1" dirty="0">
                <a:effectLst/>
              </a:rPr>
              <a:t>PBS</a:t>
            </a:r>
            <a:r>
              <a:rPr lang="en-US" dirty="0">
                <a:effectLst/>
              </a:rPr>
              <a:t> for backups and snapshots.</a:t>
            </a:r>
            <a:endParaRPr lang="en-US" dirty="0"/>
          </a:p>
          <a:p>
            <a:r>
              <a:rPr lang="en-US" dirty="0">
                <a:effectLst/>
              </a:rPr>
              <a:t>Key point: </a:t>
            </a:r>
            <a:r>
              <a:rPr lang="en-US" i="1" dirty="0">
                <a:effectLst/>
              </a:rPr>
              <a:t>ZFS gives data integrity, snapshots, and self‑healing.</a:t>
            </a:r>
            <a:endParaRPr lang="en-US" dirty="0"/>
          </a:p>
          <a:p>
            <a:pPr marL="158750" indent="0">
              <a:buNone/>
            </a:pPr>
            <a:endParaRPr lang="en-US" b="1" dirty="0"/>
          </a:p>
          <a:p>
            <a:pPr marL="158750" indent="0">
              <a:buNone/>
            </a:pPr>
            <a:endParaRPr lang="en-US" b="1" dirty="0"/>
          </a:p>
          <a:p>
            <a:pPr marL="158750" indent="0">
              <a:buNone/>
            </a:pPr>
            <a:r>
              <a:rPr lang="en-US" b="1" dirty="0"/>
              <a:t>8. Physical Network</a:t>
            </a:r>
          </a:p>
          <a:p>
            <a:r>
              <a:rPr lang="en-US" dirty="0">
                <a:effectLst/>
              </a:rPr>
              <a:t>Internet → Firewall/Router → Managed Switch</a:t>
            </a:r>
            <a:endParaRPr lang="en-US" dirty="0"/>
          </a:p>
          <a:p>
            <a:r>
              <a:rPr lang="en-US" dirty="0">
                <a:effectLst/>
              </a:rPr>
              <a:t>The switch is </a:t>
            </a:r>
            <a:r>
              <a:rPr lang="en-US" b="1" dirty="0">
                <a:effectLst/>
              </a:rPr>
              <a:t>VLAN‑aware</a:t>
            </a:r>
            <a:r>
              <a:rPr lang="en-US" dirty="0">
                <a:effectLst/>
              </a:rPr>
              <a:t>, enabling the segmentation shown above.</a:t>
            </a:r>
            <a:endParaRPr lang="en-US" dirty="0"/>
          </a:p>
          <a:p>
            <a:r>
              <a:rPr lang="en-US" dirty="0">
                <a:effectLst/>
              </a:rPr>
              <a:t>This is the foundation that supports the cluster’s reliability and performance.</a:t>
            </a:r>
          </a:p>
          <a:p>
            <a:endParaRPr lang="en-US" dirty="0">
              <a:effectLst/>
            </a:endParaRPr>
          </a:p>
          <a:p>
            <a:pPr marL="158750" indent="0">
              <a:buNone/>
            </a:pPr>
            <a:endParaRPr lang="en-US" dirty="0"/>
          </a:p>
          <a:p>
            <a:pPr marL="158750" indent="0">
              <a:buNone/>
            </a:pPr>
            <a:r>
              <a:rPr lang="en-US" b="1" dirty="0"/>
              <a:t>9. Legend</a:t>
            </a:r>
          </a:p>
          <a:p>
            <a:r>
              <a:rPr lang="en-US" b="1" dirty="0">
                <a:effectLst/>
              </a:rPr>
              <a:t>Solid lines</a:t>
            </a:r>
            <a:r>
              <a:rPr lang="en-US" dirty="0">
                <a:effectLst/>
              </a:rPr>
              <a:t> = data flow</a:t>
            </a:r>
            <a:endParaRPr lang="en-US" dirty="0"/>
          </a:p>
          <a:p>
            <a:r>
              <a:rPr lang="en-US" b="1" dirty="0">
                <a:effectLst/>
              </a:rPr>
              <a:t>Dashed lines</a:t>
            </a:r>
            <a:r>
              <a:rPr lang="en-US" dirty="0">
                <a:effectLst/>
              </a:rPr>
              <a:t> = management/control paths This helps the audience understand traffic separation.</a:t>
            </a:r>
            <a:endParaRPr lang="en-US" dirty="0"/>
          </a:p>
          <a:p>
            <a:pPr marL="158750" indent="0">
              <a:buNone/>
            </a:pPr>
            <a:endParaRPr lang="en-US" dirty="0">
              <a:effectLst/>
            </a:endParaRPr>
          </a:p>
          <a:p>
            <a:pPr marL="158750" indent="0">
              <a:buNone/>
            </a:pPr>
            <a:endParaRPr lang="en-US" dirty="0">
              <a:effectLst/>
            </a:endParaRPr>
          </a:p>
          <a:p>
            <a:pPr marL="158750" indent="0">
              <a:buNone/>
            </a:pPr>
            <a:r>
              <a:rPr lang="en-US" dirty="0">
                <a:effectLst/>
              </a:rPr>
              <a:t>“This architecture gives us a resilient, scalable, and centrally managed environment where workloads can move freely, storage is protected, and services stay online even during failures.”</a:t>
            </a:r>
            <a:endParaRPr lang="en-US" dirty="0"/>
          </a:p>
        </p:txBody>
      </p:sp>
      <p:sp>
        <p:nvSpPr>
          <p:cNvPr id="156" name="Google Shape;156;p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8</a:t>
            </a:fld>
            <a:endParaRPr sz="1800" dirty="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a:lstStyle/>
          <a:p>
            <a:endParaRPr lang="en-US" dirty="0"/>
          </a:p>
        </p:txBody>
      </p:sp>
      <p:sp>
        <p:nvSpPr>
          <p:cNvPr id="198" name="Google Shape;198;p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dirty="0"/>
              <a:t>This slide is really just explaining why the architecture is built the way it is. We’re using three identical hosts so the cluster has quorum and can fail over cleanly. On top of that, we run nine VMs that cover everything—AD, file services, apps, web, backups, VDI, firewalling, and monitoring.</a:t>
            </a:r>
          </a:p>
          <a:p>
            <a:pPr marL="0" marR="0" lvl="0" indent="0" algn="l" rtl="0">
              <a:spcBef>
                <a:spcPts val="0"/>
              </a:spcBef>
              <a:spcAft>
                <a:spcPts val="0"/>
              </a:spcAft>
              <a:buNone/>
            </a:pPr>
            <a:r>
              <a:rPr lang="en-US" sz="1200" dirty="0"/>
              <a:t>Networking is segmented into four VLANs so management, production, client, and storage traffic all stay isolated. Storage uses ZFS mirrors on each host for speed and integrity, plus a NAS and Proxmox Backup Server for snapshots. And with Proxmox’s HA and live migration, workloads stay online even during maintenance or hardware failures</a:t>
            </a:r>
            <a:endParaRPr sz="1200" dirty="0">
              <a:solidFill>
                <a:schemeClr val="dk1"/>
              </a:solidFill>
              <a:latin typeface="Arial"/>
              <a:ea typeface="Arial"/>
              <a:cs typeface="Arial"/>
              <a:sym typeface="Arial"/>
            </a:endParaRPr>
          </a:p>
        </p:txBody>
      </p:sp>
      <p:sp>
        <p:nvSpPr>
          <p:cNvPr id="199" name="Google Shape;199;p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9</a:t>
            </a:fld>
            <a:endParaRPr sz="1800" dirty="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a:lstStyle/>
          <a:p>
            <a:endParaRPr lang="en-US"/>
          </a:p>
        </p:txBody>
      </p:sp>
      <p:sp>
        <p:nvSpPr>
          <p:cNvPr id="229" name="Google Shape;229;p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dirty="0"/>
              <a:t>**“So in the end, the conclusion is straightforward: Proxmox VE is the strongest choice for this environment. It delivers enterprise‑level features — HA, live migration, ZFS, centralized management — without the licensing overhead that comes with VMware or Hyper‑V. And with nine VMs running across a three‑node HA cluster, we get the performance, resilience, and scalability an SMB actually needs, at a cost that makes sense. I’m confident in this design and the value it brings. With that, I’m ready to take your questions</a:t>
            </a:r>
            <a:endParaRPr sz="1200" dirty="0">
              <a:solidFill>
                <a:schemeClr val="dk1"/>
              </a:solidFill>
              <a:latin typeface="Arial"/>
              <a:ea typeface="Arial"/>
              <a:cs typeface="Arial"/>
              <a:sym typeface="Arial"/>
            </a:endParaRPr>
          </a:p>
        </p:txBody>
      </p:sp>
      <p:sp>
        <p:nvSpPr>
          <p:cNvPr id="230" name="Google Shape;230;p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10</a:t>
            </a:fld>
            <a:endParaRPr sz="1800" dirty="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3d4404df731_0_0:notes"/>
          <p:cNvSpPr>
            <a:spLocks noGrp="1" noRot="1" noChangeAspect="1"/>
          </p:cNvSpPr>
          <p:nvPr>
            <p:ph type="sldImg" idx="2"/>
          </p:nvPr>
        </p:nvSpPr>
        <p:spPr>
          <a:xfrm>
            <a:off x="-47625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253" name="Google Shape;253;g3d4404df731_0_0:notes"/>
          <p:cNvSpPr txBox="1">
            <a:spLocks noGrp="1"/>
          </p:cNvSpPr>
          <p:nvPr>
            <p:ph type="body" idx="1"/>
          </p:nvPr>
        </p:nvSpPr>
        <p:spPr>
          <a:xfrm>
            <a:off x="514350" y="4343400"/>
            <a:ext cx="41148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[No speaking required — reference slide] “This slide is for reference. All sources were accessed in April 2026 and verified for current accuracy. Sources include the official Broadcom/VMware product page, Microsoft’s Windows Server 2025 pricing page, Microsoft Learn documentation for Hyper-V, Proxmox’s official product and pricing pages, Red Hat’s KVM documentation, Red Hat’s RHEL store pricing, and the Xen Project website hosted by the Linux Foundation.”</a:t>
            </a: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6216" y="1085850"/>
            <a:ext cx="6619244" cy="2497186"/>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866216" y="3583035"/>
            <a:ext cx="6619244" cy="646065"/>
          </a:xfrm>
        </p:spPr>
        <p:txBody>
          <a:bodyPr anchor="t"/>
          <a:lstStyle>
            <a:lvl1pPr marL="0" indent="0" algn="l">
              <a:buNone/>
              <a:defRPr cap="all">
                <a:solidFill>
                  <a:schemeClr val="bg2">
                    <a:lumMod val="40000"/>
                    <a:lumOff val="6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dirty="0"/>
              <a:t>4/25/2026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122688177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4509A250-FF31-4206-8172-F9D3106AACB1}" type="datetimeFigureOut">
              <a:rPr lang="en-US" dirty="0"/>
              <a:t>4/25/2026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2705194085"/>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217" y="2146300"/>
            <a:ext cx="6619243" cy="1436735"/>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866216" y="3583036"/>
            <a:ext cx="6619244" cy="645300"/>
          </a:xfrm>
        </p:spPr>
        <p:txBody>
          <a:bodyPr anchor="t"/>
          <a:lstStyle>
            <a:lvl1pPr marL="0" indent="0" algn="l">
              <a:buNone/>
              <a:defRPr sz="1500" cap="all">
                <a:solidFill>
                  <a:schemeClr val="bg2">
                    <a:lumMod val="40000"/>
                    <a:lumOff val="6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dirty="0"/>
              <a:t>4/25/2026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1496821114"/>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27485" y="1545432"/>
            <a:ext cx="3297254" cy="3146822"/>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40870" y="1542069"/>
            <a:ext cx="3297256" cy="315018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dirty="0"/>
              <a:t>4/25/2026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3076350194"/>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27485" y="1428750"/>
            <a:ext cx="3297254"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27485" y="1885950"/>
            <a:ext cx="3297254" cy="280630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40872" y="1428750"/>
            <a:ext cx="3297254"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240872" y="1885950"/>
            <a:ext cx="3297254" cy="280630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dirty="0"/>
              <a:t>4/25/2026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1331206878"/>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4509A250-FF31-4206-8172-F9D3106AACB1}" type="datetimeFigureOut">
              <a:rPr lang="en-US" dirty="0"/>
              <a:t>4/25/2026</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2126018297"/>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4/25/2026</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832175740"/>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5" y="1085850"/>
            <a:ext cx="2550798" cy="1085850"/>
          </a:xfrm>
        </p:spPr>
        <p:txBody>
          <a:bodyPr anchor="b"/>
          <a:lstStyle>
            <a:lvl1pPr algn="l">
              <a:defRPr sz="1800" b="0"/>
            </a:lvl1pPr>
          </a:lstStyle>
          <a:p>
            <a:r>
              <a:rPr lang="en-US"/>
              <a:t>Click to edit Master title style</a:t>
            </a:r>
            <a:endParaRPr lang="en-US" dirty="0"/>
          </a:p>
        </p:txBody>
      </p:sp>
      <p:sp>
        <p:nvSpPr>
          <p:cNvPr id="3" name="Content Placeholder 2"/>
          <p:cNvSpPr>
            <a:spLocks noGrp="1"/>
          </p:cNvSpPr>
          <p:nvPr>
            <p:ph idx="1"/>
          </p:nvPr>
        </p:nvSpPr>
        <p:spPr>
          <a:xfrm>
            <a:off x="3588462" y="1085850"/>
            <a:ext cx="3896998" cy="3429000"/>
          </a:xfrm>
        </p:spPr>
        <p:txBody>
          <a:bodyPr anchor="ctr">
            <a:normAutofit/>
          </a:bodyPr>
          <a:lstStyle>
            <a:lvl1pPr>
              <a:defRPr sz="1500"/>
            </a:lvl1pPr>
            <a:lvl2pPr>
              <a:defRPr sz="1350"/>
            </a:lvl2pPr>
            <a:lvl3pPr>
              <a:defRPr sz="1200"/>
            </a:lvl3pPr>
            <a:lvl4pPr>
              <a:defRPr sz="1050"/>
            </a:lvl4pPr>
            <a:lvl5pPr>
              <a:defRPr sz="1050"/>
            </a:lvl5pPr>
            <a:lvl6pPr>
              <a:defRPr sz="1050"/>
            </a:lvl6pPr>
            <a:lvl7pPr>
              <a:defRPr sz="1050"/>
            </a:lvl7pPr>
            <a:lvl8pPr>
              <a:defRPr sz="1050"/>
            </a:lvl8pPr>
            <a:lvl9pPr>
              <a:defRPr sz="10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6215" y="2346961"/>
            <a:ext cx="2550797" cy="2171699"/>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Date Placeholder 4"/>
          <p:cNvSpPr>
            <a:spLocks noGrp="1"/>
          </p:cNvSpPr>
          <p:nvPr>
            <p:ph type="dt" sz="half" idx="10"/>
          </p:nvPr>
        </p:nvSpPr>
        <p:spPr/>
        <p:txBody>
          <a:bodyPr/>
          <a:lstStyle/>
          <a:p>
            <a:fld id="{4509A250-FF31-4206-8172-F9D3106AACB1}" type="datetimeFigureOut">
              <a:rPr lang="en-US" dirty="0"/>
              <a:t>4/25/2026</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4166760561"/>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5430" y="1390644"/>
            <a:ext cx="3819680" cy="1181106"/>
          </a:xfrm>
        </p:spPr>
        <p:txBody>
          <a:bodyPr anchor="b">
            <a:normAutofit/>
          </a:bodyPr>
          <a:lstStyle>
            <a:lvl1pPr algn="l">
              <a:defRPr sz="27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12160" y="857250"/>
            <a:ext cx="2400300"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dirty="0"/>
              <a:t>Click icon to add picture</a:t>
            </a:r>
          </a:p>
        </p:txBody>
      </p:sp>
      <p:sp>
        <p:nvSpPr>
          <p:cNvPr id="4" name="Text Placeholder 3"/>
          <p:cNvSpPr>
            <a:spLocks noGrp="1"/>
          </p:cNvSpPr>
          <p:nvPr>
            <p:ph type="body" sz="half" idx="2"/>
          </p:nvPr>
        </p:nvSpPr>
        <p:spPr>
          <a:xfrm>
            <a:off x="866216" y="2743200"/>
            <a:ext cx="3813734" cy="1028700"/>
          </a:xfrm>
        </p:spPr>
        <p:txBody>
          <a:bodyPr>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4/25/2026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2670862844"/>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7" y="3600440"/>
            <a:ext cx="6619243" cy="425054"/>
          </a:xfrm>
        </p:spPr>
        <p:txBody>
          <a:bodyPr anchor="b">
            <a:normAutofit/>
          </a:bodyPr>
          <a:lstStyle>
            <a:lvl1pPr algn="l">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216" y="514350"/>
            <a:ext cx="6619244" cy="27305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dirty="0"/>
              <a:t>Click icon to add picture</a:t>
            </a:r>
          </a:p>
        </p:txBody>
      </p:sp>
      <p:sp>
        <p:nvSpPr>
          <p:cNvPr id="4" name="Text Placeholder 3"/>
          <p:cNvSpPr>
            <a:spLocks noGrp="1"/>
          </p:cNvSpPr>
          <p:nvPr>
            <p:ph type="body" sz="half" idx="2"/>
          </p:nvPr>
        </p:nvSpPr>
        <p:spPr>
          <a:xfrm>
            <a:off x="866217" y="4025494"/>
            <a:ext cx="6619242" cy="370284"/>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4/25/2026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56057689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6" y="1085850"/>
            <a:ext cx="6619244" cy="1485900"/>
          </a:xfrm>
        </p:spPr>
        <p:txBody>
          <a:bodyPr/>
          <a:lstStyle>
            <a:lvl1pPr>
              <a:defRPr sz="3600"/>
            </a:lvl1pPr>
          </a:lstStyle>
          <a:p>
            <a:r>
              <a:rPr lang="en-US"/>
              <a:t>Click to edit Master title style</a:t>
            </a:r>
            <a:endParaRPr lang="en-US" dirty="0"/>
          </a:p>
        </p:txBody>
      </p:sp>
      <p:sp>
        <p:nvSpPr>
          <p:cNvPr id="8" name="Text Placeholder 3"/>
          <p:cNvSpPr>
            <a:spLocks noGrp="1"/>
          </p:cNvSpPr>
          <p:nvPr>
            <p:ph type="body" sz="half" idx="2"/>
          </p:nvPr>
        </p:nvSpPr>
        <p:spPr>
          <a:xfrm>
            <a:off x="866216" y="2743200"/>
            <a:ext cx="6619244" cy="1771650"/>
          </a:xfrm>
        </p:spPr>
        <p:txBody>
          <a:bodyPr anchor="ctr">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4/25/2026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227706143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81101" y="1085850"/>
            <a:ext cx="5999486" cy="1742531"/>
          </a:xfrm>
        </p:spPr>
        <p:txBody>
          <a:bodyPr/>
          <a:lstStyle>
            <a:lvl1pPr>
              <a:defRPr sz="3600"/>
            </a:lvl1pPr>
          </a:lstStyle>
          <a:p>
            <a:r>
              <a:rPr lang="en-US"/>
              <a:t>Click to edit Master title style</a:t>
            </a:r>
            <a:endParaRPr lang="en-US" dirty="0"/>
          </a:p>
        </p:txBody>
      </p:sp>
      <p:sp>
        <p:nvSpPr>
          <p:cNvPr id="11" name="Text Placeholder 3"/>
          <p:cNvSpPr>
            <a:spLocks noGrp="1"/>
          </p:cNvSpPr>
          <p:nvPr>
            <p:ph type="body" sz="half" idx="14"/>
          </p:nvPr>
        </p:nvSpPr>
        <p:spPr>
          <a:xfrm>
            <a:off x="1447800" y="2828380"/>
            <a:ext cx="5459737" cy="256631"/>
          </a:xfrm>
        </p:spPr>
        <p:txBody>
          <a:bodyPr vert="horz" lIns="91440" tIns="45720" rIns="91440" bIns="45720" rtlCol="0" anchor="t">
            <a:normAutofit/>
          </a:bodyPr>
          <a:lstStyle>
            <a:lvl1pPr marL="0" indent="0">
              <a:buNone/>
              <a:defRPr lang="en-US" sz="1050" b="0" i="0" kern="1200" cap="small" dirty="0">
                <a:solidFill>
                  <a:schemeClr val="bg2">
                    <a:lumMod val="40000"/>
                    <a:lumOff val="60000"/>
                  </a:schemeClr>
                </a:solidFill>
                <a:latin typeface="+mj-lt"/>
                <a:ea typeface="+mj-ea"/>
                <a:cs typeface="+mj-cs"/>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marL="0" lvl="0" indent="0">
              <a:buNone/>
            </a:pPr>
            <a:r>
              <a:rPr lang="en-US"/>
              <a:t>Click to edit Master text styles</a:t>
            </a:r>
          </a:p>
        </p:txBody>
      </p:sp>
      <p:sp>
        <p:nvSpPr>
          <p:cNvPr id="10" name="Text Placeholder 3"/>
          <p:cNvSpPr>
            <a:spLocks noGrp="1"/>
          </p:cNvSpPr>
          <p:nvPr>
            <p:ph type="body" sz="half" idx="2"/>
          </p:nvPr>
        </p:nvSpPr>
        <p:spPr>
          <a:xfrm>
            <a:off x="866216" y="3262993"/>
            <a:ext cx="6619244" cy="1257300"/>
          </a:xfrm>
        </p:spPr>
        <p:txBody>
          <a:bodyPr anchor="ctr">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4/25/2026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
        <p:nvSpPr>
          <p:cNvPr id="12" name="TextBox 11"/>
          <p:cNvSpPr txBox="1"/>
          <p:nvPr/>
        </p:nvSpPr>
        <p:spPr>
          <a:xfrm>
            <a:off x="673721" y="728440"/>
            <a:ext cx="601434" cy="1500411"/>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9150" dirty="0"/>
              <a:t>“</a:t>
            </a:r>
          </a:p>
        </p:txBody>
      </p:sp>
      <p:sp>
        <p:nvSpPr>
          <p:cNvPr id="15" name="TextBox 14"/>
          <p:cNvSpPr txBox="1"/>
          <p:nvPr/>
        </p:nvSpPr>
        <p:spPr>
          <a:xfrm>
            <a:off x="6997868" y="1960341"/>
            <a:ext cx="601434" cy="1500411"/>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9150" dirty="0"/>
              <a:t>”</a:t>
            </a:r>
          </a:p>
        </p:txBody>
      </p:sp>
    </p:spTree>
    <p:extLst>
      <p:ext uri="{BB962C8B-B14F-4D97-AF65-F5344CB8AC3E}">
        <p14:creationId xmlns:p14="http://schemas.microsoft.com/office/powerpoint/2010/main" val="1651493459"/>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66216" y="2343151"/>
            <a:ext cx="6619245" cy="1239885"/>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866216" y="3583036"/>
            <a:ext cx="6619244" cy="645300"/>
          </a:xfrm>
        </p:spPr>
        <p:txBody>
          <a:bodyPr anchor="t"/>
          <a:lstStyle>
            <a:lvl1pPr marL="0" indent="0" algn="l">
              <a:buNone/>
              <a:defRPr sz="1500" cap="none">
                <a:solidFill>
                  <a:schemeClr val="bg2">
                    <a:lumMod val="40000"/>
                    <a:lumOff val="6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4/25/2026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1736342225"/>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150"/>
            </a:lvl1pPr>
          </a:lstStyle>
          <a:p>
            <a:r>
              <a:rPr lang="en-US"/>
              <a:t>Click to edit Master title style</a:t>
            </a:r>
            <a:endParaRPr lang="en-US" dirty="0"/>
          </a:p>
        </p:txBody>
      </p:sp>
      <p:sp>
        <p:nvSpPr>
          <p:cNvPr id="3" name="Text Placeholder 2"/>
          <p:cNvSpPr>
            <a:spLocks noGrp="1"/>
          </p:cNvSpPr>
          <p:nvPr>
            <p:ph type="body" idx="1"/>
          </p:nvPr>
        </p:nvSpPr>
        <p:spPr>
          <a:xfrm>
            <a:off x="474710" y="1485900"/>
            <a:ext cx="2210150"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6" name="Text Placeholder 3"/>
          <p:cNvSpPr>
            <a:spLocks noGrp="1"/>
          </p:cNvSpPr>
          <p:nvPr>
            <p:ph type="body" sz="half" idx="15"/>
          </p:nvPr>
        </p:nvSpPr>
        <p:spPr>
          <a:xfrm>
            <a:off x="489347" y="2000250"/>
            <a:ext cx="2195513"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Text Placeholder 4"/>
          <p:cNvSpPr>
            <a:spLocks noGrp="1"/>
          </p:cNvSpPr>
          <p:nvPr>
            <p:ph type="body" sz="quarter" idx="3"/>
          </p:nvPr>
        </p:nvSpPr>
        <p:spPr>
          <a:xfrm>
            <a:off x="2912745" y="1485900"/>
            <a:ext cx="2202181"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9" name="Text Placeholder 3"/>
          <p:cNvSpPr>
            <a:spLocks noGrp="1"/>
          </p:cNvSpPr>
          <p:nvPr>
            <p:ph type="body" sz="half" idx="16"/>
          </p:nvPr>
        </p:nvSpPr>
        <p:spPr>
          <a:xfrm>
            <a:off x="2904829" y="2000250"/>
            <a:ext cx="2210096"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4" name="Text Placeholder 4"/>
          <p:cNvSpPr>
            <a:spLocks noGrp="1"/>
          </p:cNvSpPr>
          <p:nvPr>
            <p:ph type="body" sz="quarter" idx="13"/>
          </p:nvPr>
        </p:nvSpPr>
        <p:spPr>
          <a:xfrm>
            <a:off x="5343525" y="1485900"/>
            <a:ext cx="2199085"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0" name="Text Placeholder 3"/>
          <p:cNvSpPr>
            <a:spLocks noGrp="1"/>
          </p:cNvSpPr>
          <p:nvPr>
            <p:ph type="body" sz="half" idx="17"/>
          </p:nvPr>
        </p:nvSpPr>
        <p:spPr>
          <a:xfrm>
            <a:off x="5343525" y="2000250"/>
            <a:ext cx="2199085"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cxnSp>
        <p:nvCxnSpPr>
          <p:cNvPr id="17" name="Straight Connector 16"/>
          <p:cNvCxnSpPr/>
          <p:nvPr/>
        </p:nvCxnSpPr>
        <p:spPr>
          <a:xfrm>
            <a:off x="2794607" y="1600200"/>
            <a:ext cx="0" cy="29718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1670" y="1600200"/>
            <a:ext cx="0" cy="297516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4/25/2026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630882953"/>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150"/>
            </a:lvl1pPr>
          </a:lstStyle>
          <a:p>
            <a:r>
              <a:rPr lang="en-US"/>
              <a:t>Click to edit Master title style</a:t>
            </a:r>
            <a:endParaRPr lang="en-US" dirty="0"/>
          </a:p>
        </p:txBody>
      </p:sp>
      <p:sp>
        <p:nvSpPr>
          <p:cNvPr id="3" name="Text Placeholder 2"/>
          <p:cNvSpPr>
            <a:spLocks noGrp="1"/>
          </p:cNvSpPr>
          <p:nvPr>
            <p:ph type="body" idx="1"/>
          </p:nvPr>
        </p:nvSpPr>
        <p:spPr>
          <a:xfrm>
            <a:off x="489347" y="3188212"/>
            <a:ext cx="2205038"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9" name="Picture Placeholder 2"/>
          <p:cNvSpPr>
            <a:spLocks noGrp="1" noChangeAspect="1"/>
          </p:cNvSpPr>
          <p:nvPr>
            <p:ph type="pic" idx="15"/>
          </p:nvPr>
        </p:nvSpPr>
        <p:spPr>
          <a:xfrm>
            <a:off x="489347" y="1657350"/>
            <a:ext cx="2205038"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dirty="0"/>
              <a:t>Click icon to add picture</a:t>
            </a:r>
          </a:p>
        </p:txBody>
      </p:sp>
      <p:sp>
        <p:nvSpPr>
          <p:cNvPr id="22" name="Text Placeholder 3"/>
          <p:cNvSpPr>
            <a:spLocks noGrp="1"/>
          </p:cNvSpPr>
          <p:nvPr>
            <p:ph type="body" sz="half" idx="18"/>
          </p:nvPr>
        </p:nvSpPr>
        <p:spPr>
          <a:xfrm>
            <a:off x="489347" y="3620409"/>
            <a:ext cx="2205038"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Text Placeholder 4"/>
          <p:cNvSpPr>
            <a:spLocks noGrp="1"/>
          </p:cNvSpPr>
          <p:nvPr>
            <p:ph type="body" sz="quarter" idx="3"/>
          </p:nvPr>
        </p:nvSpPr>
        <p:spPr>
          <a:xfrm>
            <a:off x="2917032" y="3188212"/>
            <a:ext cx="2197894"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30" name="Picture Placeholder 2"/>
          <p:cNvSpPr>
            <a:spLocks noGrp="1" noChangeAspect="1"/>
          </p:cNvSpPr>
          <p:nvPr>
            <p:ph type="pic" idx="21"/>
          </p:nvPr>
        </p:nvSpPr>
        <p:spPr>
          <a:xfrm>
            <a:off x="2917031" y="1657350"/>
            <a:ext cx="2197894"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dirty="0"/>
              <a:t>Click icon to add picture</a:t>
            </a:r>
          </a:p>
        </p:txBody>
      </p:sp>
      <p:sp>
        <p:nvSpPr>
          <p:cNvPr id="23" name="Text Placeholder 3"/>
          <p:cNvSpPr>
            <a:spLocks noGrp="1"/>
          </p:cNvSpPr>
          <p:nvPr>
            <p:ph type="body" sz="half" idx="19"/>
          </p:nvPr>
        </p:nvSpPr>
        <p:spPr>
          <a:xfrm>
            <a:off x="2916016" y="3620408"/>
            <a:ext cx="2200805"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4" name="Text Placeholder 4"/>
          <p:cNvSpPr>
            <a:spLocks noGrp="1"/>
          </p:cNvSpPr>
          <p:nvPr>
            <p:ph type="body" sz="quarter" idx="13"/>
          </p:nvPr>
        </p:nvSpPr>
        <p:spPr>
          <a:xfrm>
            <a:off x="5343525" y="3188212"/>
            <a:ext cx="2199085"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31" name="Picture Placeholder 2"/>
          <p:cNvSpPr>
            <a:spLocks noGrp="1" noChangeAspect="1"/>
          </p:cNvSpPr>
          <p:nvPr>
            <p:ph type="pic" idx="22"/>
          </p:nvPr>
        </p:nvSpPr>
        <p:spPr>
          <a:xfrm>
            <a:off x="5343525" y="1657350"/>
            <a:ext cx="2199085"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dirty="0"/>
              <a:t>Click icon to add picture</a:t>
            </a:r>
          </a:p>
        </p:txBody>
      </p:sp>
      <p:sp>
        <p:nvSpPr>
          <p:cNvPr id="24" name="Text Placeholder 3"/>
          <p:cNvSpPr>
            <a:spLocks noGrp="1"/>
          </p:cNvSpPr>
          <p:nvPr>
            <p:ph type="body" sz="half" idx="20"/>
          </p:nvPr>
        </p:nvSpPr>
        <p:spPr>
          <a:xfrm>
            <a:off x="5343432" y="3620406"/>
            <a:ext cx="2201998"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cxnSp>
        <p:nvCxnSpPr>
          <p:cNvPr id="19" name="Straight Connector 18"/>
          <p:cNvCxnSpPr/>
          <p:nvPr/>
        </p:nvCxnSpPr>
        <p:spPr>
          <a:xfrm>
            <a:off x="2794607" y="1600200"/>
            <a:ext cx="0" cy="29718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1670" y="1600200"/>
            <a:ext cx="0" cy="297516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4/25/2026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4081533049"/>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4/25/2026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4064792081"/>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8159" y="322660"/>
            <a:ext cx="1314451" cy="4369594"/>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89348" y="665561"/>
            <a:ext cx="5567362" cy="402669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4/25/2026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464650815"/>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DEFAULT">
  <p:cSld name="DEFAULT">
    <p:spTree>
      <p:nvGrpSpPr>
        <p:cNvPr id="1" name="Shape 6"/>
        <p:cNvGrpSpPr/>
        <p:nvPr/>
      </p:nvGrpSpPr>
      <p:grpSpPr>
        <a:xfrm>
          <a:off x="0" y="0"/>
          <a:ext cx="0" cy="0"/>
          <a:chOff x="0" y="0"/>
          <a:chExt cx="0" cy="0"/>
        </a:xfrm>
      </p:grpSpPr>
    </p:spTree>
    <p:extLst>
      <p:ext uri="{BB962C8B-B14F-4D97-AF65-F5344CB8AC3E}">
        <p14:creationId xmlns:p14="http://schemas.microsoft.com/office/powerpoint/2010/main" val="24438661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3.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5.png"/><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0">
            <a:extLst>
              <a:ext uri="{28A0092B-C50C-407E-A947-70E740481C1C}">
                <a14:useLocalDpi xmlns:a14="http://schemas.microsoft.com/office/drawing/2010/main" val="0"/>
              </a:ext>
            </a:extLst>
          </a:blip>
          <a:srcRect l="3613"/>
          <a:stretch/>
        </p:blipFill>
        <p:spPr>
          <a:xfrm>
            <a:off x="0" y="2002264"/>
            <a:ext cx="3027759" cy="3141236"/>
          </a:xfrm>
          <a:prstGeom prst="rect">
            <a:avLst/>
          </a:prstGeom>
        </p:spPr>
      </p:pic>
      <p:pic>
        <p:nvPicPr>
          <p:cNvPr id="7" name="Picture 6"/>
          <p:cNvPicPr>
            <a:picLocks noChangeAspect="1"/>
          </p:cNvPicPr>
          <p:nvPr/>
        </p:nvPicPr>
        <p:blipFill rotWithShape="1">
          <a:blip r:embed="rId21">
            <a:extLst>
              <a:ext uri="{28A0092B-C50C-407E-A947-70E740481C1C}">
                <a14:useLocalDpi xmlns:a14="http://schemas.microsoft.com/office/drawing/2010/main" val="0"/>
              </a:ext>
            </a:extLst>
          </a:blip>
          <a:srcRect l="35640"/>
          <a:stretch/>
        </p:blipFill>
        <p:spPr>
          <a:xfrm>
            <a:off x="0" y="2169261"/>
            <a:ext cx="1141809" cy="1774090"/>
          </a:xfrm>
          <a:prstGeom prst="rect">
            <a:avLst/>
          </a:prstGeom>
        </p:spPr>
      </p:pic>
      <p:sp>
        <p:nvSpPr>
          <p:cNvPr id="16" name="Oval 15"/>
          <p:cNvSpPr/>
          <p:nvPr/>
        </p:nvSpPr>
        <p:spPr>
          <a:xfrm>
            <a:off x="6456759" y="1257300"/>
            <a:ext cx="2114550" cy="211455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pic>
        <p:nvPicPr>
          <p:cNvPr id="9" name="Picture 8"/>
          <p:cNvPicPr>
            <a:picLocks noChangeAspect="1"/>
          </p:cNvPicPr>
          <p:nvPr/>
        </p:nvPicPr>
        <p:blipFill rotWithShape="1">
          <a:blip r:embed="rId22">
            <a:extLst>
              <a:ext uri="{28A0092B-C50C-407E-A947-70E740481C1C}">
                <a14:useLocalDpi xmlns:a14="http://schemas.microsoft.com/office/drawing/2010/main" val="0"/>
              </a:ext>
            </a:extLst>
          </a:blip>
          <a:srcRect t="28813"/>
          <a:stretch/>
        </p:blipFill>
        <p:spPr>
          <a:xfrm>
            <a:off x="5999560" y="1"/>
            <a:ext cx="1202540" cy="856055"/>
          </a:xfrm>
          <a:prstGeom prst="rect">
            <a:avLst/>
          </a:prstGeom>
        </p:spPr>
      </p:pic>
      <p:pic>
        <p:nvPicPr>
          <p:cNvPr id="10" name="Picture 9"/>
          <p:cNvPicPr>
            <a:picLocks noChangeAspect="1"/>
          </p:cNvPicPr>
          <p:nvPr/>
        </p:nvPicPr>
        <p:blipFill rotWithShape="1">
          <a:blip r:embed="rId23">
            <a:extLst>
              <a:ext uri="{28A0092B-C50C-407E-A947-70E740481C1C}">
                <a14:useLocalDpi xmlns:a14="http://schemas.microsoft.com/office/drawing/2010/main" val="0"/>
              </a:ext>
            </a:extLst>
          </a:blip>
          <a:srcRect b="23320"/>
          <a:stretch/>
        </p:blipFill>
        <p:spPr>
          <a:xfrm>
            <a:off x="6454408" y="4572000"/>
            <a:ext cx="745301" cy="571500"/>
          </a:xfrm>
          <a:prstGeom prst="rect">
            <a:avLst/>
          </a:prstGeom>
        </p:spPr>
      </p:pic>
      <p:sp>
        <p:nvSpPr>
          <p:cNvPr id="14" name="Rectangle 13"/>
          <p:cNvSpPr/>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 name="Title Placeholder 1"/>
          <p:cNvSpPr>
            <a:spLocks noGrp="1"/>
          </p:cNvSpPr>
          <p:nvPr>
            <p:ph type="title"/>
          </p:nvPr>
        </p:nvSpPr>
        <p:spPr>
          <a:xfrm>
            <a:off x="484584" y="339538"/>
            <a:ext cx="7053542" cy="1050398"/>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827484" y="1539689"/>
            <a:ext cx="6709906" cy="314661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7616730" y="1343026"/>
            <a:ext cx="742949" cy="228599"/>
          </a:xfrm>
          <a:prstGeom prst="rect">
            <a:avLst/>
          </a:prstGeom>
        </p:spPr>
        <p:txBody>
          <a:bodyPr vert="horz" lIns="91440" tIns="45720" rIns="91440" bIns="45720" rtlCol="0" anchor="t"/>
          <a:lstStyle>
            <a:lvl1pPr algn="l">
              <a:defRPr sz="825" b="0" i="0">
                <a:solidFill>
                  <a:schemeClr val="tx1">
                    <a:tint val="75000"/>
                    <a:alpha val="60000"/>
                  </a:schemeClr>
                </a:solidFill>
              </a:defRPr>
            </a:lvl1pPr>
          </a:lstStyle>
          <a:p>
            <a:fld id="{4AAD347D-5ACD-4C99-B74B-A9C85AD731AF}" type="datetimeFigureOut">
              <a:rPr lang="en-US" dirty="0"/>
              <a:t>4/25/2026</a:t>
            </a:fld>
            <a:endParaRPr lang="en-US" dirty="0"/>
          </a:p>
        </p:txBody>
      </p:sp>
      <p:sp>
        <p:nvSpPr>
          <p:cNvPr id="5" name="Footer Placeholder 4"/>
          <p:cNvSpPr>
            <a:spLocks noGrp="1"/>
          </p:cNvSpPr>
          <p:nvPr>
            <p:ph type="ftr" sz="quarter" idx="3"/>
          </p:nvPr>
        </p:nvSpPr>
        <p:spPr>
          <a:xfrm rot="5400000">
            <a:off x="6713680" y="2418973"/>
            <a:ext cx="2894846" cy="228601"/>
          </a:xfrm>
          <a:prstGeom prst="rect">
            <a:avLst/>
          </a:prstGeom>
        </p:spPr>
        <p:txBody>
          <a:bodyPr vert="horz" lIns="91440" tIns="45720" rIns="91440" bIns="45720" rtlCol="0" anchor="b"/>
          <a:lstStyle>
            <a:lvl1pPr algn="l">
              <a:defRPr sz="825"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7764406" y="221797"/>
            <a:ext cx="628649" cy="575765"/>
          </a:xfrm>
          <a:prstGeom prst="rect">
            <a:avLst/>
          </a:prstGeom>
        </p:spPr>
        <p:txBody>
          <a:bodyPr vert="horz" lIns="91440" tIns="45720" rIns="91440" bIns="45720" rtlCol="0" anchor="b"/>
          <a:lstStyle>
            <a:lvl1pPr algn="ctr">
              <a:defRPr sz="2100" b="0" i="0">
                <a:solidFill>
                  <a:schemeClr val="tx1">
                    <a:tint val="75000"/>
                  </a:schemeClr>
                </a:solidFill>
              </a:defRPr>
            </a:lvl1pPr>
          </a:lstStyle>
          <a:p>
            <a:fld id="{D57F1E4F-1CFF-5643-939E-02111984F565}" type="slidenum">
              <a:rPr lang="en-US" dirty="0"/>
              <a:t>‹#›</a:t>
            </a:fld>
            <a:endParaRPr lang="en-US" dirty="0"/>
          </a:p>
        </p:txBody>
      </p:sp>
    </p:spTree>
    <p:extLst>
      <p:ext uri="{BB962C8B-B14F-4D97-AF65-F5344CB8AC3E}">
        <p14:creationId xmlns:p14="http://schemas.microsoft.com/office/powerpoint/2010/main" val="917383506"/>
      </p:ext>
    </p:extLst>
  </p:cSld>
  <p:clrMap bg1="dk1" tx1="lt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Lst>
  <p:hf sldNum="0" hdr="0" ftr="0" dt="0"/>
  <p:txStyles>
    <p:titleStyle>
      <a:lvl1pPr algn="l" defTabSz="342900" rtl="0" eaLnBrk="1" latinLnBrk="0" hangingPunct="1">
        <a:spcBef>
          <a:spcPct val="0"/>
        </a:spcBef>
        <a:buNone/>
        <a:defRPr sz="315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bg2">
            <a:lumMod val="40000"/>
            <a:lumOff val="60000"/>
          </a:schemeClr>
        </a:buClr>
        <a:buSzPct val="80000"/>
        <a:buFont typeface="Wingdings 3" charset="2"/>
        <a:buChar char=""/>
        <a:defRPr sz="1500" b="0" i="0" kern="1200">
          <a:solidFill>
            <a:schemeClr val="tx1"/>
          </a:solidFill>
          <a:latin typeface="+mj-lt"/>
          <a:ea typeface="+mj-ea"/>
          <a:cs typeface="+mj-cs"/>
        </a:defRPr>
      </a:lvl1pPr>
      <a:lvl2pPr marL="557213" indent="-214313" algn="l" defTabSz="342900" rtl="0" eaLnBrk="1" latinLnBrk="0" hangingPunct="1">
        <a:spcBef>
          <a:spcPts val="750"/>
        </a:spcBef>
        <a:spcAft>
          <a:spcPts val="0"/>
        </a:spcAft>
        <a:buClr>
          <a:schemeClr val="bg2">
            <a:lumMod val="40000"/>
            <a:lumOff val="60000"/>
          </a:schemeClr>
        </a:buClr>
        <a:buSzPct val="80000"/>
        <a:buFont typeface="Wingdings 3" charset="2"/>
        <a:buChar char=""/>
        <a:defRPr sz="1350" b="0" i="0" kern="1200">
          <a:solidFill>
            <a:schemeClr val="tx1"/>
          </a:solidFill>
          <a:latin typeface="+mj-lt"/>
          <a:ea typeface="+mj-ea"/>
          <a:cs typeface="+mj-cs"/>
        </a:defRPr>
      </a:lvl2pPr>
      <a:lvl3pPr marL="8572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3pPr>
      <a:lvl4pPr marL="12001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4pPr>
      <a:lvl5pPr marL="15430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5pPr>
      <a:lvl6pPr marL="187950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6pPr>
      <a:lvl7pPr marL="22288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7pPr>
      <a:lvl8pPr marL="25717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8pPr>
      <a:lvl9pPr marL="29146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8.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8" Type="http://schemas.openxmlformats.org/officeDocument/2006/relationships/hyperlink" Target="https://www.redhat.com/en/topics/virtualization/what-is-KVM" TargetMode="External"/><Relationship Id="rId3" Type="http://schemas.openxmlformats.org/officeDocument/2006/relationships/hyperlink" Target="https://www.vmware.com/products/cloud-infrastructure/vsphere" TargetMode="External"/><Relationship Id="rId7" Type="http://schemas.openxmlformats.org/officeDocument/2006/relationships/hyperlink" Target="https://www.proxmox.com/en/products/proxmox-virtual-environment/pricing" TargetMode="External"/><Relationship Id="rId2" Type="http://schemas.openxmlformats.org/officeDocument/2006/relationships/notesSlide" Target="../notesSlides/notesSlide11.xml"/><Relationship Id="rId1" Type="http://schemas.openxmlformats.org/officeDocument/2006/relationships/slideLayout" Target="../slideLayouts/slideLayout18.xml"/><Relationship Id="rId6" Type="http://schemas.openxmlformats.org/officeDocument/2006/relationships/hyperlink" Target="https://www.proxmox.com/en/products/proxmox-virtual-environment/overview" TargetMode="External"/><Relationship Id="rId5" Type="http://schemas.openxmlformats.org/officeDocument/2006/relationships/hyperlink" Target="https://learn.microsoft.com/en-us/windows-server/virtualization/hyper-v/overview" TargetMode="External"/><Relationship Id="rId4" Type="http://schemas.openxmlformats.org/officeDocument/2006/relationships/hyperlink" Target="https://www.microsoft.com/en-us/windows-server/pricing" TargetMode="External"/><Relationship Id="rId9" Type="http://schemas.openxmlformats.org/officeDocument/2006/relationships/hyperlink" Target="https://www.redhat.com/en/store/linux-platform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
        <p:cNvGrpSpPr/>
        <p:nvPr/>
      </p:nvGrpSpPr>
      <p:grpSpPr>
        <a:xfrm>
          <a:off x="0" y="0"/>
          <a:ext cx="0" cy="0"/>
          <a:chOff x="0" y="0"/>
          <a:chExt cx="0" cy="0"/>
        </a:xfrm>
      </p:grpSpPr>
      <p:sp>
        <p:nvSpPr>
          <p:cNvPr id="12" name="Google Shape;12;p1"/>
          <p:cNvSpPr/>
          <p:nvPr/>
        </p:nvSpPr>
        <p:spPr>
          <a:xfrm>
            <a:off x="0" y="0"/>
            <a:ext cx="164592" cy="5143500"/>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13" name="Google Shape;13;p1"/>
          <p:cNvSpPr/>
          <p:nvPr/>
        </p:nvSpPr>
        <p:spPr>
          <a:xfrm>
            <a:off x="164592" y="0"/>
            <a:ext cx="8979408" cy="54864"/>
          </a:xfrm>
          <a:prstGeom prst="rect">
            <a:avLst/>
          </a:prstGeom>
          <a:solidFill>
            <a:srgbClr val="14B8A6"/>
          </a:solidFill>
          <a:ln w="12700" cap="flat" cmpd="sng">
            <a:solidFill>
              <a:srgbClr val="14B8A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14" name="Google Shape;14;p1"/>
          <p:cNvSpPr/>
          <p:nvPr/>
        </p:nvSpPr>
        <p:spPr>
          <a:xfrm>
            <a:off x="411480" y="640080"/>
            <a:ext cx="841248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4B8A6"/>
              </a:buClr>
              <a:buSzPts val="1300"/>
              <a:buFont typeface="Calibri"/>
              <a:buNone/>
            </a:pPr>
            <a:r>
              <a:rPr lang="en-US" sz="1300" b="1" dirty="0">
                <a:solidFill>
                  <a:srgbClr val="14B8A6"/>
                </a:solidFill>
                <a:latin typeface="Calibri"/>
                <a:ea typeface="Calibri"/>
                <a:cs typeface="Calibri"/>
                <a:sym typeface="Calibri"/>
              </a:rPr>
              <a:t>HYPERVISOR COMPARISON</a:t>
            </a:r>
            <a:endParaRPr sz="1300" dirty="0">
              <a:solidFill>
                <a:schemeClr val="dk1"/>
              </a:solidFill>
              <a:latin typeface="Calibri"/>
              <a:ea typeface="Calibri"/>
              <a:cs typeface="Calibri"/>
              <a:sym typeface="Calibri"/>
            </a:endParaRPr>
          </a:p>
        </p:txBody>
      </p:sp>
      <p:sp>
        <p:nvSpPr>
          <p:cNvPr id="15" name="Google Shape;15;p1"/>
          <p:cNvSpPr/>
          <p:nvPr/>
        </p:nvSpPr>
        <p:spPr>
          <a:xfrm>
            <a:off x="411480" y="1143000"/>
            <a:ext cx="8412480" cy="1463040"/>
          </a:xfrm>
          <a:prstGeom prst="rect">
            <a:avLst/>
          </a:prstGeom>
          <a:noFill/>
          <a:ln>
            <a:noFill/>
          </a:ln>
        </p:spPr>
        <p:txBody>
          <a:bodyPr spcFirstLastPara="1" wrap="square" lIns="91425" tIns="45700" rIns="91425" bIns="45700" anchor="ctr" anchorCtr="0">
            <a:noAutofit/>
          </a:bodyPr>
          <a:lstStyle/>
          <a:p>
            <a:pPr marL="0" marR="0" lvl="0" indent="0" algn="l" rtl="0">
              <a:lnSpc>
                <a:spcPct val="120000"/>
              </a:lnSpc>
              <a:spcBef>
                <a:spcPts val="0"/>
              </a:spcBef>
              <a:spcAft>
                <a:spcPts val="0"/>
              </a:spcAft>
              <a:buClr>
                <a:srgbClr val="FFFFFF"/>
              </a:buClr>
              <a:buSzPts val="3600"/>
              <a:buFont typeface="Calibri"/>
              <a:buNone/>
            </a:pPr>
            <a:r>
              <a:rPr lang="en-US" sz="3600" b="1" dirty="0">
                <a:solidFill>
                  <a:srgbClr val="FFFFFF"/>
                </a:solidFill>
                <a:latin typeface="Calibri"/>
                <a:ea typeface="Calibri"/>
                <a:cs typeface="Calibri"/>
                <a:sym typeface="Calibri"/>
              </a:rPr>
              <a:t>Choosing the Right Type 1 Hypervisor</a:t>
            </a:r>
            <a:endParaRPr sz="3600" dirty="0">
              <a:solidFill>
                <a:schemeClr val="dk1"/>
              </a:solidFill>
              <a:latin typeface="Calibri"/>
              <a:ea typeface="Calibri"/>
              <a:cs typeface="Calibri"/>
              <a:sym typeface="Calibri"/>
            </a:endParaRPr>
          </a:p>
          <a:p>
            <a:pPr marL="0" marR="0" lvl="0" indent="0" algn="l" rtl="0">
              <a:lnSpc>
                <a:spcPct val="120000"/>
              </a:lnSpc>
              <a:spcBef>
                <a:spcPts val="0"/>
              </a:spcBef>
              <a:spcAft>
                <a:spcPts val="0"/>
              </a:spcAft>
              <a:buClr>
                <a:srgbClr val="FFFFFF"/>
              </a:buClr>
              <a:buSzPts val="3600"/>
              <a:buFont typeface="Calibri"/>
              <a:buNone/>
            </a:pPr>
            <a:r>
              <a:rPr lang="en-US" sz="3600" b="1" dirty="0">
                <a:solidFill>
                  <a:srgbClr val="FFFFFF"/>
                </a:solidFill>
                <a:latin typeface="Calibri"/>
                <a:ea typeface="Calibri"/>
                <a:cs typeface="Calibri"/>
                <a:sym typeface="Calibri"/>
              </a:rPr>
              <a:t>for Small Business Virtualization</a:t>
            </a:r>
            <a:endParaRPr sz="3600" dirty="0">
              <a:solidFill>
                <a:schemeClr val="dk1"/>
              </a:solidFill>
              <a:latin typeface="Calibri"/>
              <a:ea typeface="Calibri"/>
              <a:cs typeface="Calibri"/>
              <a:sym typeface="Calibri"/>
            </a:endParaRPr>
          </a:p>
        </p:txBody>
      </p:sp>
      <p:sp>
        <p:nvSpPr>
          <p:cNvPr id="16" name="Google Shape;16;p1"/>
          <p:cNvSpPr/>
          <p:nvPr/>
        </p:nvSpPr>
        <p:spPr>
          <a:xfrm>
            <a:off x="411480" y="2743200"/>
            <a:ext cx="2286000" cy="45720"/>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17" name="Google Shape;17;p1"/>
          <p:cNvSpPr/>
          <p:nvPr/>
        </p:nvSpPr>
        <p:spPr>
          <a:xfrm>
            <a:off x="411480" y="2926080"/>
            <a:ext cx="841248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E2E8F0"/>
              </a:buClr>
              <a:buSzPts val="1400"/>
              <a:buFont typeface="Calibri"/>
              <a:buNone/>
            </a:pPr>
            <a:r>
              <a:rPr lang="en-US" sz="1400" dirty="0">
                <a:solidFill>
                  <a:srgbClr val="E2E8F0"/>
                </a:solidFill>
                <a:latin typeface="Calibri"/>
                <a:ea typeface="Calibri"/>
                <a:cs typeface="Calibri"/>
                <a:sym typeface="Calibri"/>
              </a:rPr>
              <a:t>VMware vSphere  ·  Microsoft Hyper-V  ·  Proxmox VE</a:t>
            </a:r>
            <a:endParaRPr sz="1400" dirty="0">
              <a:solidFill>
                <a:schemeClr val="dk1"/>
              </a:solidFill>
              <a:latin typeface="Calibri"/>
              <a:ea typeface="Calibri"/>
              <a:cs typeface="Calibri"/>
              <a:sym typeface="Calibri"/>
            </a:endParaRPr>
          </a:p>
        </p:txBody>
      </p:sp>
      <p:sp>
        <p:nvSpPr>
          <p:cNvPr id="18" name="Google Shape;18;p1"/>
          <p:cNvSpPr/>
          <p:nvPr/>
        </p:nvSpPr>
        <p:spPr>
          <a:xfrm>
            <a:off x="411480" y="4389120"/>
            <a:ext cx="841248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4748B"/>
              </a:buClr>
              <a:buSzPts val="1100"/>
              <a:buFont typeface="Calibri"/>
              <a:buNone/>
            </a:pPr>
            <a:r>
              <a:rPr lang="en-US" sz="1100" dirty="0">
                <a:latin typeface="Calibri"/>
                <a:ea typeface="Calibri"/>
                <a:cs typeface="Calibri"/>
                <a:sym typeface="Calibri"/>
              </a:rPr>
              <a:t>IT Consultant Recommendation | Small Business Scenario</a:t>
            </a:r>
            <a:endParaRPr dirty="0"/>
          </a:p>
          <a:p>
            <a:pPr marL="0" marR="0" lvl="0" indent="0" algn="l" rtl="0">
              <a:spcBef>
                <a:spcPts val="0"/>
              </a:spcBef>
              <a:spcAft>
                <a:spcPts val="0"/>
              </a:spcAft>
              <a:buClr>
                <a:srgbClr val="64748B"/>
              </a:buClr>
              <a:buSzPts val="800"/>
              <a:buFont typeface="Calibri"/>
              <a:buNone/>
            </a:pPr>
            <a:r>
              <a:rPr lang="en-US" sz="800" dirty="0">
                <a:latin typeface="Calibri"/>
                <a:ea typeface="Calibri"/>
                <a:cs typeface="Calibri"/>
                <a:sym typeface="Calibri"/>
              </a:rPr>
              <a:t>Elham Timory / Alicia White / Alfredo Garza</a:t>
            </a:r>
            <a:endParaRPr dirty="0"/>
          </a:p>
          <a:p>
            <a:pPr marL="0" marR="0" lvl="0" indent="0" algn="l" rtl="0">
              <a:spcBef>
                <a:spcPts val="0"/>
              </a:spcBef>
              <a:spcAft>
                <a:spcPts val="0"/>
              </a:spcAft>
              <a:buNone/>
            </a:pPr>
            <a:r>
              <a:rPr lang="en-US" sz="800" dirty="0">
                <a:latin typeface="Calibri"/>
                <a:ea typeface="Calibri"/>
                <a:cs typeface="Calibri"/>
                <a:sym typeface="Calibri"/>
              </a:rPr>
              <a:t>6262-ITNW-1313-Computer Virtualization-RT-13522</a:t>
            </a:r>
            <a:endParaRPr dirty="0"/>
          </a:p>
          <a:p>
            <a:pPr marL="0" marR="0" lvl="0" indent="0" algn="l" rtl="0">
              <a:spcBef>
                <a:spcPts val="0"/>
              </a:spcBef>
              <a:spcAft>
                <a:spcPts val="0"/>
              </a:spcAft>
              <a:buClr>
                <a:schemeClr val="dk1"/>
              </a:buClr>
              <a:buSzPts val="800"/>
              <a:buFont typeface="Calibri"/>
              <a:buNone/>
            </a:pPr>
            <a:endParaRPr sz="800" dirty="0">
              <a:solidFill>
                <a:srgbClr val="64748B"/>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3"/>
        <p:cNvGrpSpPr/>
        <p:nvPr/>
      </p:nvGrpSpPr>
      <p:grpSpPr>
        <a:xfrm>
          <a:off x="0" y="0"/>
          <a:ext cx="0" cy="0"/>
          <a:chOff x="0" y="0"/>
          <a:chExt cx="0" cy="0"/>
        </a:xfrm>
      </p:grpSpPr>
      <p:sp>
        <p:nvSpPr>
          <p:cNvPr id="24" name="Google Shape;24;p2"/>
          <p:cNvSpPr/>
          <p:nvPr/>
        </p:nvSpPr>
        <p:spPr>
          <a:xfrm>
            <a:off x="0" y="0"/>
            <a:ext cx="9144000" cy="685800"/>
          </a:xfrm>
          <a:prstGeom prst="rect">
            <a:avLst/>
          </a:prstGeom>
          <a:solidFill>
            <a:srgbClr val="1A2B4A"/>
          </a:solidFill>
          <a:ln w="12700" cap="flat" cmpd="sng">
            <a:solidFill>
              <a:srgbClr val="1A2B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25" name="Google Shape;25;p2"/>
          <p:cNvSpPr/>
          <p:nvPr/>
        </p:nvSpPr>
        <p:spPr>
          <a:xfrm>
            <a:off x="365760" y="0"/>
            <a:ext cx="8412480" cy="6858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2200"/>
              <a:buFont typeface="Calibri"/>
              <a:buNone/>
            </a:pPr>
            <a:r>
              <a:rPr lang="en-US" sz="2200" b="1" dirty="0">
                <a:solidFill>
                  <a:srgbClr val="FFFFFF"/>
                </a:solidFill>
                <a:latin typeface="Calibri"/>
                <a:ea typeface="Calibri"/>
                <a:cs typeface="Calibri"/>
                <a:sym typeface="Calibri"/>
              </a:rPr>
              <a:t>Agenda</a:t>
            </a:r>
            <a:endParaRPr sz="2200" dirty="0">
              <a:solidFill>
                <a:schemeClr val="dk1"/>
              </a:solidFill>
              <a:latin typeface="Calibri"/>
              <a:ea typeface="Calibri"/>
              <a:cs typeface="Calibri"/>
              <a:sym typeface="Calibri"/>
            </a:endParaRPr>
          </a:p>
        </p:txBody>
      </p:sp>
      <p:sp>
        <p:nvSpPr>
          <p:cNvPr id="26" name="Google Shape;26;p2"/>
          <p:cNvSpPr/>
          <p:nvPr/>
        </p:nvSpPr>
        <p:spPr>
          <a:xfrm>
            <a:off x="365760" y="914400"/>
            <a:ext cx="4023360" cy="1097280"/>
          </a:xfrm>
          <a:prstGeom prst="rect">
            <a:avLst/>
          </a:prstGeom>
          <a:solidFill>
            <a:srgbClr val="FFFFFF"/>
          </a:solidFill>
          <a:ln w="12700" cap="flat" cmpd="sng">
            <a:solidFill>
              <a:srgbClr val="E2E8F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27" name="Google Shape;27;p2"/>
          <p:cNvSpPr/>
          <p:nvPr/>
        </p:nvSpPr>
        <p:spPr>
          <a:xfrm>
            <a:off x="365760" y="914400"/>
            <a:ext cx="502920" cy="1097280"/>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28" name="Google Shape;28;p2"/>
          <p:cNvSpPr/>
          <p:nvPr/>
        </p:nvSpPr>
        <p:spPr>
          <a:xfrm>
            <a:off x="365760" y="914400"/>
            <a:ext cx="502920" cy="10972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libri"/>
              <a:buNone/>
            </a:pPr>
            <a:r>
              <a:rPr lang="en-US" sz="1600" b="1" dirty="0">
                <a:solidFill>
                  <a:srgbClr val="FFFFFF"/>
                </a:solidFill>
                <a:latin typeface="Calibri"/>
                <a:ea typeface="Calibri"/>
                <a:cs typeface="Calibri"/>
                <a:sym typeface="Calibri"/>
              </a:rPr>
              <a:t>01</a:t>
            </a:r>
            <a:endParaRPr sz="1600" dirty="0">
              <a:solidFill>
                <a:schemeClr val="dk1"/>
              </a:solidFill>
              <a:latin typeface="Calibri"/>
              <a:ea typeface="Calibri"/>
              <a:cs typeface="Calibri"/>
              <a:sym typeface="Calibri"/>
            </a:endParaRPr>
          </a:p>
        </p:txBody>
      </p:sp>
      <p:sp>
        <p:nvSpPr>
          <p:cNvPr id="29" name="Google Shape;29;p2"/>
          <p:cNvSpPr/>
          <p:nvPr/>
        </p:nvSpPr>
        <p:spPr>
          <a:xfrm>
            <a:off x="960120" y="1005840"/>
            <a:ext cx="333756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2B4A"/>
              </a:buClr>
              <a:buSzPts val="1200"/>
              <a:buFont typeface="Calibri"/>
              <a:buNone/>
            </a:pPr>
            <a:r>
              <a:rPr lang="en-US" sz="1200" b="1" dirty="0">
                <a:solidFill>
                  <a:srgbClr val="1A2B4A"/>
                </a:solidFill>
                <a:latin typeface="Calibri"/>
                <a:ea typeface="Calibri"/>
                <a:cs typeface="Calibri"/>
                <a:sym typeface="Calibri"/>
              </a:rPr>
              <a:t>SMB Scenario Overview</a:t>
            </a:r>
            <a:endParaRPr sz="1200" dirty="0">
              <a:solidFill>
                <a:schemeClr val="dk1"/>
              </a:solidFill>
              <a:latin typeface="Calibri"/>
              <a:ea typeface="Calibri"/>
              <a:cs typeface="Calibri"/>
              <a:sym typeface="Calibri"/>
            </a:endParaRPr>
          </a:p>
        </p:txBody>
      </p:sp>
      <p:sp>
        <p:nvSpPr>
          <p:cNvPr id="30" name="Google Shape;30;p2"/>
          <p:cNvSpPr/>
          <p:nvPr/>
        </p:nvSpPr>
        <p:spPr>
          <a:xfrm>
            <a:off x="960120" y="1325880"/>
            <a:ext cx="3337560" cy="5943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4748B"/>
              </a:buClr>
              <a:buSzPts val="1000"/>
              <a:buFont typeface="Calibri"/>
              <a:buNone/>
            </a:pPr>
            <a:r>
              <a:rPr lang="en-US" sz="1000" dirty="0">
                <a:solidFill>
                  <a:srgbClr val="64748B"/>
                </a:solidFill>
                <a:latin typeface="Calibri"/>
                <a:ea typeface="Calibri"/>
                <a:cs typeface="Calibri"/>
                <a:sym typeface="Calibri"/>
              </a:rPr>
              <a:t>Understanding the company's needs and constraints</a:t>
            </a:r>
            <a:endParaRPr sz="1000" dirty="0">
              <a:solidFill>
                <a:schemeClr val="dk1"/>
              </a:solidFill>
              <a:latin typeface="Calibri"/>
              <a:ea typeface="Calibri"/>
              <a:cs typeface="Calibri"/>
              <a:sym typeface="Calibri"/>
            </a:endParaRPr>
          </a:p>
        </p:txBody>
      </p:sp>
      <p:sp>
        <p:nvSpPr>
          <p:cNvPr id="31" name="Google Shape;31;p2"/>
          <p:cNvSpPr/>
          <p:nvPr/>
        </p:nvSpPr>
        <p:spPr>
          <a:xfrm>
            <a:off x="4754880" y="914400"/>
            <a:ext cx="4023360" cy="1097280"/>
          </a:xfrm>
          <a:prstGeom prst="rect">
            <a:avLst/>
          </a:prstGeom>
          <a:solidFill>
            <a:srgbClr val="FFFFFF"/>
          </a:solidFill>
          <a:ln w="12700" cap="flat" cmpd="sng">
            <a:solidFill>
              <a:srgbClr val="E2E8F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32" name="Google Shape;32;p2"/>
          <p:cNvSpPr/>
          <p:nvPr/>
        </p:nvSpPr>
        <p:spPr>
          <a:xfrm>
            <a:off x="4754880" y="914400"/>
            <a:ext cx="502920" cy="1097280"/>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33" name="Google Shape;33;p2"/>
          <p:cNvSpPr/>
          <p:nvPr/>
        </p:nvSpPr>
        <p:spPr>
          <a:xfrm>
            <a:off x="4754880" y="914400"/>
            <a:ext cx="502920" cy="10972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libri"/>
              <a:buNone/>
            </a:pPr>
            <a:r>
              <a:rPr lang="en-US" sz="1600" b="1" dirty="0">
                <a:solidFill>
                  <a:srgbClr val="FFFFFF"/>
                </a:solidFill>
                <a:latin typeface="Calibri"/>
                <a:ea typeface="Calibri"/>
                <a:cs typeface="Calibri"/>
                <a:sym typeface="Calibri"/>
              </a:rPr>
              <a:t>02</a:t>
            </a:r>
            <a:endParaRPr sz="1600" dirty="0">
              <a:solidFill>
                <a:schemeClr val="dk1"/>
              </a:solidFill>
              <a:latin typeface="Calibri"/>
              <a:ea typeface="Calibri"/>
              <a:cs typeface="Calibri"/>
              <a:sym typeface="Calibri"/>
            </a:endParaRPr>
          </a:p>
        </p:txBody>
      </p:sp>
      <p:sp>
        <p:nvSpPr>
          <p:cNvPr id="34" name="Google Shape;34;p2"/>
          <p:cNvSpPr/>
          <p:nvPr/>
        </p:nvSpPr>
        <p:spPr>
          <a:xfrm>
            <a:off x="5349240" y="1005840"/>
            <a:ext cx="333756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2B4A"/>
              </a:buClr>
              <a:buSzPts val="1200"/>
              <a:buFont typeface="Calibri"/>
              <a:buNone/>
            </a:pPr>
            <a:r>
              <a:rPr lang="en-US" sz="1200" b="1" dirty="0">
                <a:solidFill>
                  <a:srgbClr val="1A2B4A"/>
                </a:solidFill>
                <a:latin typeface="Calibri"/>
                <a:ea typeface="Calibri"/>
                <a:cs typeface="Calibri"/>
                <a:sym typeface="Calibri"/>
              </a:rPr>
              <a:t>Candidate Hypervisors</a:t>
            </a:r>
            <a:endParaRPr sz="1200" dirty="0">
              <a:solidFill>
                <a:schemeClr val="dk1"/>
              </a:solidFill>
              <a:latin typeface="Calibri"/>
              <a:ea typeface="Calibri"/>
              <a:cs typeface="Calibri"/>
              <a:sym typeface="Calibri"/>
            </a:endParaRPr>
          </a:p>
        </p:txBody>
      </p:sp>
      <p:sp>
        <p:nvSpPr>
          <p:cNvPr id="35" name="Google Shape;35;p2"/>
          <p:cNvSpPr/>
          <p:nvPr/>
        </p:nvSpPr>
        <p:spPr>
          <a:xfrm>
            <a:off x="5349240" y="1325880"/>
            <a:ext cx="3337560" cy="5943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4748B"/>
              </a:buClr>
              <a:buSzPts val="1000"/>
              <a:buFont typeface="Calibri"/>
              <a:buNone/>
            </a:pPr>
            <a:r>
              <a:rPr lang="en-US" sz="1000" dirty="0">
                <a:solidFill>
                  <a:srgbClr val="64748B"/>
                </a:solidFill>
                <a:latin typeface="Calibri"/>
                <a:ea typeface="Calibri"/>
                <a:cs typeface="Calibri"/>
                <a:sym typeface="Calibri"/>
              </a:rPr>
              <a:t>VMware vSphere, Microsoft Hyper-V, Proxmox VE</a:t>
            </a:r>
            <a:endParaRPr sz="1000" dirty="0">
              <a:solidFill>
                <a:schemeClr val="dk1"/>
              </a:solidFill>
              <a:latin typeface="Calibri"/>
              <a:ea typeface="Calibri"/>
              <a:cs typeface="Calibri"/>
              <a:sym typeface="Calibri"/>
            </a:endParaRPr>
          </a:p>
        </p:txBody>
      </p:sp>
      <p:sp>
        <p:nvSpPr>
          <p:cNvPr id="36" name="Google Shape;36;p2"/>
          <p:cNvSpPr/>
          <p:nvPr/>
        </p:nvSpPr>
        <p:spPr>
          <a:xfrm>
            <a:off x="365760" y="2194560"/>
            <a:ext cx="4023360" cy="1097280"/>
          </a:xfrm>
          <a:prstGeom prst="rect">
            <a:avLst/>
          </a:prstGeom>
          <a:solidFill>
            <a:srgbClr val="FFFFFF"/>
          </a:solidFill>
          <a:ln w="12700" cap="flat" cmpd="sng">
            <a:solidFill>
              <a:srgbClr val="E2E8F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37" name="Google Shape;37;p2"/>
          <p:cNvSpPr/>
          <p:nvPr/>
        </p:nvSpPr>
        <p:spPr>
          <a:xfrm>
            <a:off x="365760" y="2194560"/>
            <a:ext cx="502920" cy="1097280"/>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38" name="Google Shape;38;p2"/>
          <p:cNvSpPr/>
          <p:nvPr/>
        </p:nvSpPr>
        <p:spPr>
          <a:xfrm>
            <a:off x="365760" y="2194560"/>
            <a:ext cx="502920" cy="10972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libri"/>
              <a:buNone/>
            </a:pPr>
            <a:r>
              <a:rPr lang="en-US" sz="1600" b="1" dirty="0">
                <a:solidFill>
                  <a:srgbClr val="FFFFFF"/>
                </a:solidFill>
                <a:latin typeface="Calibri"/>
                <a:ea typeface="Calibri"/>
                <a:cs typeface="Calibri"/>
                <a:sym typeface="Calibri"/>
              </a:rPr>
              <a:t>03</a:t>
            </a:r>
            <a:endParaRPr sz="1600" dirty="0">
              <a:solidFill>
                <a:schemeClr val="dk1"/>
              </a:solidFill>
              <a:latin typeface="Calibri"/>
              <a:ea typeface="Calibri"/>
              <a:cs typeface="Calibri"/>
              <a:sym typeface="Calibri"/>
            </a:endParaRPr>
          </a:p>
        </p:txBody>
      </p:sp>
      <p:sp>
        <p:nvSpPr>
          <p:cNvPr id="39" name="Google Shape;39;p2"/>
          <p:cNvSpPr/>
          <p:nvPr/>
        </p:nvSpPr>
        <p:spPr>
          <a:xfrm>
            <a:off x="960120" y="2286000"/>
            <a:ext cx="333756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2B4A"/>
              </a:buClr>
              <a:buSzPts val="1200"/>
              <a:buFont typeface="Calibri"/>
              <a:buNone/>
            </a:pPr>
            <a:r>
              <a:rPr lang="en-US" sz="1200" b="1" dirty="0">
                <a:solidFill>
                  <a:srgbClr val="1A2B4A"/>
                </a:solidFill>
                <a:latin typeface="Calibri"/>
                <a:ea typeface="Calibri"/>
                <a:cs typeface="Calibri"/>
                <a:sym typeface="Calibri"/>
              </a:rPr>
              <a:t>Comparison Criteria</a:t>
            </a:r>
            <a:endParaRPr sz="1200" dirty="0">
              <a:solidFill>
                <a:schemeClr val="dk1"/>
              </a:solidFill>
              <a:latin typeface="Calibri"/>
              <a:ea typeface="Calibri"/>
              <a:cs typeface="Calibri"/>
              <a:sym typeface="Calibri"/>
            </a:endParaRPr>
          </a:p>
        </p:txBody>
      </p:sp>
      <p:sp>
        <p:nvSpPr>
          <p:cNvPr id="40" name="Google Shape;40;p2"/>
          <p:cNvSpPr/>
          <p:nvPr/>
        </p:nvSpPr>
        <p:spPr>
          <a:xfrm>
            <a:off x="960120" y="2606040"/>
            <a:ext cx="3337560" cy="5943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4748B"/>
              </a:buClr>
              <a:buSzPts val="1000"/>
              <a:buFont typeface="Calibri"/>
              <a:buNone/>
            </a:pPr>
            <a:r>
              <a:rPr lang="en-US" sz="1000" dirty="0">
                <a:solidFill>
                  <a:srgbClr val="64748B"/>
                </a:solidFill>
                <a:latin typeface="Calibri"/>
                <a:ea typeface="Calibri"/>
                <a:cs typeface="Calibri"/>
                <a:sym typeface="Calibri"/>
              </a:rPr>
              <a:t>Cost, Performance, Management, Features, Security</a:t>
            </a:r>
            <a:endParaRPr sz="1000" dirty="0">
              <a:solidFill>
                <a:schemeClr val="dk1"/>
              </a:solidFill>
              <a:latin typeface="Calibri"/>
              <a:ea typeface="Calibri"/>
              <a:cs typeface="Calibri"/>
              <a:sym typeface="Calibri"/>
            </a:endParaRPr>
          </a:p>
        </p:txBody>
      </p:sp>
      <p:sp>
        <p:nvSpPr>
          <p:cNvPr id="41" name="Google Shape;41;p2"/>
          <p:cNvSpPr/>
          <p:nvPr/>
        </p:nvSpPr>
        <p:spPr>
          <a:xfrm>
            <a:off x="4754880" y="2194560"/>
            <a:ext cx="4023360" cy="1097280"/>
          </a:xfrm>
          <a:prstGeom prst="rect">
            <a:avLst/>
          </a:prstGeom>
          <a:solidFill>
            <a:srgbClr val="FFFFFF"/>
          </a:solidFill>
          <a:ln w="12700" cap="flat" cmpd="sng">
            <a:solidFill>
              <a:srgbClr val="E2E8F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42" name="Google Shape;42;p2"/>
          <p:cNvSpPr/>
          <p:nvPr/>
        </p:nvSpPr>
        <p:spPr>
          <a:xfrm>
            <a:off x="4754880" y="2194560"/>
            <a:ext cx="502920" cy="1097280"/>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43" name="Google Shape;43;p2"/>
          <p:cNvSpPr/>
          <p:nvPr/>
        </p:nvSpPr>
        <p:spPr>
          <a:xfrm>
            <a:off x="4754880" y="2194560"/>
            <a:ext cx="502920" cy="10972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libri"/>
              <a:buNone/>
            </a:pPr>
            <a:r>
              <a:rPr lang="en-US" sz="1600" b="1" dirty="0">
                <a:solidFill>
                  <a:srgbClr val="FFFFFF"/>
                </a:solidFill>
                <a:latin typeface="Calibri"/>
                <a:ea typeface="Calibri"/>
                <a:cs typeface="Calibri"/>
                <a:sym typeface="Calibri"/>
              </a:rPr>
              <a:t>04</a:t>
            </a:r>
            <a:endParaRPr sz="1600" dirty="0">
              <a:solidFill>
                <a:schemeClr val="dk1"/>
              </a:solidFill>
              <a:latin typeface="Calibri"/>
              <a:ea typeface="Calibri"/>
              <a:cs typeface="Calibri"/>
              <a:sym typeface="Calibri"/>
            </a:endParaRPr>
          </a:p>
        </p:txBody>
      </p:sp>
      <p:sp>
        <p:nvSpPr>
          <p:cNvPr id="44" name="Google Shape;44;p2"/>
          <p:cNvSpPr/>
          <p:nvPr/>
        </p:nvSpPr>
        <p:spPr>
          <a:xfrm>
            <a:off x="5349240" y="2286000"/>
            <a:ext cx="333756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2B4A"/>
              </a:buClr>
              <a:buSzPts val="1200"/>
              <a:buFont typeface="Calibri"/>
              <a:buNone/>
            </a:pPr>
            <a:r>
              <a:rPr lang="en-US" sz="1200" b="1" dirty="0">
                <a:solidFill>
                  <a:srgbClr val="1A2B4A"/>
                </a:solidFill>
                <a:latin typeface="Calibri"/>
                <a:ea typeface="Calibri"/>
                <a:cs typeface="Calibri"/>
                <a:sym typeface="Calibri"/>
              </a:rPr>
              <a:t>Detailed Comparison</a:t>
            </a:r>
            <a:endParaRPr sz="1200" dirty="0">
              <a:solidFill>
                <a:schemeClr val="dk1"/>
              </a:solidFill>
              <a:latin typeface="Calibri"/>
              <a:ea typeface="Calibri"/>
              <a:cs typeface="Calibri"/>
              <a:sym typeface="Calibri"/>
            </a:endParaRPr>
          </a:p>
        </p:txBody>
      </p:sp>
      <p:sp>
        <p:nvSpPr>
          <p:cNvPr id="45" name="Google Shape;45;p2"/>
          <p:cNvSpPr/>
          <p:nvPr/>
        </p:nvSpPr>
        <p:spPr>
          <a:xfrm>
            <a:off x="5349240" y="2606040"/>
            <a:ext cx="3337560" cy="5943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4748B"/>
              </a:buClr>
              <a:buSzPts val="1000"/>
              <a:buFont typeface="Calibri"/>
              <a:buNone/>
            </a:pPr>
            <a:r>
              <a:rPr lang="en-US" sz="1000" dirty="0">
                <a:solidFill>
                  <a:srgbClr val="64748B"/>
                </a:solidFill>
                <a:latin typeface="Calibri"/>
                <a:ea typeface="Calibri"/>
                <a:cs typeface="Calibri"/>
                <a:sym typeface="Calibri"/>
              </a:rPr>
              <a:t>Side-by-side analysis across all criteria</a:t>
            </a:r>
            <a:endParaRPr sz="1000" dirty="0">
              <a:solidFill>
                <a:schemeClr val="dk1"/>
              </a:solidFill>
              <a:latin typeface="Calibri"/>
              <a:ea typeface="Calibri"/>
              <a:cs typeface="Calibri"/>
              <a:sym typeface="Calibri"/>
            </a:endParaRPr>
          </a:p>
        </p:txBody>
      </p:sp>
      <p:sp>
        <p:nvSpPr>
          <p:cNvPr id="46" name="Google Shape;46;p2"/>
          <p:cNvSpPr/>
          <p:nvPr/>
        </p:nvSpPr>
        <p:spPr>
          <a:xfrm>
            <a:off x="365760" y="3474720"/>
            <a:ext cx="4023360" cy="1097280"/>
          </a:xfrm>
          <a:prstGeom prst="rect">
            <a:avLst/>
          </a:prstGeom>
          <a:solidFill>
            <a:srgbClr val="FFFFFF"/>
          </a:solidFill>
          <a:ln w="12700" cap="flat" cmpd="sng">
            <a:solidFill>
              <a:srgbClr val="E2E8F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47" name="Google Shape;47;p2"/>
          <p:cNvSpPr/>
          <p:nvPr/>
        </p:nvSpPr>
        <p:spPr>
          <a:xfrm>
            <a:off x="365760" y="3474720"/>
            <a:ext cx="502920" cy="1097280"/>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48" name="Google Shape;48;p2"/>
          <p:cNvSpPr/>
          <p:nvPr/>
        </p:nvSpPr>
        <p:spPr>
          <a:xfrm>
            <a:off x="365760" y="3474720"/>
            <a:ext cx="502920" cy="10972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libri"/>
              <a:buNone/>
            </a:pPr>
            <a:r>
              <a:rPr lang="en-US" sz="1600" b="1" dirty="0">
                <a:solidFill>
                  <a:srgbClr val="FFFFFF"/>
                </a:solidFill>
                <a:latin typeface="Calibri"/>
                <a:ea typeface="Calibri"/>
                <a:cs typeface="Calibri"/>
                <a:sym typeface="Calibri"/>
              </a:rPr>
              <a:t>05</a:t>
            </a:r>
            <a:endParaRPr sz="1600" dirty="0">
              <a:solidFill>
                <a:schemeClr val="dk1"/>
              </a:solidFill>
              <a:latin typeface="Calibri"/>
              <a:ea typeface="Calibri"/>
              <a:cs typeface="Calibri"/>
              <a:sym typeface="Calibri"/>
            </a:endParaRPr>
          </a:p>
        </p:txBody>
      </p:sp>
      <p:sp>
        <p:nvSpPr>
          <p:cNvPr id="49" name="Google Shape;49;p2"/>
          <p:cNvSpPr/>
          <p:nvPr/>
        </p:nvSpPr>
        <p:spPr>
          <a:xfrm>
            <a:off x="960120" y="3566160"/>
            <a:ext cx="333756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2B4A"/>
              </a:buClr>
              <a:buSzPts val="1200"/>
              <a:buFont typeface="Calibri"/>
              <a:buNone/>
            </a:pPr>
            <a:r>
              <a:rPr lang="en-US" sz="1200" b="1" dirty="0">
                <a:solidFill>
                  <a:srgbClr val="1A2B4A"/>
                </a:solidFill>
                <a:latin typeface="Calibri"/>
                <a:ea typeface="Calibri"/>
                <a:cs typeface="Calibri"/>
                <a:sym typeface="Calibri"/>
              </a:rPr>
              <a:t>Our Recommendation</a:t>
            </a:r>
            <a:endParaRPr sz="1200" dirty="0">
              <a:solidFill>
                <a:schemeClr val="dk1"/>
              </a:solidFill>
              <a:latin typeface="Calibri"/>
              <a:ea typeface="Calibri"/>
              <a:cs typeface="Calibri"/>
              <a:sym typeface="Calibri"/>
            </a:endParaRPr>
          </a:p>
        </p:txBody>
      </p:sp>
      <p:sp>
        <p:nvSpPr>
          <p:cNvPr id="50" name="Google Shape;50;p2"/>
          <p:cNvSpPr/>
          <p:nvPr/>
        </p:nvSpPr>
        <p:spPr>
          <a:xfrm>
            <a:off x="960120" y="3886200"/>
            <a:ext cx="3337560" cy="5943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4748B"/>
              </a:buClr>
              <a:buSzPts val="1000"/>
              <a:buFont typeface="Calibri"/>
              <a:buNone/>
            </a:pPr>
            <a:r>
              <a:rPr lang="en-US" sz="1000" dirty="0">
                <a:solidFill>
                  <a:srgbClr val="64748B"/>
                </a:solidFill>
                <a:latin typeface="Calibri"/>
                <a:ea typeface="Calibri"/>
                <a:cs typeface="Calibri"/>
                <a:sym typeface="Calibri"/>
              </a:rPr>
              <a:t>Proxmox VE — and why it wins for SMB</a:t>
            </a:r>
            <a:endParaRPr sz="1000" dirty="0">
              <a:solidFill>
                <a:schemeClr val="dk1"/>
              </a:solidFill>
              <a:latin typeface="Calibri"/>
              <a:ea typeface="Calibri"/>
              <a:cs typeface="Calibri"/>
              <a:sym typeface="Calibri"/>
            </a:endParaRPr>
          </a:p>
        </p:txBody>
      </p:sp>
      <p:sp>
        <p:nvSpPr>
          <p:cNvPr id="51" name="Google Shape;51;p2"/>
          <p:cNvSpPr/>
          <p:nvPr/>
        </p:nvSpPr>
        <p:spPr>
          <a:xfrm>
            <a:off x="4754880" y="3474720"/>
            <a:ext cx="4023360" cy="1097280"/>
          </a:xfrm>
          <a:prstGeom prst="rect">
            <a:avLst/>
          </a:prstGeom>
          <a:solidFill>
            <a:srgbClr val="FFFFFF"/>
          </a:solidFill>
          <a:ln w="12700" cap="flat" cmpd="sng">
            <a:solidFill>
              <a:srgbClr val="E2E8F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52" name="Google Shape;52;p2"/>
          <p:cNvSpPr/>
          <p:nvPr/>
        </p:nvSpPr>
        <p:spPr>
          <a:xfrm>
            <a:off x="4754880" y="3474720"/>
            <a:ext cx="502920" cy="1097280"/>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53" name="Google Shape;53;p2"/>
          <p:cNvSpPr/>
          <p:nvPr/>
        </p:nvSpPr>
        <p:spPr>
          <a:xfrm>
            <a:off x="4754880" y="3474720"/>
            <a:ext cx="502920" cy="10972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libri"/>
              <a:buNone/>
            </a:pPr>
            <a:r>
              <a:rPr lang="en-US" sz="1600" b="1" dirty="0">
                <a:solidFill>
                  <a:srgbClr val="FFFFFF"/>
                </a:solidFill>
                <a:latin typeface="Calibri"/>
                <a:ea typeface="Calibri"/>
                <a:cs typeface="Calibri"/>
                <a:sym typeface="Calibri"/>
              </a:rPr>
              <a:t>06</a:t>
            </a:r>
            <a:endParaRPr sz="1600" dirty="0">
              <a:solidFill>
                <a:schemeClr val="dk1"/>
              </a:solidFill>
              <a:latin typeface="Calibri"/>
              <a:ea typeface="Calibri"/>
              <a:cs typeface="Calibri"/>
              <a:sym typeface="Calibri"/>
            </a:endParaRPr>
          </a:p>
        </p:txBody>
      </p:sp>
      <p:sp>
        <p:nvSpPr>
          <p:cNvPr id="54" name="Google Shape;54;p2"/>
          <p:cNvSpPr/>
          <p:nvPr/>
        </p:nvSpPr>
        <p:spPr>
          <a:xfrm>
            <a:off x="5349240" y="3566160"/>
            <a:ext cx="333756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2B4A"/>
              </a:buClr>
              <a:buSzPts val="1200"/>
              <a:buFont typeface="Calibri"/>
              <a:buNone/>
            </a:pPr>
            <a:r>
              <a:rPr lang="en-US" sz="1200" b="1" dirty="0">
                <a:solidFill>
                  <a:srgbClr val="1A2B4A"/>
                </a:solidFill>
                <a:latin typeface="Calibri"/>
                <a:ea typeface="Calibri"/>
                <a:cs typeface="Calibri"/>
                <a:sym typeface="Calibri"/>
              </a:rPr>
              <a:t>Architecture Design</a:t>
            </a:r>
            <a:endParaRPr sz="1200" dirty="0">
              <a:solidFill>
                <a:schemeClr val="dk1"/>
              </a:solidFill>
              <a:latin typeface="Calibri"/>
              <a:ea typeface="Calibri"/>
              <a:cs typeface="Calibri"/>
              <a:sym typeface="Calibri"/>
            </a:endParaRPr>
          </a:p>
        </p:txBody>
      </p:sp>
      <p:sp>
        <p:nvSpPr>
          <p:cNvPr id="55" name="Google Shape;55;p2"/>
          <p:cNvSpPr/>
          <p:nvPr/>
        </p:nvSpPr>
        <p:spPr>
          <a:xfrm>
            <a:off x="5349240" y="3886200"/>
            <a:ext cx="3337560" cy="5943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4748B"/>
              </a:buClr>
              <a:buSzPts val="1000"/>
              <a:buFont typeface="Calibri"/>
              <a:buNone/>
            </a:pPr>
            <a:r>
              <a:rPr lang="en-US" sz="1000" dirty="0">
                <a:solidFill>
                  <a:srgbClr val="64748B"/>
                </a:solidFill>
                <a:latin typeface="Calibri"/>
                <a:ea typeface="Calibri"/>
                <a:cs typeface="Calibri"/>
                <a:sym typeface="Calibri"/>
              </a:rPr>
              <a:t>Proposed virtualization setup for the company</a:t>
            </a:r>
            <a:endParaRPr sz="1000" dirty="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3"/>
          <p:cNvSpPr/>
          <p:nvPr/>
        </p:nvSpPr>
        <p:spPr>
          <a:xfrm>
            <a:off x="0" y="0"/>
            <a:ext cx="9144000" cy="685800"/>
          </a:xfrm>
          <a:prstGeom prst="rect">
            <a:avLst/>
          </a:prstGeom>
          <a:solidFill>
            <a:srgbClr val="1A2B4A"/>
          </a:solidFill>
          <a:ln w="12700" cap="flat" cmpd="sng">
            <a:solidFill>
              <a:srgbClr val="1A2B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62" name="Google Shape;62;p3"/>
          <p:cNvSpPr/>
          <p:nvPr/>
        </p:nvSpPr>
        <p:spPr>
          <a:xfrm>
            <a:off x="365760" y="0"/>
            <a:ext cx="8412480" cy="6858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2200"/>
              <a:buFont typeface="Calibri"/>
              <a:buNone/>
            </a:pPr>
            <a:r>
              <a:rPr lang="en-US" sz="2200" b="1" dirty="0">
                <a:solidFill>
                  <a:srgbClr val="FFFFFF"/>
                </a:solidFill>
                <a:latin typeface="Calibri"/>
                <a:ea typeface="Calibri"/>
                <a:cs typeface="Calibri"/>
                <a:sym typeface="Calibri"/>
              </a:rPr>
              <a:t>SMB Scenario Overview</a:t>
            </a:r>
            <a:endParaRPr sz="2200" dirty="0">
              <a:solidFill>
                <a:schemeClr val="dk1"/>
              </a:solidFill>
              <a:latin typeface="Calibri"/>
              <a:ea typeface="Calibri"/>
              <a:cs typeface="Calibri"/>
              <a:sym typeface="Calibri"/>
            </a:endParaRPr>
          </a:p>
        </p:txBody>
      </p:sp>
      <p:sp>
        <p:nvSpPr>
          <p:cNvPr id="63" name="Google Shape;63;p3"/>
          <p:cNvSpPr/>
          <p:nvPr/>
        </p:nvSpPr>
        <p:spPr>
          <a:xfrm>
            <a:off x="365760" y="868680"/>
            <a:ext cx="8412480" cy="1188720"/>
          </a:xfrm>
          <a:prstGeom prst="rect">
            <a:avLst/>
          </a:prstGeom>
          <a:solidFill>
            <a:srgbClr val="1A2B4A"/>
          </a:solidFill>
          <a:ln w="12700" cap="flat" cmpd="sng">
            <a:solidFill>
              <a:srgbClr val="1A2B4A"/>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64" name="Google Shape;64;p3"/>
          <p:cNvSpPr/>
          <p:nvPr/>
        </p:nvSpPr>
        <p:spPr>
          <a:xfrm>
            <a:off x="640080" y="914400"/>
            <a:ext cx="274320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4B8A6"/>
              </a:buClr>
              <a:buSzPts val="1300"/>
              <a:buFont typeface="Calibri"/>
              <a:buNone/>
            </a:pPr>
            <a:r>
              <a:rPr lang="en-US" sz="1300" b="1" dirty="0">
                <a:solidFill>
                  <a:srgbClr val="14B8A6"/>
                </a:solidFill>
                <a:latin typeface="Calibri"/>
                <a:ea typeface="Calibri"/>
                <a:cs typeface="Calibri"/>
                <a:sym typeface="Calibri"/>
              </a:rPr>
              <a:t>The Company</a:t>
            </a:r>
            <a:endParaRPr sz="1300" dirty="0">
              <a:solidFill>
                <a:schemeClr val="dk1"/>
              </a:solidFill>
              <a:latin typeface="Calibri"/>
              <a:ea typeface="Calibri"/>
              <a:cs typeface="Calibri"/>
              <a:sym typeface="Calibri"/>
            </a:endParaRPr>
          </a:p>
        </p:txBody>
      </p:sp>
      <p:sp>
        <p:nvSpPr>
          <p:cNvPr id="65" name="Google Shape;65;p3"/>
          <p:cNvSpPr/>
          <p:nvPr/>
        </p:nvSpPr>
        <p:spPr>
          <a:xfrm>
            <a:off x="640080" y="1234440"/>
            <a:ext cx="7863840" cy="6858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200"/>
              <a:buFont typeface="Calibri"/>
              <a:buNone/>
            </a:pPr>
            <a:r>
              <a:rPr lang="en-US" sz="1200" dirty="0">
                <a:solidFill>
                  <a:srgbClr val="FFFFFF"/>
                </a:solidFill>
                <a:latin typeface="Calibri"/>
                <a:ea typeface="Calibri"/>
                <a:cs typeface="Calibri"/>
                <a:sym typeface="Calibri"/>
              </a:rPr>
              <a:t>A small business planning to virtualize its on-premise IT infrastructure to reduce hardware costs, simplify management, and improve reliability.</a:t>
            </a:r>
            <a:endParaRPr sz="1200" dirty="0">
              <a:solidFill>
                <a:schemeClr val="dk1"/>
              </a:solidFill>
              <a:latin typeface="Calibri"/>
              <a:ea typeface="Calibri"/>
              <a:cs typeface="Calibri"/>
              <a:sym typeface="Calibri"/>
            </a:endParaRPr>
          </a:p>
        </p:txBody>
      </p:sp>
      <p:sp>
        <p:nvSpPr>
          <p:cNvPr id="66" name="Google Shape;66;p3"/>
          <p:cNvSpPr/>
          <p:nvPr/>
        </p:nvSpPr>
        <p:spPr>
          <a:xfrm>
            <a:off x="365760" y="2286000"/>
            <a:ext cx="2651760" cy="2468880"/>
          </a:xfrm>
          <a:prstGeom prst="rect">
            <a:avLst/>
          </a:prstGeom>
          <a:solidFill>
            <a:srgbClr val="FFFFFF"/>
          </a:solidFill>
          <a:ln w="12700" cap="flat" cmpd="sng">
            <a:solidFill>
              <a:srgbClr val="E2E8F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67" name="Google Shape;67;p3"/>
          <p:cNvSpPr/>
          <p:nvPr/>
        </p:nvSpPr>
        <p:spPr>
          <a:xfrm>
            <a:off x="365760" y="2286000"/>
            <a:ext cx="2651760" cy="54864"/>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68" name="Google Shape;68;p3"/>
          <p:cNvSpPr/>
          <p:nvPr/>
        </p:nvSpPr>
        <p:spPr>
          <a:xfrm>
            <a:off x="502920" y="2423160"/>
            <a:ext cx="237744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2B4A"/>
              </a:buClr>
              <a:buSzPts val="1300"/>
              <a:buFont typeface="Calibri"/>
              <a:buNone/>
            </a:pPr>
            <a:r>
              <a:rPr lang="en-US" sz="1300" b="1" dirty="0">
                <a:solidFill>
                  <a:srgbClr val="1A2B4A"/>
                </a:solidFill>
                <a:latin typeface="Calibri"/>
                <a:ea typeface="Calibri"/>
                <a:cs typeface="Calibri"/>
                <a:sym typeface="Calibri"/>
              </a:rPr>
              <a:t>3 Physical Servers</a:t>
            </a:r>
            <a:endParaRPr sz="1300" dirty="0">
              <a:solidFill>
                <a:schemeClr val="dk1"/>
              </a:solidFill>
              <a:latin typeface="Calibri"/>
              <a:ea typeface="Calibri"/>
              <a:cs typeface="Calibri"/>
              <a:sym typeface="Calibri"/>
            </a:endParaRPr>
          </a:p>
        </p:txBody>
      </p:sp>
      <p:sp>
        <p:nvSpPr>
          <p:cNvPr id="69" name="Google Shape;69;p3"/>
          <p:cNvSpPr/>
          <p:nvPr/>
        </p:nvSpPr>
        <p:spPr>
          <a:xfrm>
            <a:off x="502920" y="2926080"/>
            <a:ext cx="2377440" cy="16459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4748B"/>
              </a:buClr>
              <a:buSzPts val="1100"/>
              <a:buFont typeface="Calibri"/>
              <a:buNone/>
            </a:pPr>
            <a:r>
              <a:rPr lang="en-US" sz="1100" dirty="0">
                <a:solidFill>
                  <a:srgbClr val="64748B"/>
                </a:solidFill>
                <a:latin typeface="Calibri"/>
                <a:ea typeface="Calibri"/>
                <a:cs typeface="Calibri"/>
                <a:sym typeface="Calibri"/>
              </a:rPr>
              <a:t>Modest server footprint — cost per server matters</a:t>
            </a:r>
            <a:endParaRPr sz="1100" dirty="0">
              <a:solidFill>
                <a:schemeClr val="dk1"/>
              </a:solidFill>
              <a:latin typeface="Calibri"/>
              <a:ea typeface="Calibri"/>
              <a:cs typeface="Calibri"/>
              <a:sym typeface="Calibri"/>
            </a:endParaRPr>
          </a:p>
        </p:txBody>
      </p:sp>
      <p:sp>
        <p:nvSpPr>
          <p:cNvPr id="70" name="Google Shape;70;p3"/>
          <p:cNvSpPr/>
          <p:nvPr/>
        </p:nvSpPr>
        <p:spPr>
          <a:xfrm>
            <a:off x="3291840" y="2286000"/>
            <a:ext cx="2651760" cy="2468880"/>
          </a:xfrm>
          <a:prstGeom prst="rect">
            <a:avLst/>
          </a:prstGeom>
          <a:solidFill>
            <a:srgbClr val="FFFFFF"/>
          </a:solidFill>
          <a:ln w="12700" cap="flat" cmpd="sng">
            <a:solidFill>
              <a:srgbClr val="E2E8F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71" name="Google Shape;71;p3"/>
          <p:cNvSpPr/>
          <p:nvPr/>
        </p:nvSpPr>
        <p:spPr>
          <a:xfrm>
            <a:off x="3291840" y="2286000"/>
            <a:ext cx="2651760" cy="54864"/>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72" name="Google Shape;72;p3"/>
          <p:cNvSpPr/>
          <p:nvPr/>
        </p:nvSpPr>
        <p:spPr>
          <a:xfrm>
            <a:off x="3429000" y="2423160"/>
            <a:ext cx="237744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2B4A"/>
              </a:buClr>
              <a:buSzPts val="1300"/>
              <a:buFont typeface="Calibri"/>
              <a:buNone/>
            </a:pPr>
            <a:r>
              <a:rPr lang="en-US" sz="1300" b="1" dirty="0">
                <a:solidFill>
                  <a:srgbClr val="1A2B4A"/>
                </a:solidFill>
                <a:latin typeface="Calibri"/>
                <a:ea typeface="Calibri"/>
                <a:cs typeface="Calibri"/>
                <a:sym typeface="Calibri"/>
              </a:rPr>
              <a:t>10 Client Workstations</a:t>
            </a:r>
            <a:endParaRPr sz="1300" dirty="0">
              <a:solidFill>
                <a:schemeClr val="dk1"/>
              </a:solidFill>
              <a:latin typeface="Calibri"/>
              <a:ea typeface="Calibri"/>
              <a:cs typeface="Calibri"/>
              <a:sym typeface="Calibri"/>
            </a:endParaRPr>
          </a:p>
        </p:txBody>
      </p:sp>
      <p:sp>
        <p:nvSpPr>
          <p:cNvPr id="73" name="Google Shape;73;p3"/>
          <p:cNvSpPr/>
          <p:nvPr/>
        </p:nvSpPr>
        <p:spPr>
          <a:xfrm>
            <a:off x="3429000" y="2926080"/>
            <a:ext cx="2377440" cy="16459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4748B"/>
              </a:buClr>
              <a:buSzPts val="1100"/>
              <a:buFont typeface="Calibri"/>
              <a:buNone/>
            </a:pPr>
            <a:r>
              <a:rPr lang="en-US" sz="1100" dirty="0">
                <a:solidFill>
                  <a:srgbClr val="64748B"/>
                </a:solidFill>
                <a:latin typeface="Calibri"/>
                <a:ea typeface="Calibri"/>
                <a:cs typeface="Calibri"/>
                <a:sym typeface="Calibri"/>
              </a:rPr>
              <a:t>Desktop/thin-client virtualization or VDI support</a:t>
            </a:r>
            <a:endParaRPr sz="1100" dirty="0">
              <a:solidFill>
                <a:schemeClr val="dk1"/>
              </a:solidFill>
              <a:latin typeface="Calibri"/>
              <a:ea typeface="Calibri"/>
              <a:cs typeface="Calibri"/>
              <a:sym typeface="Calibri"/>
            </a:endParaRPr>
          </a:p>
        </p:txBody>
      </p:sp>
      <p:sp>
        <p:nvSpPr>
          <p:cNvPr id="74" name="Google Shape;74;p3"/>
          <p:cNvSpPr/>
          <p:nvPr/>
        </p:nvSpPr>
        <p:spPr>
          <a:xfrm>
            <a:off x="6217920" y="2286000"/>
            <a:ext cx="2651760" cy="2468880"/>
          </a:xfrm>
          <a:prstGeom prst="rect">
            <a:avLst/>
          </a:prstGeom>
          <a:solidFill>
            <a:srgbClr val="FFFFFF"/>
          </a:solidFill>
          <a:ln w="12700" cap="flat" cmpd="sng">
            <a:solidFill>
              <a:srgbClr val="E2E8F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75" name="Google Shape;75;p3"/>
          <p:cNvSpPr/>
          <p:nvPr/>
        </p:nvSpPr>
        <p:spPr>
          <a:xfrm>
            <a:off x="6217920" y="2286000"/>
            <a:ext cx="2651760" cy="54864"/>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76" name="Google Shape;76;p3"/>
          <p:cNvSpPr/>
          <p:nvPr/>
        </p:nvSpPr>
        <p:spPr>
          <a:xfrm>
            <a:off x="6355080" y="2423160"/>
            <a:ext cx="237744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2B4A"/>
              </a:buClr>
              <a:buSzPts val="1300"/>
              <a:buFont typeface="Calibri"/>
              <a:buNone/>
            </a:pPr>
            <a:r>
              <a:rPr lang="en-US" sz="1300" b="1" dirty="0">
                <a:solidFill>
                  <a:srgbClr val="1A2B4A"/>
                </a:solidFill>
                <a:latin typeface="Calibri"/>
                <a:ea typeface="Calibri"/>
                <a:cs typeface="Calibri"/>
                <a:sym typeface="Calibri"/>
              </a:rPr>
              <a:t>Budget Conscious</a:t>
            </a:r>
            <a:endParaRPr sz="1300" dirty="0">
              <a:solidFill>
                <a:schemeClr val="dk1"/>
              </a:solidFill>
              <a:latin typeface="Calibri"/>
              <a:ea typeface="Calibri"/>
              <a:cs typeface="Calibri"/>
              <a:sym typeface="Calibri"/>
            </a:endParaRPr>
          </a:p>
        </p:txBody>
      </p:sp>
      <p:sp>
        <p:nvSpPr>
          <p:cNvPr id="77" name="Google Shape;77;p3"/>
          <p:cNvSpPr/>
          <p:nvPr/>
        </p:nvSpPr>
        <p:spPr>
          <a:xfrm>
            <a:off x="6355080" y="2926080"/>
            <a:ext cx="2377440" cy="16459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4748B"/>
              </a:buClr>
              <a:buSzPts val="1100"/>
              <a:buFont typeface="Calibri"/>
              <a:buNone/>
            </a:pPr>
            <a:r>
              <a:rPr lang="en-US" sz="1100" dirty="0">
                <a:solidFill>
                  <a:srgbClr val="64748B"/>
                </a:solidFill>
                <a:latin typeface="Calibri"/>
                <a:ea typeface="Calibri"/>
                <a:cs typeface="Calibri"/>
                <a:sym typeface="Calibri"/>
              </a:rPr>
              <a:t>Open-source or low licensing cost preferred</a:t>
            </a:r>
            <a:endParaRPr sz="1100" dirty="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4"/>
          <p:cNvSpPr/>
          <p:nvPr/>
        </p:nvSpPr>
        <p:spPr>
          <a:xfrm>
            <a:off x="0" y="0"/>
            <a:ext cx="9144000" cy="685800"/>
          </a:xfrm>
          <a:prstGeom prst="rect">
            <a:avLst/>
          </a:prstGeom>
          <a:solidFill>
            <a:srgbClr val="1A2B4A"/>
          </a:solidFill>
          <a:ln w="12700" cap="flat" cmpd="sng">
            <a:solidFill>
              <a:srgbClr val="1A2B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84" name="Google Shape;84;p4"/>
          <p:cNvSpPr/>
          <p:nvPr/>
        </p:nvSpPr>
        <p:spPr>
          <a:xfrm>
            <a:off x="365760" y="0"/>
            <a:ext cx="8412480" cy="6858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2200"/>
              <a:buFont typeface="Calibri"/>
              <a:buNone/>
            </a:pPr>
            <a:r>
              <a:rPr lang="en-US" sz="2200" b="1" dirty="0">
                <a:solidFill>
                  <a:srgbClr val="FFFFFF"/>
                </a:solidFill>
                <a:latin typeface="Calibri"/>
                <a:ea typeface="Calibri"/>
                <a:cs typeface="Calibri"/>
                <a:sym typeface="Calibri"/>
              </a:rPr>
              <a:t>The Three Candidates</a:t>
            </a:r>
            <a:endParaRPr sz="2200" dirty="0">
              <a:solidFill>
                <a:schemeClr val="dk1"/>
              </a:solidFill>
              <a:latin typeface="Calibri"/>
              <a:ea typeface="Calibri"/>
              <a:cs typeface="Calibri"/>
              <a:sym typeface="Calibri"/>
            </a:endParaRPr>
          </a:p>
        </p:txBody>
      </p:sp>
      <p:sp>
        <p:nvSpPr>
          <p:cNvPr id="85" name="Google Shape;85;p4"/>
          <p:cNvSpPr/>
          <p:nvPr/>
        </p:nvSpPr>
        <p:spPr>
          <a:xfrm>
            <a:off x="274320" y="822960"/>
            <a:ext cx="2743200" cy="4023360"/>
          </a:xfrm>
          <a:prstGeom prst="rect">
            <a:avLst/>
          </a:prstGeom>
          <a:solidFill>
            <a:srgbClr val="FFFFFF"/>
          </a:solidFill>
          <a:ln w="12700" cap="flat" cmpd="sng">
            <a:solidFill>
              <a:srgbClr val="E2E8F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86" name="Google Shape;86;p4"/>
          <p:cNvSpPr/>
          <p:nvPr/>
        </p:nvSpPr>
        <p:spPr>
          <a:xfrm>
            <a:off x="274320" y="822960"/>
            <a:ext cx="2743200" cy="73152"/>
          </a:xfrm>
          <a:prstGeom prst="rect">
            <a:avLst/>
          </a:prstGeom>
          <a:solidFill>
            <a:srgbClr val="1565C0"/>
          </a:solidFill>
          <a:ln w="12700" cap="flat" cmpd="sng">
            <a:solidFill>
              <a:srgbClr val="1565C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87" name="Google Shape;87;p4"/>
          <p:cNvSpPr/>
          <p:nvPr/>
        </p:nvSpPr>
        <p:spPr>
          <a:xfrm>
            <a:off x="384048" y="932688"/>
            <a:ext cx="2523744" cy="38404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2B4A"/>
              </a:buClr>
              <a:buSzPts val="1300"/>
              <a:buFont typeface="Calibri"/>
              <a:buNone/>
            </a:pPr>
            <a:r>
              <a:rPr lang="en-US" sz="1300" b="1" dirty="0">
                <a:solidFill>
                  <a:srgbClr val="1A2B4A"/>
                </a:solidFill>
                <a:latin typeface="Calibri"/>
                <a:ea typeface="Calibri"/>
                <a:cs typeface="Calibri"/>
                <a:sym typeface="Calibri"/>
              </a:rPr>
              <a:t>VMware vSphere</a:t>
            </a:r>
            <a:endParaRPr sz="1300" dirty="0">
              <a:solidFill>
                <a:schemeClr val="dk1"/>
              </a:solidFill>
              <a:latin typeface="Calibri"/>
              <a:ea typeface="Calibri"/>
              <a:cs typeface="Calibri"/>
              <a:sym typeface="Calibri"/>
            </a:endParaRPr>
          </a:p>
        </p:txBody>
      </p:sp>
      <p:sp>
        <p:nvSpPr>
          <p:cNvPr id="88" name="Google Shape;88;p4"/>
          <p:cNvSpPr/>
          <p:nvPr/>
        </p:nvSpPr>
        <p:spPr>
          <a:xfrm>
            <a:off x="384048" y="1298448"/>
            <a:ext cx="2523744"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4748B"/>
              </a:buClr>
              <a:buSzPts val="900"/>
              <a:buFont typeface="Calibri"/>
              <a:buNone/>
            </a:pPr>
            <a:r>
              <a:rPr lang="en-US" sz="900" dirty="0">
                <a:solidFill>
                  <a:srgbClr val="64748B"/>
                </a:solidFill>
                <a:latin typeface="Calibri"/>
                <a:ea typeface="Calibri"/>
                <a:cs typeface="Calibri"/>
                <a:sym typeface="Calibri"/>
              </a:rPr>
              <a:t>Broadcom (formerly VMware)</a:t>
            </a:r>
            <a:endParaRPr sz="900" dirty="0">
              <a:solidFill>
                <a:schemeClr val="dk1"/>
              </a:solidFill>
              <a:latin typeface="Calibri"/>
              <a:ea typeface="Calibri"/>
              <a:cs typeface="Calibri"/>
              <a:sym typeface="Calibri"/>
            </a:endParaRPr>
          </a:p>
        </p:txBody>
      </p:sp>
      <p:sp>
        <p:nvSpPr>
          <p:cNvPr id="89" name="Google Shape;89;p4"/>
          <p:cNvSpPr/>
          <p:nvPr/>
        </p:nvSpPr>
        <p:spPr>
          <a:xfrm>
            <a:off x="384048" y="1536192"/>
            <a:ext cx="2523744" cy="228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565C0"/>
              </a:buClr>
              <a:buSzPts val="900"/>
              <a:buFont typeface="Calibri"/>
              <a:buNone/>
            </a:pPr>
            <a:r>
              <a:rPr lang="en-US" sz="900" b="1" dirty="0">
                <a:solidFill>
                  <a:srgbClr val="1565C0"/>
                </a:solidFill>
                <a:latin typeface="Calibri"/>
                <a:ea typeface="Calibri"/>
                <a:cs typeface="Calibri"/>
                <a:sym typeface="Calibri"/>
              </a:rPr>
              <a:t>Enterprise Type 1</a:t>
            </a:r>
            <a:endParaRPr sz="900" dirty="0">
              <a:solidFill>
                <a:schemeClr val="dk1"/>
              </a:solidFill>
              <a:latin typeface="Calibri"/>
              <a:ea typeface="Calibri"/>
              <a:cs typeface="Calibri"/>
              <a:sym typeface="Calibri"/>
            </a:endParaRPr>
          </a:p>
        </p:txBody>
      </p:sp>
      <p:sp>
        <p:nvSpPr>
          <p:cNvPr id="90" name="Google Shape;90;p4"/>
          <p:cNvSpPr/>
          <p:nvPr/>
        </p:nvSpPr>
        <p:spPr>
          <a:xfrm>
            <a:off x="384048" y="1828800"/>
            <a:ext cx="2523744" cy="8229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F172A"/>
              </a:buClr>
              <a:buSzPts val="950"/>
              <a:buFont typeface="Calibri"/>
              <a:buNone/>
            </a:pPr>
            <a:r>
              <a:rPr lang="en-US" sz="950" dirty="0">
                <a:solidFill>
                  <a:srgbClr val="0F172A"/>
                </a:solidFill>
                <a:latin typeface="Calibri"/>
                <a:ea typeface="Calibri"/>
                <a:cs typeface="Calibri"/>
                <a:sym typeface="Calibri"/>
              </a:rPr>
              <a:t>Industry-leading enterprise hypervisor with decades of production use. ESXi is the bare-metal hypervisor, managed via vCenter Server.</a:t>
            </a:r>
            <a:endParaRPr sz="950" dirty="0">
              <a:solidFill>
                <a:schemeClr val="dk1"/>
              </a:solidFill>
              <a:latin typeface="Calibri"/>
              <a:ea typeface="Calibri"/>
              <a:cs typeface="Calibri"/>
              <a:sym typeface="Calibri"/>
            </a:endParaRPr>
          </a:p>
        </p:txBody>
      </p:sp>
      <p:sp>
        <p:nvSpPr>
          <p:cNvPr id="91" name="Google Shape;91;p4"/>
          <p:cNvSpPr/>
          <p:nvPr/>
        </p:nvSpPr>
        <p:spPr>
          <a:xfrm>
            <a:off x="384048" y="2724912"/>
            <a:ext cx="2523744" cy="228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6A34A"/>
              </a:buClr>
              <a:buSzPts val="900"/>
              <a:buFont typeface="Calibri"/>
              <a:buNone/>
            </a:pPr>
            <a:r>
              <a:rPr lang="en-US" sz="900" b="1" dirty="0">
                <a:solidFill>
                  <a:srgbClr val="16A34A"/>
                </a:solidFill>
                <a:latin typeface="Calibri"/>
                <a:ea typeface="Calibri"/>
                <a:cs typeface="Calibri"/>
                <a:sym typeface="Calibri"/>
              </a:rPr>
              <a:t>✓ Strengths</a:t>
            </a:r>
            <a:endParaRPr sz="900" dirty="0">
              <a:solidFill>
                <a:schemeClr val="dk1"/>
              </a:solidFill>
              <a:latin typeface="Calibri"/>
              <a:ea typeface="Calibri"/>
              <a:cs typeface="Calibri"/>
              <a:sym typeface="Calibri"/>
            </a:endParaRPr>
          </a:p>
        </p:txBody>
      </p:sp>
      <p:sp>
        <p:nvSpPr>
          <p:cNvPr id="92" name="Google Shape;92;p4"/>
          <p:cNvSpPr/>
          <p:nvPr/>
        </p:nvSpPr>
        <p:spPr>
          <a:xfrm>
            <a:off x="384048" y="2944368"/>
            <a:ext cx="2523744" cy="201168"/>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rgbClr val="0F172A"/>
              </a:buClr>
              <a:buSzPts val="850"/>
              <a:buFont typeface="Calibri"/>
              <a:buChar char="•"/>
            </a:pPr>
            <a:r>
              <a:rPr lang="en-US" sz="850" dirty="0">
                <a:solidFill>
                  <a:srgbClr val="0F172A"/>
                </a:solidFill>
                <a:latin typeface="Calibri"/>
                <a:ea typeface="Calibri"/>
                <a:cs typeface="Calibri"/>
                <a:sym typeface="Calibri"/>
              </a:rPr>
              <a:t>Market leader, massive ecosystem</a:t>
            </a:r>
            <a:endParaRPr sz="850" dirty="0">
              <a:solidFill>
                <a:schemeClr val="dk1"/>
              </a:solidFill>
              <a:latin typeface="Calibri"/>
              <a:ea typeface="Calibri"/>
              <a:cs typeface="Calibri"/>
              <a:sym typeface="Calibri"/>
            </a:endParaRPr>
          </a:p>
        </p:txBody>
      </p:sp>
      <p:sp>
        <p:nvSpPr>
          <p:cNvPr id="93" name="Google Shape;93;p4"/>
          <p:cNvSpPr/>
          <p:nvPr/>
        </p:nvSpPr>
        <p:spPr>
          <a:xfrm>
            <a:off x="384048" y="3145536"/>
            <a:ext cx="2523744" cy="201168"/>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rgbClr val="0F172A"/>
              </a:buClr>
              <a:buSzPts val="850"/>
              <a:buFont typeface="Calibri"/>
              <a:buChar char="•"/>
            </a:pPr>
            <a:r>
              <a:rPr lang="en-US" sz="850" dirty="0">
                <a:solidFill>
                  <a:srgbClr val="0F172A"/>
                </a:solidFill>
                <a:latin typeface="Calibri"/>
                <a:ea typeface="Calibri"/>
                <a:cs typeface="Calibri"/>
                <a:sym typeface="Calibri"/>
              </a:rPr>
              <a:t>vMotion live migration</a:t>
            </a:r>
            <a:endParaRPr sz="850" dirty="0">
              <a:solidFill>
                <a:schemeClr val="dk1"/>
              </a:solidFill>
              <a:latin typeface="Calibri"/>
              <a:ea typeface="Calibri"/>
              <a:cs typeface="Calibri"/>
              <a:sym typeface="Calibri"/>
            </a:endParaRPr>
          </a:p>
        </p:txBody>
      </p:sp>
      <p:sp>
        <p:nvSpPr>
          <p:cNvPr id="94" name="Google Shape;94;p4"/>
          <p:cNvSpPr/>
          <p:nvPr/>
        </p:nvSpPr>
        <p:spPr>
          <a:xfrm>
            <a:off x="384048" y="3346704"/>
            <a:ext cx="2523744" cy="201168"/>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rgbClr val="0F172A"/>
              </a:buClr>
              <a:buSzPts val="850"/>
              <a:buFont typeface="Calibri"/>
              <a:buChar char="•"/>
            </a:pPr>
            <a:r>
              <a:rPr lang="en-US" sz="850" dirty="0">
                <a:solidFill>
                  <a:srgbClr val="0F172A"/>
                </a:solidFill>
                <a:latin typeface="Calibri"/>
                <a:ea typeface="Calibri"/>
                <a:cs typeface="Calibri"/>
                <a:sym typeface="Calibri"/>
              </a:rPr>
              <a:t>vSAN storage, NSX networking</a:t>
            </a:r>
            <a:endParaRPr sz="850" dirty="0">
              <a:solidFill>
                <a:schemeClr val="dk1"/>
              </a:solidFill>
              <a:latin typeface="Calibri"/>
              <a:ea typeface="Calibri"/>
              <a:cs typeface="Calibri"/>
              <a:sym typeface="Calibri"/>
            </a:endParaRPr>
          </a:p>
        </p:txBody>
      </p:sp>
      <p:sp>
        <p:nvSpPr>
          <p:cNvPr id="95" name="Google Shape;95;p4"/>
          <p:cNvSpPr/>
          <p:nvPr/>
        </p:nvSpPr>
        <p:spPr>
          <a:xfrm>
            <a:off x="384048" y="3547872"/>
            <a:ext cx="2523744" cy="201168"/>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rgbClr val="0F172A"/>
              </a:buClr>
              <a:buSzPts val="850"/>
              <a:buFont typeface="Calibri"/>
              <a:buChar char="•"/>
            </a:pPr>
            <a:r>
              <a:rPr lang="en-US" sz="850" dirty="0">
                <a:solidFill>
                  <a:srgbClr val="0F172A"/>
                </a:solidFill>
                <a:latin typeface="Calibri"/>
                <a:ea typeface="Calibri"/>
                <a:cs typeface="Calibri"/>
                <a:sym typeface="Calibri"/>
              </a:rPr>
              <a:t>Excellent vendor support</a:t>
            </a:r>
            <a:endParaRPr sz="850" dirty="0">
              <a:solidFill>
                <a:schemeClr val="dk1"/>
              </a:solidFill>
              <a:latin typeface="Calibri"/>
              <a:ea typeface="Calibri"/>
              <a:cs typeface="Calibri"/>
              <a:sym typeface="Calibri"/>
            </a:endParaRPr>
          </a:p>
        </p:txBody>
      </p:sp>
      <p:sp>
        <p:nvSpPr>
          <p:cNvPr id="96" name="Google Shape;96;p4"/>
          <p:cNvSpPr/>
          <p:nvPr/>
        </p:nvSpPr>
        <p:spPr>
          <a:xfrm>
            <a:off x="3200400" y="822960"/>
            <a:ext cx="2743200" cy="4023360"/>
          </a:xfrm>
          <a:prstGeom prst="rect">
            <a:avLst/>
          </a:prstGeom>
          <a:solidFill>
            <a:srgbClr val="FFFFFF"/>
          </a:solidFill>
          <a:ln w="12700" cap="flat" cmpd="sng">
            <a:solidFill>
              <a:srgbClr val="E2E8F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97" name="Google Shape;97;p4"/>
          <p:cNvSpPr/>
          <p:nvPr/>
        </p:nvSpPr>
        <p:spPr>
          <a:xfrm>
            <a:off x="3200400" y="822960"/>
            <a:ext cx="2743200" cy="73152"/>
          </a:xfrm>
          <a:prstGeom prst="rect">
            <a:avLst/>
          </a:prstGeom>
          <a:solidFill>
            <a:srgbClr val="0078D4"/>
          </a:solidFill>
          <a:ln w="12700" cap="flat" cmpd="sng">
            <a:solidFill>
              <a:srgbClr val="0078D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98" name="Google Shape;98;p4"/>
          <p:cNvSpPr/>
          <p:nvPr/>
        </p:nvSpPr>
        <p:spPr>
          <a:xfrm>
            <a:off x="3310128" y="932688"/>
            <a:ext cx="2523744" cy="38404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2B4A"/>
              </a:buClr>
              <a:buSzPts val="1300"/>
              <a:buFont typeface="Calibri"/>
              <a:buNone/>
            </a:pPr>
            <a:r>
              <a:rPr lang="en-US" sz="1300" b="1" dirty="0">
                <a:solidFill>
                  <a:srgbClr val="1A2B4A"/>
                </a:solidFill>
                <a:latin typeface="Calibri"/>
                <a:ea typeface="Calibri"/>
                <a:cs typeface="Calibri"/>
                <a:sym typeface="Calibri"/>
              </a:rPr>
              <a:t>Microsoft Hyper-V</a:t>
            </a:r>
            <a:endParaRPr sz="1300" dirty="0">
              <a:solidFill>
                <a:schemeClr val="dk1"/>
              </a:solidFill>
              <a:latin typeface="Calibri"/>
              <a:ea typeface="Calibri"/>
              <a:cs typeface="Calibri"/>
              <a:sym typeface="Calibri"/>
            </a:endParaRPr>
          </a:p>
        </p:txBody>
      </p:sp>
      <p:sp>
        <p:nvSpPr>
          <p:cNvPr id="99" name="Google Shape;99;p4"/>
          <p:cNvSpPr/>
          <p:nvPr/>
        </p:nvSpPr>
        <p:spPr>
          <a:xfrm>
            <a:off x="3310128" y="1298448"/>
            <a:ext cx="2523744"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4748B"/>
              </a:buClr>
              <a:buSzPts val="900"/>
              <a:buFont typeface="Calibri"/>
              <a:buNone/>
            </a:pPr>
            <a:r>
              <a:rPr lang="en-US" sz="900" dirty="0">
                <a:solidFill>
                  <a:srgbClr val="64748B"/>
                </a:solidFill>
                <a:latin typeface="Calibri"/>
                <a:ea typeface="Calibri"/>
                <a:cs typeface="Calibri"/>
                <a:sym typeface="Calibri"/>
              </a:rPr>
              <a:t>Microsoft</a:t>
            </a:r>
            <a:endParaRPr sz="900" dirty="0">
              <a:solidFill>
                <a:schemeClr val="dk1"/>
              </a:solidFill>
              <a:latin typeface="Calibri"/>
              <a:ea typeface="Calibri"/>
              <a:cs typeface="Calibri"/>
              <a:sym typeface="Calibri"/>
            </a:endParaRPr>
          </a:p>
        </p:txBody>
      </p:sp>
      <p:sp>
        <p:nvSpPr>
          <p:cNvPr id="100" name="Google Shape;100;p4"/>
          <p:cNvSpPr/>
          <p:nvPr/>
        </p:nvSpPr>
        <p:spPr>
          <a:xfrm>
            <a:off x="3310128" y="1536192"/>
            <a:ext cx="2523744" cy="228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78D4"/>
              </a:buClr>
              <a:buSzPts val="900"/>
              <a:buFont typeface="Calibri"/>
              <a:buNone/>
            </a:pPr>
            <a:r>
              <a:rPr lang="en-US" sz="900" b="1" dirty="0">
                <a:solidFill>
                  <a:srgbClr val="0078D4"/>
                </a:solidFill>
                <a:latin typeface="Calibri"/>
                <a:ea typeface="Calibri"/>
                <a:cs typeface="Calibri"/>
                <a:sym typeface="Calibri"/>
              </a:rPr>
              <a:t>Type 1 (built into Windows Server)</a:t>
            </a:r>
            <a:endParaRPr sz="900" dirty="0">
              <a:solidFill>
                <a:schemeClr val="dk1"/>
              </a:solidFill>
              <a:latin typeface="Calibri"/>
              <a:ea typeface="Calibri"/>
              <a:cs typeface="Calibri"/>
              <a:sym typeface="Calibri"/>
            </a:endParaRPr>
          </a:p>
        </p:txBody>
      </p:sp>
      <p:sp>
        <p:nvSpPr>
          <p:cNvPr id="101" name="Google Shape;101;p4"/>
          <p:cNvSpPr/>
          <p:nvPr/>
        </p:nvSpPr>
        <p:spPr>
          <a:xfrm>
            <a:off x="3310128" y="1828800"/>
            <a:ext cx="2523744" cy="8229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F172A"/>
              </a:buClr>
              <a:buSzPts val="950"/>
              <a:buFont typeface="Calibri"/>
              <a:buNone/>
            </a:pPr>
            <a:r>
              <a:rPr lang="en-US" sz="950" dirty="0">
                <a:solidFill>
                  <a:srgbClr val="0F172A"/>
                </a:solidFill>
                <a:latin typeface="Calibri"/>
                <a:ea typeface="Calibri"/>
                <a:cs typeface="Calibri"/>
                <a:sym typeface="Calibri"/>
              </a:rPr>
              <a:t>Built into Windows Server 2019/2022/2025. A solid choice for Windows-heavy environments with tight Microsoft integration.</a:t>
            </a:r>
            <a:endParaRPr sz="950" dirty="0">
              <a:solidFill>
                <a:schemeClr val="dk1"/>
              </a:solidFill>
              <a:latin typeface="Calibri"/>
              <a:ea typeface="Calibri"/>
              <a:cs typeface="Calibri"/>
              <a:sym typeface="Calibri"/>
            </a:endParaRPr>
          </a:p>
        </p:txBody>
      </p:sp>
      <p:sp>
        <p:nvSpPr>
          <p:cNvPr id="102" name="Google Shape;102;p4"/>
          <p:cNvSpPr/>
          <p:nvPr/>
        </p:nvSpPr>
        <p:spPr>
          <a:xfrm>
            <a:off x="3310128" y="2724912"/>
            <a:ext cx="2523744" cy="228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6A34A"/>
              </a:buClr>
              <a:buSzPts val="900"/>
              <a:buFont typeface="Calibri"/>
              <a:buNone/>
            </a:pPr>
            <a:r>
              <a:rPr lang="en-US" sz="900" b="1" dirty="0">
                <a:solidFill>
                  <a:srgbClr val="16A34A"/>
                </a:solidFill>
                <a:latin typeface="Calibri"/>
                <a:ea typeface="Calibri"/>
                <a:cs typeface="Calibri"/>
                <a:sym typeface="Calibri"/>
              </a:rPr>
              <a:t>✓ Strengths</a:t>
            </a:r>
            <a:endParaRPr sz="900" dirty="0">
              <a:solidFill>
                <a:schemeClr val="dk1"/>
              </a:solidFill>
              <a:latin typeface="Calibri"/>
              <a:ea typeface="Calibri"/>
              <a:cs typeface="Calibri"/>
              <a:sym typeface="Calibri"/>
            </a:endParaRPr>
          </a:p>
        </p:txBody>
      </p:sp>
      <p:sp>
        <p:nvSpPr>
          <p:cNvPr id="103" name="Google Shape;103;p4"/>
          <p:cNvSpPr/>
          <p:nvPr/>
        </p:nvSpPr>
        <p:spPr>
          <a:xfrm>
            <a:off x="3310128" y="2944368"/>
            <a:ext cx="2523744" cy="201168"/>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rgbClr val="0F172A"/>
              </a:buClr>
              <a:buSzPts val="850"/>
              <a:buFont typeface="Calibri"/>
              <a:buChar char="•"/>
            </a:pPr>
            <a:r>
              <a:rPr lang="en-US" sz="850" dirty="0">
                <a:solidFill>
                  <a:srgbClr val="0F172A"/>
                </a:solidFill>
                <a:latin typeface="Calibri"/>
                <a:ea typeface="Calibri"/>
                <a:cs typeface="Calibri"/>
                <a:sym typeface="Calibri"/>
              </a:rPr>
              <a:t>Included with Windows Server licenses</a:t>
            </a:r>
            <a:endParaRPr sz="850" dirty="0">
              <a:solidFill>
                <a:schemeClr val="dk1"/>
              </a:solidFill>
              <a:latin typeface="Calibri"/>
              <a:ea typeface="Calibri"/>
              <a:cs typeface="Calibri"/>
              <a:sym typeface="Calibri"/>
            </a:endParaRPr>
          </a:p>
        </p:txBody>
      </p:sp>
      <p:sp>
        <p:nvSpPr>
          <p:cNvPr id="104" name="Google Shape;104;p4"/>
          <p:cNvSpPr/>
          <p:nvPr/>
        </p:nvSpPr>
        <p:spPr>
          <a:xfrm>
            <a:off x="3310128" y="3145536"/>
            <a:ext cx="2523744" cy="201168"/>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rgbClr val="0F172A"/>
              </a:buClr>
              <a:buSzPts val="850"/>
              <a:buFont typeface="Calibri"/>
              <a:buChar char="•"/>
            </a:pPr>
            <a:r>
              <a:rPr lang="en-US" sz="850" dirty="0">
                <a:solidFill>
                  <a:srgbClr val="0F172A"/>
                </a:solidFill>
                <a:latin typeface="Calibri"/>
                <a:ea typeface="Calibri"/>
                <a:cs typeface="Calibri"/>
                <a:sym typeface="Calibri"/>
              </a:rPr>
              <a:t>Deep Windows/AD integration</a:t>
            </a:r>
            <a:endParaRPr sz="850" dirty="0">
              <a:solidFill>
                <a:schemeClr val="dk1"/>
              </a:solidFill>
              <a:latin typeface="Calibri"/>
              <a:ea typeface="Calibri"/>
              <a:cs typeface="Calibri"/>
              <a:sym typeface="Calibri"/>
            </a:endParaRPr>
          </a:p>
        </p:txBody>
      </p:sp>
      <p:sp>
        <p:nvSpPr>
          <p:cNvPr id="105" name="Google Shape;105;p4"/>
          <p:cNvSpPr/>
          <p:nvPr/>
        </p:nvSpPr>
        <p:spPr>
          <a:xfrm>
            <a:off x="3310128" y="3346704"/>
            <a:ext cx="2523744" cy="201168"/>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rgbClr val="0F172A"/>
              </a:buClr>
              <a:buSzPts val="850"/>
              <a:buFont typeface="Calibri"/>
              <a:buChar char="•"/>
            </a:pPr>
            <a:r>
              <a:rPr lang="en-US" sz="850" dirty="0">
                <a:solidFill>
                  <a:srgbClr val="0F172A"/>
                </a:solidFill>
                <a:latin typeface="Calibri"/>
                <a:ea typeface="Calibri"/>
                <a:cs typeface="Calibri"/>
                <a:sym typeface="Calibri"/>
              </a:rPr>
              <a:t>Live Migration support</a:t>
            </a:r>
            <a:endParaRPr sz="850" dirty="0">
              <a:solidFill>
                <a:schemeClr val="dk1"/>
              </a:solidFill>
              <a:latin typeface="Calibri"/>
              <a:ea typeface="Calibri"/>
              <a:cs typeface="Calibri"/>
              <a:sym typeface="Calibri"/>
            </a:endParaRPr>
          </a:p>
        </p:txBody>
      </p:sp>
      <p:sp>
        <p:nvSpPr>
          <p:cNvPr id="106" name="Google Shape;106;p4"/>
          <p:cNvSpPr/>
          <p:nvPr/>
        </p:nvSpPr>
        <p:spPr>
          <a:xfrm>
            <a:off x="3310128" y="3547872"/>
            <a:ext cx="2523744" cy="201168"/>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rgbClr val="0F172A"/>
              </a:buClr>
              <a:buSzPts val="850"/>
              <a:buFont typeface="Calibri"/>
              <a:buChar char="•"/>
            </a:pPr>
            <a:r>
              <a:rPr lang="en-US" sz="850" dirty="0">
                <a:solidFill>
                  <a:srgbClr val="0F172A"/>
                </a:solidFill>
                <a:latin typeface="Calibri"/>
                <a:ea typeface="Calibri"/>
                <a:cs typeface="Calibri"/>
                <a:sym typeface="Calibri"/>
              </a:rPr>
              <a:t>Familiar Windows tooling</a:t>
            </a:r>
            <a:endParaRPr sz="850" dirty="0">
              <a:solidFill>
                <a:schemeClr val="dk1"/>
              </a:solidFill>
              <a:latin typeface="Calibri"/>
              <a:ea typeface="Calibri"/>
              <a:cs typeface="Calibri"/>
              <a:sym typeface="Calibri"/>
            </a:endParaRPr>
          </a:p>
        </p:txBody>
      </p:sp>
      <p:sp>
        <p:nvSpPr>
          <p:cNvPr id="107" name="Google Shape;107;p4"/>
          <p:cNvSpPr/>
          <p:nvPr/>
        </p:nvSpPr>
        <p:spPr>
          <a:xfrm>
            <a:off x="6126480" y="822960"/>
            <a:ext cx="2743200" cy="4023360"/>
          </a:xfrm>
          <a:prstGeom prst="rect">
            <a:avLst/>
          </a:prstGeom>
          <a:solidFill>
            <a:srgbClr val="FFFFFF"/>
          </a:solidFill>
          <a:ln w="12700" cap="flat" cmpd="sng">
            <a:solidFill>
              <a:srgbClr val="E2E8F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108" name="Google Shape;108;p4"/>
          <p:cNvSpPr/>
          <p:nvPr/>
        </p:nvSpPr>
        <p:spPr>
          <a:xfrm>
            <a:off x="6126480" y="822960"/>
            <a:ext cx="2743200" cy="73152"/>
          </a:xfrm>
          <a:prstGeom prst="rect">
            <a:avLst/>
          </a:prstGeom>
          <a:solidFill>
            <a:srgbClr val="E57000"/>
          </a:solidFill>
          <a:ln w="12700" cap="flat" cmpd="sng">
            <a:solidFill>
              <a:srgbClr val="E57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109" name="Google Shape;109;p4"/>
          <p:cNvSpPr/>
          <p:nvPr/>
        </p:nvSpPr>
        <p:spPr>
          <a:xfrm>
            <a:off x="6236208" y="932688"/>
            <a:ext cx="2523744" cy="38404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2B4A"/>
              </a:buClr>
              <a:buSzPts val="1300"/>
              <a:buFont typeface="Calibri"/>
              <a:buNone/>
            </a:pPr>
            <a:r>
              <a:rPr lang="en-US" sz="1300" b="1" dirty="0">
                <a:solidFill>
                  <a:srgbClr val="1A2B4A"/>
                </a:solidFill>
                <a:latin typeface="Calibri"/>
                <a:ea typeface="Calibri"/>
                <a:cs typeface="Calibri"/>
                <a:sym typeface="Calibri"/>
              </a:rPr>
              <a:t>Proxmox VE</a:t>
            </a:r>
            <a:endParaRPr sz="1300" dirty="0">
              <a:solidFill>
                <a:schemeClr val="dk1"/>
              </a:solidFill>
              <a:latin typeface="Calibri"/>
              <a:ea typeface="Calibri"/>
              <a:cs typeface="Calibri"/>
              <a:sym typeface="Calibri"/>
            </a:endParaRPr>
          </a:p>
        </p:txBody>
      </p:sp>
      <p:sp>
        <p:nvSpPr>
          <p:cNvPr id="110" name="Google Shape;110;p4"/>
          <p:cNvSpPr/>
          <p:nvPr/>
        </p:nvSpPr>
        <p:spPr>
          <a:xfrm>
            <a:off x="6236208" y="1298448"/>
            <a:ext cx="2523744"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4748B"/>
              </a:buClr>
              <a:buSzPts val="900"/>
              <a:buFont typeface="Calibri"/>
              <a:buNone/>
            </a:pPr>
            <a:r>
              <a:rPr lang="en-US" sz="900" dirty="0">
                <a:solidFill>
                  <a:srgbClr val="64748B"/>
                </a:solidFill>
                <a:latin typeface="Calibri"/>
                <a:ea typeface="Calibri"/>
                <a:cs typeface="Calibri"/>
                <a:sym typeface="Calibri"/>
              </a:rPr>
              <a:t>Proxmox Server Solutions</a:t>
            </a:r>
            <a:endParaRPr sz="900" dirty="0">
              <a:solidFill>
                <a:schemeClr val="dk1"/>
              </a:solidFill>
              <a:latin typeface="Calibri"/>
              <a:ea typeface="Calibri"/>
              <a:cs typeface="Calibri"/>
              <a:sym typeface="Calibri"/>
            </a:endParaRPr>
          </a:p>
        </p:txBody>
      </p:sp>
      <p:sp>
        <p:nvSpPr>
          <p:cNvPr id="111" name="Google Shape;111;p4"/>
          <p:cNvSpPr/>
          <p:nvPr/>
        </p:nvSpPr>
        <p:spPr>
          <a:xfrm>
            <a:off x="6236208" y="1536192"/>
            <a:ext cx="2523744" cy="228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E57000"/>
              </a:buClr>
              <a:buSzPts val="900"/>
              <a:buFont typeface="Calibri"/>
              <a:buNone/>
            </a:pPr>
            <a:r>
              <a:rPr lang="en-US" sz="900" b="1" dirty="0">
                <a:solidFill>
                  <a:srgbClr val="E57000"/>
                </a:solidFill>
                <a:latin typeface="Calibri"/>
                <a:ea typeface="Calibri"/>
                <a:cs typeface="Calibri"/>
                <a:sym typeface="Calibri"/>
              </a:rPr>
              <a:t>Open-Source Type 1</a:t>
            </a:r>
            <a:endParaRPr sz="900" dirty="0">
              <a:solidFill>
                <a:schemeClr val="dk1"/>
              </a:solidFill>
              <a:latin typeface="Calibri"/>
              <a:ea typeface="Calibri"/>
              <a:cs typeface="Calibri"/>
              <a:sym typeface="Calibri"/>
            </a:endParaRPr>
          </a:p>
        </p:txBody>
      </p:sp>
      <p:sp>
        <p:nvSpPr>
          <p:cNvPr id="112" name="Google Shape;112;p4"/>
          <p:cNvSpPr/>
          <p:nvPr/>
        </p:nvSpPr>
        <p:spPr>
          <a:xfrm>
            <a:off x="6236208" y="1828800"/>
            <a:ext cx="2523744" cy="8229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F172A"/>
              </a:buClr>
              <a:buSzPts val="950"/>
              <a:buFont typeface="Calibri"/>
              <a:buNone/>
            </a:pPr>
            <a:r>
              <a:rPr lang="en-US" sz="950" dirty="0">
                <a:solidFill>
                  <a:srgbClr val="0F172A"/>
                </a:solidFill>
                <a:latin typeface="Calibri"/>
                <a:ea typeface="Calibri"/>
                <a:cs typeface="Calibri"/>
                <a:sym typeface="Calibri"/>
              </a:rPr>
              <a:t>Debian-based open-source hypervisor combining KVM (Kernel-based Virtual Machine) and LXC (Linux Containers). Powerful web UI, no per-VM cost.</a:t>
            </a:r>
            <a:endParaRPr sz="950" dirty="0">
              <a:solidFill>
                <a:schemeClr val="dk1"/>
              </a:solidFill>
              <a:latin typeface="Calibri"/>
              <a:ea typeface="Calibri"/>
              <a:cs typeface="Calibri"/>
              <a:sym typeface="Calibri"/>
            </a:endParaRPr>
          </a:p>
        </p:txBody>
      </p:sp>
      <p:sp>
        <p:nvSpPr>
          <p:cNvPr id="113" name="Google Shape;113;p4"/>
          <p:cNvSpPr/>
          <p:nvPr/>
        </p:nvSpPr>
        <p:spPr>
          <a:xfrm>
            <a:off x="6236208" y="2724912"/>
            <a:ext cx="2523744" cy="228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6A34A"/>
              </a:buClr>
              <a:buSzPts val="900"/>
              <a:buFont typeface="Calibri"/>
              <a:buNone/>
            </a:pPr>
            <a:r>
              <a:rPr lang="en-US" sz="900" b="1" dirty="0">
                <a:solidFill>
                  <a:srgbClr val="16A34A"/>
                </a:solidFill>
                <a:latin typeface="Calibri"/>
                <a:ea typeface="Calibri"/>
                <a:cs typeface="Calibri"/>
                <a:sym typeface="Calibri"/>
              </a:rPr>
              <a:t>✓ Strengths</a:t>
            </a:r>
            <a:endParaRPr sz="900" dirty="0">
              <a:solidFill>
                <a:schemeClr val="dk1"/>
              </a:solidFill>
              <a:latin typeface="Calibri"/>
              <a:ea typeface="Calibri"/>
              <a:cs typeface="Calibri"/>
              <a:sym typeface="Calibri"/>
            </a:endParaRPr>
          </a:p>
        </p:txBody>
      </p:sp>
      <p:sp>
        <p:nvSpPr>
          <p:cNvPr id="114" name="Google Shape;114;p4"/>
          <p:cNvSpPr/>
          <p:nvPr/>
        </p:nvSpPr>
        <p:spPr>
          <a:xfrm>
            <a:off x="6236208" y="2944368"/>
            <a:ext cx="2523744" cy="201168"/>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rgbClr val="0F172A"/>
              </a:buClr>
              <a:buSzPts val="850"/>
              <a:buFont typeface="Calibri"/>
              <a:buChar char="•"/>
            </a:pPr>
            <a:r>
              <a:rPr lang="en-US" sz="850" dirty="0">
                <a:solidFill>
                  <a:srgbClr val="0F172A"/>
                </a:solidFill>
                <a:latin typeface="Calibri"/>
                <a:ea typeface="Calibri"/>
                <a:cs typeface="Calibri"/>
                <a:sym typeface="Calibri"/>
              </a:rPr>
              <a:t>100% free &amp; open-source</a:t>
            </a:r>
            <a:endParaRPr sz="850" dirty="0">
              <a:solidFill>
                <a:schemeClr val="dk1"/>
              </a:solidFill>
              <a:latin typeface="Calibri"/>
              <a:ea typeface="Calibri"/>
              <a:cs typeface="Calibri"/>
              <a:sym typeface="Calibri"/>
            </a:endParaRPr>
          </a:p>
        </p:txBody>
      </p:sp>
      <p:sp>
        <p:nvSpPr>
          <p:cNvPr id="115" name="Google Shape;115;p4"/>
          <p:cNvSpPr/>
          <p:nvPr/>
        </p:nvSpPr>
        <p:spPr>
          <a:xfrm>
            <a:off x="6236208" y="3145536"/>
            <a:ext cx="2523744" cy="201168"/>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rgbClr val="0F172A"/>
              </a:buClr>
              <a:buSzPts val="850"/>
              <a:buFont typeface="Calibri"/>
              <a:buChar char="•"/>
            </a:pPr>
            <a:r>
              <a:rPr lang="en-US" sz="850" dirty="0">
                <a:solidFill>
                  <a:srgbClr val="0F172A"/>
                </a:solidFill>
                <a:latin typeface="Calibri"/>
                <a:ea typeface="Calibri"/>
                <a:cs typeface="Calibri"/>
                <a:sym typeface="Calibri"/>
              </a:rPr>
              <a:t>KVM + LXC container support</a:t>
            </a:r>
            <a:endParaRPr sz="850" dirty="0">
              <a:solidFill>
                <a:schemeClr val="dk1"/>
              </a:solidFill>
              <a:latin typeface="Calibri"/>
              <a:ea typeface="Calibri"/>
              <a:cs typeface="Calibri"/>
              <a:sym typeface="Calibri"/>
            </a:endParaRPr>
          </a:p>
        </p:txBody>
      </p:sp>
      <p:sp>
        <p:nvSpPr>
          <p:cNvPr id="116" name="Google Shape;116;p4"/>
          <p:cNvSpPr/>
          <p:nvPr/>
        </p:nvSpPr>
        <p:spPr>
          <a:xfrm>
            <a:off x="6236208" y="3346704"/>
            <a:ext cx="2523744" cy="201168"/>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rgbClr val="0F172A"/>
              </a:buClr>
              <a:buSzPts val="850"/>
              <a:buFont typeface="Calibri"/>
              <a:buChar char="•"/>
            </a:pPr>
            <a:r>
              <a:rPr lang="en-US" sz="850" dirty="0">
                <a:solidFill>
                  <a:srgbClr val="0F172A"/>
                </a:solidFill>
                <a:latin typeface="Calibri"/>
                <a:ea typeface="Calibri"/>
                <a:cs typeface="Calibri"/>
                <a:sym typeface="Calibri"/>
              </a:rPr>
              <a:t>Built-in clustering &amp; HA (High Availability)</a:t>
            </a:r>
            <a:endParaRPr sz="850" dirty="0">
              <a:solidFill>
                <a:schemeClr val="dk1"/>
              </a:solidFill>
              <a:latin typeface="Calibri"/>
              <a:ea typeface="Calibri"/>
              <a:cs typeface="Calibri"/>
              <a:sym typeface="Calibri"/>
            </a:endParaRPr>
          </a:p>
        </p:txBody>
      </p:sp>
      <p:sp>
        <p:nvSpPr>
          <p:cNvPr id="117" name="Google Shape;117;p4"/>
          <p:cNvSpPr/>
          <p:nvPr/>
        </p:nvSpPr>
        <p:spPr>
          <a:xfrm>
            <a:off x="6236208" y="3547872"/>
            <a:ext cx="2523744" cy="201168"/>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rgbClr val="0F172A"/>
              </a:buClr>
              <a:buSzPts val="850"/>
              <a:buFont typeface="Calibri"/>
              <a:buChar char="•"/>
            </a:pPr>
            <a:r>
              <a:rPr lang="en-US" sz="850" dirty="0">
                <a:solidFill>
                  <a:srgbClr val="0F172A"/>
                </a:solidFill>
                <a:latin typeface="Calibri"/>
                <a:ea typeface="Calibri"/>
                <a:cs typeface="Calibri"/>
                <a:sym typeface="Calibri"/>
              </a:rPr>
              <a:t>Web-based management UI</a:t>
            </a:r>
            <a:endParaRPr sz="850" dirty="0">
              <a:solidFill>
                <a:schemeClr val="dk1"/>
              </a:solidFill>
              <a:latin typeface="Calibri"/>
              <a:ea typeface="Calibri"/>
              <a:cs typeface="Calibri"/>
              <a:sym typeface="Calibri"/>
            </a:endParaRPr>
          </a:p>
        </p:txBody>
      </p:sp>
      <p:sp>
        <p:nvSpPr>
          <p:cNvPr id="118" name="Google Shape;118;p4"/>
          <p:cNvSpPr/>
          <p:nvPr/>
        </p:nvSpPr>
        <p:spPr>
          <a:xfrm>
            <a:off x="6236208" y="3749040"/>
            <a:ext cx="2523744" cy="201168"/>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rgbClr val="0F172A"/>
              </a:buClr>
              <a:buSzPts val="850"/>
              <a:buFont typeface="Calibri"/>
              <a:buChar char="•"/>
            </a:pPr>
            <a:r>
              <a:rPr lang="en-US" sz="850" dirty="0">
                <a:solidFill>
                  <a:srgbClr val="0F172A"/>
                </a:solidFill>
                <a:latin typeface="Calibri"/>
                <a:ea typeface="Calibri"/>
                <a:cs typeface="Calibri"/>
                <a:sym typeface="Calibri"/>
              </a:rPr>
              <a:t>Ceph &amp; ZFS storage built-in</a:t>
            </a:r>
            <a:endParaRPr sz="850" dirty="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5"/>
          <p:cNvSpPr/>
          <p:nvPr/>
        </p:nvSpPr>
        <p:spPr>
          <a:xfrm>
            <a:off x="0" y="0"/>
            <a:ext cx="9144000" cy="685800"/>
          </a:xfrm>
          <a:prstGeom prst="rect">
            <a:avLst/>
          </a:prstGeom>
          <a:solidFill>
            <a:srgbClr val="1A2B4A"/>
          </a:solidFill>
          <a:ln w="12700" cap="flat" cmpd="sng">
            <a:solidFill>
              <a:srgbClr val="1A2B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125" name="Google Shape;125;p5"/>
          <p:cNvSpPr/>
          <p:nvPr/>
        </p:nvSpPr>
        <p:spPr>
          <a:xfrm>
            <a:off x="365760" y="0"/>
            <a:ext cx="8412480" cy="6858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2200"/>
              <a:buFont typeface="Calibri"/>
              <a:buNone/>
            </a:pPr>
            <a:r>
              <a:rPr lang="en-US" sz="2200" b="1" dirty="0">
                <a:solidFill>
                  <a:srgbClr val="FFFFFF"/>
                </a:solidFill>
                <a:latin typeface="Calibri"/>
                <a:ea typeface="Calibri"/>
                <a:cs typeface="Calibri"/>
                <a:sym typeface="Calibri"/>
              </a:rPr>
              <a:t>Side-by-Side Comparison</a:t>
            </a:r>
            <a:endParaRPr sz="2200" dirty="0">
              <a:solidFill>
                <a:schemeClr val="dk1"/>
              </a:solidFill>
              <a:latin typeface="Calibri"/>
              <a:ea typeface="Calibri"/>
              <a:cs typeface="Calibri"/>
              <a:sym typeface="Calibri"/>
            </a:endParaRPr>
          </a:p>
        </p:txBody>
      </p:sp>
      <p:graphicFrame>
        <p:nvGraphicFramePr>
          <p:cNvPr id="126" name="Google Shape;126;p5"/>
          <p:cNvGraphicFramePr/>
          <p:nvPr>
            <p:extLst>
              <p:ext uri="{D42A27DB-BD31-4B8C-83A1-F6EECF244321}">
                <p14:modId xmlns:p14="http://schemas.microsoft.com/office/powerpoint/2010/main" val="4051831874"/>
              </p:ext>
            </p:extLst>
          </p:nvPr>
        </p:nvGraphicFramePr>
        <p:xfrm>
          <a:off x="274320" y="804672"/>
          <a:ext cx="8595325" cy="4140700"/>
        </p:xfrm>
        <a:graphic>
          <a:graphicData uri="http://schemas.openxmlformats.org/drawingml/2006/table">
            <a:tbl>
              <a:tblPr>
                <a:noFill/>
                <a:tableStyleId>{F125A0CD-B698-43B7-BC57-1E23A76C2744}</a:tableStyleId>
              </a:tblPr>
              <a:tblGrid>
                <a:gridCol w="2011675">
                  <a:extLst>
                    <a:ext uri="{9D8B030D-6E8A-4147-A177-3AD203B41FA5}">
                      <a16:colId xmlns:a16="http://schemas.microsoft.com/office/drawing/2014/main" val="20000"/>
                    </a:ext>
                  </a:extLst>
                </a:gridCol>
                <a:gridCol w="2194550">
                  <a:extLst>
                    <a:ext uri="{9D8B030D-6E8A-4147-A177-3AD203B41FA5}">
                      <a16:colId xmlns:a16="http://schemas.microsoft.com/office/drawing/2014/main" val="20001"/>
                    </a:ext>
                  </a:extLst>
                </a:gridCol>
                <a:gridCol w="2194550">
                  <a:extLst>
                    <a:ext uri="{9D8B030D-6E8A-4147-A177-3AD203B41FA5}">
                      <a16:colId xmlns:a16="http://schemas.microsoft.com/office/drawing/2014/main" val="20002"/>
                    </a:ext>
                  </a:extLst>
                </a:gridCol>
                <a:gridCol w="2194550">
                  <a:extLst>
                    <a:ext uri="{9D8B030D-6E8A-4147-A177-3AD203B41FA5}">
                      <a16:colId xmlns:a16="http://schemas.microsoft.com/office/drawing/2014/main" val="20003"/>
                    </a:ext>
                  </a:extLst>
                </a:gridCol>
              </a:tblGrid>
              <a:tr h="566925">
                <a:tc>
                  <a:txBody>
                    <a:bodyPr/>
                    <a:lstStyle/>
                    <a:p>
                      <a:pPr marL="0" marR="0" lvl="0" indent="0" algn="l" rtl="0">
                        <a:spcBef>
                          <a:spcPts val="0"/>
                        </a:spcBef>
                        <a:spcAft>
                          <a:spcPts val="0"/>
                        </a:spcAft>
                        <a:buClr>
                          <a:srgbClr val="FFFFFF"/>
                        </a:buClr>
                        <a:buSzPts val="1000"/>
                        <a:buFont typeface="Calibri"/>
                        <a:buNone/>
                      </a:pPr>
                      <a:r>
                        <a:rPr lang="en-US" sz="1000" b="1" u="none" strike="noStrike" cap="none" dirty="0">
                          <a:solidFill>
                            <a:srgbClr val="FFFFFF"/>
                          </a:solidFill>
                        </a:rPr>
                        <a:t>Criteria</a:t>
                      </a:r>
                      <a:endParaRPr sz="1000" u="none" strike="noStrike" cap="none" dirty="0"/>
                    </a:p>
                  </a:txBody>
                  <a:tcPr marL="91450" marR="91450" marT="45725" marB="45725">
                    <a:lnL w="9525" cap="flat" cmpd="sng">
                      <a:solidFill>
                        <a:srgbClr val="CBD5E1"/>
                      </a:solidFill>
                      <a:prstDash val="solid"/>
                      <a:round/>
                      <a:headEnd type="none" w="sm" len="sm"/>
                      <a:tailEnd type="none" w="sm" len="sm"/>
                    </a:lnL>
                    <a:lnR w="9525" cap="flat" cmpd="sng">
                      <a:solidFill>
                        <a:srgbClr val="CBD5E1"/>
                      </a:solidFill>
                      <a:prstDash val="solid"/>
                      <a:round/>
                      <a:headEnd type="none" w="sm" len="sm"/>
                      <a:tailEnd type="none" w="sm" len="sm"/>
                    </a:lnR>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solidFill>
                      <a:srgbClr val="1A2B4A"/>
                    </a:solidFill>
                  </a:tcPr>
                </a:tc>
                <a:tc>
                  <a:txBody>
                    <a:bodyPr/>
                    <a:lstStyle/>
                    <a:p>
                      <a:pPr marL="0" marR="0" lvl="0" indent="0" algn="ctr" rtl="0">
                        <a:spcBef>
                          <a:spcPts val="0"/>
                        </a:spcBef>
                        <a:spcAft>
                          <a:spcPts val="0"/>
                        </a:spcAft>
                        <a:buClr>
                          <a:srgbClr val="FFFFFF"/>
                        </a:buClr>
                        <a:buSzPts val="1000"/>
                        <a:buFont typeface="Calibri"/>
                        <a:buNone/>
                      </a:pPr>
                      <a:r>
                        <a:rPr lang="en-US" sz="1000" b="1" u="none" strike="noStrike" cap="none" dirty="0">
                          <a:solidFill>
                            <a:srgbClr val="FFFFFF"/>
                          </a:solidFill>
                        </a:rPr>
                        <a:t>VMware vSphere</a:t>
                      </a:r>
                      <a:endParaRPr sz="1000" u="none" strike="noStrike" cap="none" dirty="0"/>
                    </a:p>
                  </a:txBody>
                  <a:tcPr marL="91450" marR="91450" marT="45725" marB="45725">
                    <a:lnL w="9525" cap="flat" cmpd="sng">
                      <a:solidFill>
                        <a:srgbClr val="CBD5E1"/>
                      </a:solidFill>
                      <a:prstDash val="solid"/>
                      <a:round/>
                      <a:headEnd type="none" w="sm" len="sm"/>
                      <a:tailEnd type="none" w="sm" len="sm"/>
                    </a:lnL>
                    <a:lnR w="9525" cap="flat" cmpd="sng">
                      <a:solidFill>
                        <a:srgbClr val="CBD5E1"/>
                      </a:solidFill>
                      <a:prstDash val="solid"/>
                      <a:round/>
                      <a:headEnd type="none" w="sm" len="sm"/>
                      <a:tailEnd type="none" w="sm" len="sm"/>
                    </a:lnR>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solidFill>
                      <a:srgbClr val="1565C0"/>
                    </a:solidFill>
                  </a:tcPr>
                </a:tc>
                <a:tc>
                  <a:txBody>
                    <a:bodyPr/>
                    <a:lstStyle/>
                    <a:p>
                      <a:pPr marL="0" marR="0" lvl="0" indent="0" algn="ctr" rtl="0">
                        <a:spcBef>
                          <a:spcPts val="0"/>
                        </a:spcBef>
                        <a:spcAft>
                          <a:spcPts val="0"/>
                        </a:spcAft>
                        <a:buClr>
                          <a:srgbClr val="FFFFFF"/>
                        </a:buClr>
                        <a:buSzPts val="1000"/>
                        <a:buFont typeface="Calibri"/>
                        <a:buNone/>
                      </a:pPr>
                      <a:r>
                        <a:rPr lang="en-US" sz="1000" b="1" u="none" strike="noStrike" cap="none" dirty="0">
                          <a:solidFill>
                            <a:srgbClr val="FFFFFF"/>
                          </a:solidFill>
                        </a:rPr>
                        <a:t>MS Hyper-V</a:t>
                      </a:r>
                      <a:endParaRPr sz="1000" u="none" strike="noStrike" cap="none" dirty="0"/>
                    </a:p>
                  </a:txBody>
                  <a:tcPr marL="91450" marR="91450" marT="45725" marB="45725">
                    <a:lnL w="9525" cap="flat" cmpd="sng">
                      <a:solidFill>
                        <a:srgbClr val="CBD5E1"/>
                      </a:solidFill>
                      <a:prstDash val="solid"/>
                      <a:round/>
                      <a:headEnd type="none" w="sm" len="sm"/>
                      <a:tailEnd type="none" w="sm" len="sm"/>
                    </a:lnL>
                    <a:lnR w="9525" cap="flat" cmpd="sng">
                      <a:solidFill>
                        <a:srgbClr val="CBD5E1"/>
                      </a:solidFill>
                      <a:prstDash val="solid"/>
                      <a:round/>
                      <a:headEnd type="none" w="sm" len="sm"/>
                      <a:tailEnd type="none" w="sm" len="sm"/>
                    </a:lnR>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solidFill>
                      <a:srgbClr val="0078D4"/>
                    </a:solidFill>
                  </a:tcPr>
                </a:tc>
                <a:tc>
                  <a:txBody>
                    <a:bodyPr/>
                    <a:lstStyle/>
                    <a:p>
                      <a:pPr marL="0" marR="0" lvl="0" indent="0" algn="ctr" rtl="0">
                        <a:spcBef>
                          <a:spcPts val="0"/>
                        </a:spcBef>
                        <a:spcAft>
                          <a:spcPts val="0"/>
                        </a:spcAft>
                        <a:buClr>
                          <a:srgbClr val="FFFFFF"/>
                        </a:buClr>
                        <a:buSzPts val="1000"/>
                        <a:buFont typeface="Calibri"/>
                        <a:buNone/>
                      </a:pPr>
                      <a:r>
                        <a:rPr lang="en-US" sz="1000" b="1" u="none" strike="noStrike" cap="none" dirty="0">
                          <a:solidFill>
                            <a:srgbClr val="FFFFFF"/>
                          </a:solidFill>
                        </a:rPr>
                        <a:t>Proxmox VE ★</a:t>
                      </a:r>
                      <a:endParaRPr sz="1000" u="none" strike="noStrike" cap="none" dirty="0"/>
                    </a:p>
                  </a:txBody>
                  <a:tcPr marL="91450" marR="91450" marT="45725" marB="45725">
                    <a:lnL w="9525" cap="flat" cmpd="sng">
                      <a:solidFill>
                        <a:srgbClr val="CBD5E1"/>
                      </a:solidFill>
                      <a:prstDash val="solid"/>
                      <a:round/>
                      <a:headEnd type="none" w="sm" len="sm"/>
                      <a:tailEnd type="none" w="sm" len="sm"/>
                    </a:lnL>
                    <a:lnR w="9525" cap="flat" cmpd="sng">
                      <a:solidFill>
                        <a:srgbClr val="CBD5E1"/>
                      </a:solidFill>
                      <a:prstDash val="solid"/>
                      <a:round/>
                      <a:headEnd type="none" w="sm" len="sm"/>
                      <a:tailEnd type="none" w="sm" len="sm"/>
                    </a:lnR>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solidFill>
                      <a:srgbClr val="0D9488"/>
                    </a:solidFill>
                  </a:tcPr>
                </a:tc>
                <a:extLst>
                  <a:ext uri="{0D108BD9-81ED-4DB2-BD59-A6C34878D82A}">
                    <a16:rowId xmlns:a16="http://schemas.microsoft.com/office/drawing/2014/main" val="10000"/>
                  </a:ext>
                </a:extLst>
              </a:tr>
              <a:tr h="566925">
                <a:tc>
                  <a:txBody>
                    <a:bodyPr/>
                    <a:lstStyle/>
                    <a:p>
                      <a:pPr marL="0" marR="0" lvl="0" indent="0" algn="l" rtl="0">
                        <a:spcBef>
                          <a:spcPts val="0"/>
                        </a:spcBef>
                        <a:spcAft>
                          <a:spcPts val="0"/>
                        </a:spcAft>
                        <a:buClr>
                          <a:srgbClr val="000000"/>
                        </a:buClr>
                        <a:buSzPts val="900"/>
                        <a:buFont typeface="Calibri"/>
                        <a:buNone/>
                      </a:pPr>
                      <a:r>
                        <a:rPr lang="en-US" sz="900" b="1" u="none" strike="noStrike" cap="none" dirty="0">
                          <a:solidFill>
                            <a:srgbClr val="000000"/>
                          </a:solidFill>
                        </a:rPr>
                        <a:t>Cost &amp; Licensing</a:t>
                      </a:r>
                      <a:endParaRPr sz="900" u="none" strike="noStrike" cap="none" dirty="0"/>
                    </a:p>
                  </a:txBody>
                  <a:tcPr marL="91450" marR="91450" marT="45725" marB="45725">
                    <a:lnL w="9525" cap="flat" cmpd="sng">
                      <a:solidFill>
                        <a:srgbClr val="CBD5E1"/>
                      </a:solidFill>
                      <a:prstDash val="solid"/>
                      <a:round/>
                      <a:headEnd type="none" w="sm" len="sm"/>
                      <a:tailEnd type="none" w="sm" len="sm"/>
                    </a:lnL>
                    <a:lnR w="9525" cap="flat" cmpd="sng">
                      <a:solidFill>
                        <a:srgbClr val="CBD5E1"/>
                      </a:solidFill>
                      <a:prstDash val="solid"/>
                      <a:round/>
                      <a:headEnd type="none" w="sm" len="sm"/>
                      <a:tailEnd type="none" w="sm" len="sm"/>
                    </a:lnR>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solidFill>
                      <a:srgbClr val="F8FAFC"/>
                    </a:solidFill>
                  </a:tcPr>
                </a:tc>
                <a:tc>
                  <a:txBody>
                    <a:bodyPr/>
                    <a:lstStyle/>
                    <a:p>
                      <a:pPr marL="0" marR="0" lvl="0" indent="0" algn="ctr" rtl="0">
                        <a:spcBef>
                          <a:spcPts val="0"/>
                        </a:spcBef>
                        <a:spcAft>
                          <a:spcPts val="0"/>
                        </a:spcAft>
                        <a:buClr>
                          <a:srgbClr val="DC2626"/>
                        </a:buClr>
                        <a:buSzPts val="850"/>
                        <a:buFont typeface="Calibri"/>
                        <a:buNone/>
                      </a:pPr>
                      <a:r>
                        <a:rPr lang="en-US" sz="850" dirty="0">
                          <a:solidFill>
                            <a:srgbClr val="DC2626"/>
                          </a:solidFill>
                        </a:rPr>
                        <a:t>Subscription-based pricing (Broadcom)</a:t>
                      </a:r>
                    </a:p>
                    <a:p>
                      <a:pPr marL="0" marR="0" lvl="0" indent="0" algn="ctr" rtl="0">
                        <a:spcBef>
                          <a:spcPts val="0"/>
                        </a:spcBef>
                        <a:spcAft>
                          <a:spcPts val="0"/>
                        </a:spcAft>
                        <a:buClr>
                          <a:srgbClr val="DC2626"/>
                        </a:buClr>
                        <a:buSzPts val="850"/>
                        <a:buFont typeface="Calibri"/>
                        <a:buNone/>
                      </a:pPr>
                      <a:r>
                        <a:rPr lang="en-US" sz="850" dirty="0">
                          <a:solidFill>
                            <a:srgbClr val="DC2626"/>
                          </a:solidFill>
                        </a:rPr>
                        <a:t>Requires vendor quote</a:t>
                      </a:r>
                    </a:p>
                    <a:p>
                      <a:pPr marL="0" marR="0" lvl="0" indent="0" algn="ctr" rtl="0">
                        <a:spcBef>
                          <a:spcPts val="0"/>
                        </a:spcBef>
                        <a:spcAft>
                          <a:spcPts val="0"/>
                        </a:spcAft>
                        <a:buClr>
                          <a:srgbClr val="DC2626"/>
                        </a:buClr>
                        <a:buSzPts val="850"/>
                        <a:buFont typeface="Calibri"/>
                        <a:buNone/>
                      </a:pPr>
                      <a:r>
                        <a:rPr lang="en-US" sz="850" dirty="0">
                          <a:solidFill>
                            <a:srgbClr val="DC2626"/>
                          </a:solidFill>
                        </a:rPr>
                        <a:t>Free ESXi discontinued (2024)</a:t>
                      </a:r>
                      <a:endParaRPr sz="850" u="none" strike="noStrike" cap="none" dirty="0"/>
                    </a:p>
                  </a:txBody>
                  <a:tcPr marL="91450" marR="91450" marT="45725" marB="45725">
                    <a:lnL w="9525" cap="flat" cmpd="sng">
                      <a:solidFill>
                        <a:srgbClr val="CBD5E1"/>
                      </a:solidFill>
                      <a:prstDash val="solid"/>
                      <a:round/>
                      <a:headEnd type="none" w="sm" len="sm"/>
                      <a:tailEnd type="none" w="sm" len="sm"/>
                    </a:lnL>
                    <a:lnR w="9525" cap="flat" cmpd="sng">
                      <a:solidFill>
                        <a:srgbClr val="CBD5E1"/>
                      </a:solidFill>
                      <a:prstDash val="solid"/>
                      <a:round/>
                      <a:headEnd type="none" w="sm" len="sm"/>
                      <a:tailEnd type="none" w="sm" len="sm"/>
                    </a:lnR>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solidFill>
                      <a:schemeClr val="tx1"/>
                    </a:solidFill>
                  </a:tcPr>
                </a:tc>
                <a:tc>
                  <a:txBody>
                    <a:bodyPr/>
                    <a:lstStyle/>
                    <a:p>
                      <a:pPr marL="0" marR="0" lvl="0" indent="0" algn="ctr" rtl="0">
                        <a:spcBef>
                          <a:spcPts val="0"/>
                        </a:spcBef>
                        <a:spcAft>
                          <a:spcPts val="0"/>
                        </a:spcAft>
                        <a:buClr>
                          <a:srgbClr val="D97706"/>
                        </a:buClr>
                        <a:buSzPts val="850"/>
                        <a:buFont typeface="Calibri"/>
                        <a:buNone/>
                      </a:pPr>
                      <a:r>
                        <a:rPr lang="en-US" sz="850" u="none" strike="noStrike" cap="none" dirty="0">
                          <a:solidFill>
                            <a:srgbClr val="D97706"/>
                          </a:solidFill>
                        </a:rPr>
                        <a:t>~$1,176 per 16-core license (Standard Edition) </a:t>
                      </a:r>
                    </a:p>
                    <a:p>
                      <a:pPr marL="0" marR="0" lvl="0" indent="0" algn="ctr" rtl="0">
                        <a:spcBef>
                          <a:spcPts val="0"/>
                        </a:spcBef>
                        <a:spcAft>
                          <a:spcPts val="0"/>
                        </a:spcAft>
                        <a:buClr>
                          <a:srgbClr val="D97706"/>
                        </a:buClr>
                        <a:buSzPts val="850"/>
                        <a:buFont typeface="Calibri"/>
                        <a:buNone/>
                      </a:pPr>
                      <a:r>
                        <a:rPr lang="en-US" sz="850" u="none" strike="noStrike" cap="none" dirty="0">
                          <a:solidFill>
                            <a:srgbClr val="D97706"/>
                          </a:solidFill>
                        </a:rPr>
                        <a:t>Covers 2 VMs per host</a:t>
                      </a:r>
                    </a:p>
                    <a:p>
                      <a:pPr marL="0" marR="0" lvl="0" indent="0" algn="ctr" rtl="0">
                        <a:spcBef>
                          <a:spcPts val="0"/>
                        </a:spcBef>
                        <a:spcAft>
                          <a:spcPts val="0"/>
                        </a:spcAft>
                        <a:buClr>
                          <a:srgbClr val="D97706"/>
                        </a:buClr>
                        <a:buSzPts val="850"/>
                        <a:buFont typeface="Calibri"/>
                        <a:buNone/>
                      </a:pPr>
                      <a:r>
                        <a:rPr lang="en-US" sz="850" u="none" strike="noStrike" cap="none" dirty="0">
                          <a:solidFill>
                            <a:srgbClr val="D97706"/>
                          </a:solidFill>
                        </a:rPr>
                        <a:t>Additional VMs require extra licenses</a:t>
                      </a:r>
                    </a:p>
                    <a:p>
                      <a:pPr marL="171450" marR="0" lvl="0" indent="-171450" algn="ctr" rtl="0">
                        <a:spcBef>
                          <a:spcPts val="0"/>
                        </a:spcBef>
                        <a:spcAft>
                          <a:spcPts val="0"/>
                        </a:spcAft>
                        <a:buClr>
                          <a:srgbClr val="D97706"/>
                        </a:buClr>
                        <a:buSzPts val="850"/>
                        <a:buFont typeface="Arial" panose="020B0604020202020204" pitchFamily="34" charset="0"/>
                        <a:buChar char="•"/>
                      </a:pPr>
                      <a:r>
                        <a:rPr lang="en-US" sz="850" u="none" strike="noStrike" cap="none" dirty="0">
                          <a:solidFill>
                            <a:srgbClr val="D97706"/>
                          </a:solidFill>
                        </a:rPr>
                        <a:t>Client Access Licenses (~$30/user)</a:t>
                      </a:r>
                      <a:endParaRPr sz="850" u="none" strike="noStrike" cap="none" dirty="0"/>
                    </a:p>
                  </a:txBody>
                  <a:tcPr marL="91450" marR="91450" marT="45725" marB="45725">
                    <a:lnL w="9525" cap="flat" cmpd="sng">
                      <a:solidFill>
                        <a:srgbClr val="CBD5E1"/>
                      </a:solidFill>
                      <a:prstDash val="solid"/>
                      <a:round/>
                      <a:headEnd type="none" w="sm" len="sm"/>
                      <a:tailEnd type="none" w="sm" len="sm"/>
                    </a:lnL>
                    <a:lnR w="9525" cap="flat" cmpd="sng">
                      <a:solidFill>
                        <a:srgbClr val="CBD5E1"/>
                      </a:solidFill>
                      <a:prstDash val="solid"/>
                      <a:round/>
                      <a:headEnd type="none" w="sm" len="sm"/>
                      <a:tailEnd type="none" w="sm" len="sm"/>
                    </a:lnR>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solidFill>
                      <a:schemeClr val="tx1"/>
                    </a:solidFill>
                  </a:tcPr>
                </a:tc>
                <a:tc>
                  <a:txBody>
                    <a:bodyPr/>
                    <a:lstStyle/>
                    <a:p>
                      <a:pPr marL="0" marR="0" lvl="0" indent="0" algn="ctr" rtl="0">
                        <a:spcBef>
                          <a:spcPts val="0"/>
                        </a:spcBef>
                        <a:spcAft>
                          <a:spcPts val="0"/>
                        </a:spcAft>
                        <a:buClr>
                          <a:srgbClr val="16A34A"/>
                        </a:buClr>
                        <a:buSzPts val="900"/>
                        <a:buFont typeface="Calibri"/>
                        <a:buNone/>
                      </a:pPr>
                      <a:r>
                        <a:rPr lang="en-US" sz="900" b="1" u="none" strike="noStrike" cap="none" dirty="0">
                          <a:solidFill>
                            <a:srgbClr val="16A34A"/>
                          </a:solidFill>
                        </a:rPr>
                        <a:t>Software: $0 (free)</a:t>
                      </a:r>
                    </a:p>
                    <a:p>
                      <a:pPr marL="0" marR="0" lvl="0" indent="0" algn="ctr" rtl="0">
                        <a:spcBef>
                          <a:spcPts val="0"/>
                        </a:spcBef>
                        <a:spcAft>
                          <a:spcPts val="0"/>
                        </a:spcAft>
                        <a:buClr>
                          <a:srgbClr val="16A34A"/>
                        </a:buClr>
                        <a:buSzPts val="900"/>
                        <a:buFont typeface="Calibri"/>
                        <a:buNone/>
                      </a:pPr>
                      <a:r>
                        <a:rPr lang="en-US" sz="900" b="1" u="none" strike="noStrike" cap="none" dirty="0">
                          <a:solidFill>
                            <a:srgbClr val="16A34A"/>
                          </a:solidFill>
                        </a:rPr>
                        <a:t>Optional Premium Support:</a:t>
                      </a:r>
                    </a:p>
                    <a:p>
                      <a:pPr marL="0" marR="0" lvl="0" indent="0" algn="ctr" rtl="0">
                        <a:spcBef>
                          <a:spcPts val="0"/>
                        </a:spcBef>
                        <a:spcAft>
                          <a:spcPts val="0"/>
                        </a:spcAft>
                        <a:buClr>
                          <a:srgbClr val="16A34A"/>
                        </a:buClr>
                        <a:buSzPts val="900"/>
                        <a:buFont typeface="Calibri"/>
                        <a:buNone/>
                      </a:pPr>
                      <a:r>
                        <a:rPr lang="en-US" sz="900" b="1" u="none" strike="noStrike" cap="none" dirty="0">
                          <a:solidFill>
                            <a:srgbClr val="16A34A"/>
                          </a:solidFill>
                        </a:rPr>
                        <a:t>→ ~$1,150 per server/year</a:t>
                      </a:r>
                    </a:p>
                    <a:p>
                      <a:pPr marL="0" marR="0" lvl="0" indent="0" algn="ctr" rtl="0">
                        <a:spcBef>
                          <a:spcPts val="0"/>
                        </a:spcBef>
                        <a:spcAft>
                          <a:spcPts val="0"/>
                        </a:spcAft>
                        <a:buClr>
                          <a:srgbClr val="16A34A"/>
                        </a:buClr>
                        <a:buSzPts val="900"/>
                        <a:buFont typeface="Calibri"/>
                        <a:buNone/>
                      </a:pPr>
                      <a:r>
                        <a:rPr lang="en-US" sz="900" b="1" u="none" strike="noStrike" cap="none" dirty="0">
                          <a:solidFill>
                            <a:srgbClr val="16A34A"/>
                          </a:solidFill>
                        </a:rPr>
                        <a:t>→ ~$3,450/year total (3 nodes)</a:t>
                      </a:r>
                      <a:endParaRPr sz="900" u="none" strike="noStrike" cap="none" dirty="0"/>
                    </a:p>
                  </a:txBody>
                  <a:tcPr marL="91450" marR="91450" marT="45725" marB="45725">
                    <a:lnL w="9525" cap="flat" cmpd="sng">
                      <a:solidFill>
                        <a:srgbClr val="CBD5E1"/>
                      </a:solidFill>
                      <a:prstDash val="solid"/>
                      <a:round/>
                      <a:headEnd type="none" w="sm" len="sm"/>
                      <a:tailEnd type="none" w="sm" len="sm"/>
                    </a:lnL>
                    <a:lnR w="9525" cap="flat" cmpd="sng">
                      <a:solidFill>
                        <a:srgbClr val="CBD5E1"/>
                      </a:solidFill>
                      <a:prstDash val="solid"/>
                      <a:round/>
                      <a:headEnd type="none" w="sm" len="sm"/>
                      <a:tailEnd type="none" w="sm" len="sm"/>
                    </a:lnR>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solidFill>
                      <a:schemeClr val="tx1"/>
                    </a:solidFill>
                  </a:tcPr>
                </a:tc>
                <a:extLst>
                  <a:ext uri="{0D108BD9-81ED-4DB2-BD59-A6C34878D82A}">
                    <a16:rowId xmlns:a16="http://schemas.microsoft.com/office/drawing/2014/main" val="10001"/>
                  </a:ext>
                </a:extLst>
              </a:tr>
              <a:tr h="566925">
                <a:tc>
                  <a:txBody>
                    <a:bodyPr/>
                    <a:lstStyle/>
                    <a:p>
                      <a:pPr marL="0" marR="0" lvl="0" indent="0" algn="l" rtl="0">
                        <a:spcBef>
                          <a:spcPts val="0"/>
                        </a:spcBef>
                        <a:spcAft>
                          <a:spcPts val="0"/>
                        </a:spcAft>
                        <a:buClr>
                          <a:srgbClr val="000000"/>
                        </a:buClr>
                        <a:buSzPts val="900"/>
                        <a:buFont typeface="Calibri"/>
                        <a:buNone/>
                      </a:pPr>
                      <a:r>
                        <a:rPr lang="en-US" sz="900" b="1" u="none" strike="noStrike" cap="none" dirty="0">
                          <a:solidFill>
                            <a:srgbClr val="000000"/>
                          </a:solidFill>
                        </a:rPr>
                        <a:t>Performance &amp; Scalability</a:t>
                      </a:r>
                      <a:endParaRPr sz="900" u="none" strike="noStrike" cap="none" dirty="0"/>
                    </a:p>
                  </a:txBody>
                  <a:tcPr marL="91450" marR="91450" marT="45725" marB="45725">
                    <a:lnL w="9525" cap="flat" cmpd="sng">
                      <a:solidFill>
                        <a:srgbClr val="CBD5E1"/>
                      </a:solidFill>
                      <a:prstDash val="solid"/>
                      <a:round/>
                      <a:headEnd type="none" w="sm" len="sm"/>
                      <a:tailEnd type="none" w="sm" len="sm"/>
                    </a:lnL>
                    <a:lnR w="9525" cap="flat" cmpd="sng">
                      <a:solidFill>
                        <a:srgbClr val="CBD5E1"/>
                      </a:solidFill>
                      <a:prstDash val="solid"/>
                      <a:round/>
                      <a:headEnd type="none" w="sm" len="sm"/>
                      <a:tailEnd type="none" w="sm" len="sm"/>
                    </a:lnR>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solidFill>
                      <a:srgbClr val="F1F5F9"/>
                    </a:solidFill>
                  </a:tcPr>
                </a:tc>
                <a:tc>
                  <a:txBody>
                    <a:bodyPr/>
                    <a:lstStyle/>
                    <a:p>
                      <a:pPr marL="0" marR="0" lvl="0" indent="0" algn="ctr" rtl="0">
                        <a:spcBef>
                          <a:spcPts val="0"/>
                        </a:spcBef>
                        <a:spcAft>
                          <a:spcPts val="0"/>
                        </a:spcAft>
                        <a:buClr>
                          <a:srgbClr val="000000"/>
                        </a:buClr>
                        <a:buSzPts val="900"/>
                        <a:buFont typeface="Calibri"/>
                        <a:buNone/>
                      </a:pPr>
                      <a:r>
                        <a:rPr lang="en-US" sz="900" u="none" strike="noStrike" cap="none" dirty="0">
                          <a:solidFill>
                            <a:srgbClr val="000000"/>
                          </a:solidFill>
                        </a:rPr>
                        <a:t>Excellent — industry</a:t>
                      </a:r>
                      <a:endParaRPr sz="900" u="none" strike="noStrike" cap="none" dirty="0"/>
                    </a:p>
                    <a:p>
                      <a:pPr marL="0" marR="0" lvl="0" indent="0" algn="ctr" rtl="0">
                        <a:spcBef>
                          <a:spcPts val="0"/>
                        </a:spcBef>
                        <a:spcAft>
                          <a:spcPts val="0"/>
                        </a:spcAft>
                        <a:buClr>
                          <a:srgbClr val="000000"/>
                        </a:buClr>
                        <a:buSzPts val="900"/>
                        <a:buFont typeface="Calibri"/>
                        <a:buNone/>
                      </a:pPr>
                      <a:r>
                        <a:rPr lang="en-US" sz="900" u="none" strike="noStrike" cap="none" dirty="0">
                          <a:solidFill>
                            <a:srgbClr val="000000"/>
                          </a:solidFill>
                        </a:rPr>
                        <a:t>leading for large scale</a:t>
                      </a:r>
                      <a:endParaRPr sz="900" u="none" strike="noStrike" cap="none" dirty="0"/>
                    </a:p>
                  </a:txBody>
                  <a:tcPr marL="91450" marR="91450" marT="45725" marB="45725">
                    <a:lnL w="9525" cap="flat" cmpd="sng">
                      <a:solidFill>
                        <a:srgbClr val="CBD5E1"/>
                      </a:solidFill>
                      <a:prstDash val="solid"/>
                      <a:round/>
                      <a:headEnd type="none" w="sm" len="sm"/>
                      <a:tailEnd type="none" w="sm" len="sm"/>
                    </a:lnL>
                    <a:lnR w="9525" cap="flat" cmpd="sng">
                      <a:solidFill>
                        <a:srgbClr val="CBD5E1"/>
                      </a:solidFill>
                      <a:prstDash val="solid"/>
                      <a:round/>
                      <a:headEnd type="none" w="sm" len="sm"/>
                      <a:tailEnd type="none" w="sm" len="sm"/>
                    </a:lnR>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solidFill>
                      <a:schemeClr val="tx1"/>
                    </a:solidFill>
                  </a:tcPr>
                </a:tc>
                <a:tc>
                  <a:txBody>
                    <a:bodyPr/>
                    <a:lstStyle/>
                    <a:p>
                      <a:pPr marL="0" marR="0" lvl="0" indent="0" algn="ctr" rtl="0">
                        <a:spcBef>
                          <a:spcPts val="0"/>
                        </a:spcBef>
                        <a:spcAft>
                          <a:spcPts val="0"/>
                        </a:spcAft>
                        <a:buClr>
                          <a:srgbClr val="000000"/>
                        </a:buClr>
                        <a:buSzPts val="900"/>
                        <a:buFont typeface="Calibri"/>
                        <a:buNone/>
                      </a:pPr>
                      <a:r>
                        <a:rPr lang="en-US" sz="900" u="none" strike="noStrike" cap="none" dirty="0">
                          <a:solidFill>
                            <a:srgbClr val="000000"/>
                          </a:solidFill>
                        </a:rPr>
                        <a:t>Good — best for</a:t>
                      </a:r>
                      <a:endParaRPr sz="900" u="none" strike="noStrike" cap="none" dirty="0"/>
                    </a:p>
                    <a:p>
                      <a:pPr marL="0" marR="0" lvl="0" indent="0" algn="ctr" rtl="0">
                        <a:spcBef>
                          <a:spcPts val="0"/>
                        </a:spcBef>
                        <a:spcAft>
                          <a:spcPts val="0"/>
                        </a:spcAft>
                        <a:buClr>
                          <a:srgbClr val="000000"/>
                        </a:buClr>
                        <a:buSzPts val="900"/>
                        <a:buFont typeface="Calibri"/>
                        <a:buNone/>
                      </a:pPr>
                      <a:r>
                        <a:rPr lang="en-US" sz="900" u="none" strike="noStrike" cap="none" dirty="0">
                          <a:solidFill>
                            <a:srgbClr val="000000"/>
                          </a:solidFill>
                        </a:rPr>
                        <a:t>Windows workloads</a:t>
                      </a:r>
                      <a:endParaRPr sz="900" u="none" strike="noStrike" cap="none" dirty="0"/>
                    </a:p>
                  </a:txBody>
                  <a:tcPr marL="91450" marR="91450" marT="45725" marB="45725">
                    <a:lnL w="9525" cap="flat" cmpd="sng">
                      <a:solidFill>
                        <a:srgbClr val="CBD5E1"/>
                      </a:solidFill>
                      <a:prstDash val="solid"/>
                      <a:round/>
                      <a:headEnd type="none" w="sm" len="sm"/>
                      <a:tailEnd type="none" w="sm" len="sm"/>
                    </a:lnL>
                    <a:lnR w="9525" cap="flat" cmpd="sng">
                      <a:solidFill>
                        <a:srgbClr val="CBD5E1"/>
                      </a:solidFill>
                      <a:prstDash val="solid"/>
                      <a:round/>
                      <a:headEnd type="none" w="sm" len="sm"/>
                      <a:tailEnd type="none" w="sm" len="sm"/>
                    </a:lnR>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solidFill>
                      <a:schemeClr val="tx1"/>
                    </a:solidFill>
                  </a:tcPr>
                </a:tc>
                <a:tc>
                  <a:txBody>
                    <a:bodyPr/>
                    <a:lstStyle/>
                    <a:p>
                      <a:pPr marL="0" marR="0" lvl="0" indent="0" algn="ctr" rtl="0">
                        <a:spcBef>
                          <a:spcPts val="0"/>
                        </a:spcBef>
                        <a:spcAft>
                          <a:spcPts val="0"/>
                        </a:spcAft>
                        <a:buClr>
                          <a:srgbClr val="000000"/>
                        </a:buClr>
                        <a:buSzPts val="900"/>
                        <a:buFont typeface="Calibri"/>
                        <a:buNone/>
                      </a:pPr>
                      <a:r>
                        <a:rPr lang="en-US" sz="900" b="1" u="none" strike="noStrike" cap="none" dirty="0">
                          <a:solidFill>
                            <a:srgbClr val="000000"/>
                          </a:solidFill>
                        </a:rPr>
                        <a:t>Excellent — KVM</a:t>
                      </a:r>
                      <a:endParaRPr sz="900" u="none" strike="noStrike" cap="none" dirty="0"/>
                    </a:p>
                    <a:p>
                      <a:pPr marL="0" marR="0" lvl="0" indent="0" algn="ctr" rtl="0">
                        <a:spcBef>
                          <a:spcPts val="0"/>
                        </a:spcBef>
                        <a:spcAft>
                          <a:spcPts val="0"/>
                        </a:spcAft>
                        <a:buClr>
                          <a:srgbClr val="000000"/>
                        </a:buClr>
                        <a:buSzPts val="900"/>
                        <a:buFont typeface="Calibri"/>
                        <a:buNone/>
                      </a:pPr>
                      <a:r>
                        <a:rPr lang="en-US" sz="900" b="1" u="none" strike="noStrike" cap="none" dirty="0">
                          <a:solidFill>
                            <a:srgbClr val="000000"/>
                          </a:solidFill>
                        </a:rPr>
                        <a:t>near-bare-metal perf.</a:t>
                      </a:r>
                      <a:endParaRPr sz="900" u="none" strike="noStrike" cap="none" dirty="0"/>
                    </a:p>
                  </a:txBody>
                  <a:tcPr marL="91450" marR="91450" marT="45725" marB="45725">
                    <a:lnL w="9525" cap="flat" cmpd="sng">
                      <a:solidFill>
                        <a:srgbClr val="CBD5E1"/>
                      </a:solidFill>
                      <a:prstDash val="solid"/>
                      <a:round/>
                      <a:headEnd type="none" w="sm" len="sm"/>
                      <a:tailEnd type="none" w="sm" len="sm"/>
                    </a:lnL>
                    <a:lnR w="9525" cap="flat" cmpd="sng">
                      <a:solidFill>
                        <a:srgbClr val="CBD5E1"/>
                      </a:solidFill>
                      <a:prstDash val="solid"/>
                      <a:round/>
                      <a:headEnd type="none" w="sm" len="sm"/>
                      <a:tailEnd type="none" w="sm" len="sm"/>
                    </a:lnR>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solidFill>
                      <a:schemeClr val="tx1"/>
                    </a:solidFill>
                  </a:tcPr>
                </a:tc>
                <a:extLst>
                  <a:ext uri="{0D108BD9-81ED-4DB2-BD59-A6C34878D82A}">
                    <a16:rowId xmlns:a16="http://schemas.microsoft.com/office/drawing/2014/main" val="10002"/>
                  </a:ext>
                </a:extLst>
              </a:tr>
              <a:tr h="566925">
                <a:tc>
                  <a:txBody>
                    <a:bodyPr/>
                    <a:lstStyle/>
                    <a:p>
                      <a:pPr marL="0" marR="0" lvl="0" indent="0" algn="l" rtl="0">
                        <a:spcBef>
                          <a:spcPts val="0"/>
                        </a:spcBef>
                        <a:spcAft>
                          <a:spcPts val="0"/>
                        </a:spcAft>
                        <a:buClr>
                          <a:srgbClr val="000000"/>
                        </a:buClr>
                        <a:buSzPts val="900"/>
                        <a:buFont typeface="Calibri"/>
                        <a:buNone/>
                      </a:pPr>
                      <a:r>
                        <a:rPr lang="en-US" sz="900" b="1" u="none" strike="noStrike" cap="none" dirty="0">
                          <a:solidFill>
                            <a:srgbClr val="000000"/>
                          </a:solidFill>
                        </a:rPr>
                        <a:t>Management Ease</a:t>
                      </a:r>
                      <a:endParaRPr sz="900" u="none" strike="noStrike" cap="none" dirty="0"/>
                    </a:p>
                  </a:txBody>
                  <a:tcPr marL="91450" marR="91450" marT="45725" marB="45725">
                    <a:lnL w="9525" cap="flat" cmpd="sng">
                      <a:solidFill>
                        <a:srgbClr val="CBD5E1"/>
                      </a:solidFill>
                      <a:prstDash val="solid"/>
                      <a:round/>
                      <a:headEnd type="none" w="sm" len="sm"/>
                      <a:tailEnd type="none" w="sm" len="sm"/>
                    </a:lnL>
                    <a:lnR w="9525" cap="flat" cmpd="sng">
                      <a:solidFill>
                        <a:srgbClr val="CBD5E1"/>
                      </a:solidFill>
                      <a:prstDash val="solid"/>
                      <a:round/>
                      <a:headEnd type="none" w="sm" len="sm"/>
                      <a:tailEnd type="none" w="sm" len="sm"/>
                    </a:lnR>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solidFill>
                      <a:srgbClr val="F8FAFC"/>
                    </a:solidFill>
                  </a:tcPr>
                </a:tc>
                <a:tc>
                  <a:txBody>
                    <a:bodyPr/>
                    <a:lstStyle/>
                    <a:p>
                      <a:pPr marL="0" marR="0" lvl="0" indent="0" algn="ctr" rtl="0">
                        <a:spcBef>
                          <a:spcPts val="0"/>
                        </a:spcBef>
                        <a:spcAft>
                          <a:spcPts val="0"/>
                        </a:spcAft>
                        <a:buClr>
                          <a:srgbClr val="D97706"/>
                        </a:buClr>
                        <a:buSzPts val="900"/>
                        <a:buFont typeface="Calibri"/>
                        <a:buNone/>
                      </a:pPr>
                      <a:r>
                        <a:rPr lang="en-US" sz="900" u="none" strike="noStrike" cap="none" dirty="0">
                          <a:solidFill>
                            <a:srgbClr val="D97706"/>
                          </a:solidFill>
                        </a:rPr>
                        <a:t>vCenter required for</a:t>
                      </a:r>
                      <a:endParaRPr sz="900" u="none" strike="noStrike" cap="none" dirty="0"/>
                    </a:p>
                    <a:p>
                      <a:pPr marL="0" marR="0" lvl="0" indent="0" algn="ctr" rtl="0">
                        <a:spcBef>
                          <a:spcPts val="0"/>
                        </a:spcBef>
                        <a:spcAft>
                          <a:spcPts val="0"/>
                        </a:spcAft>
                        <a:buClr>
                          <a:srgbClr val="D97706"/>
                        </a:buClr>
                        <a:buSzPts val="900"/>
                        <a:buFont typeface="Calibri"/>
                        <a:buNone/>
                      </a:pPr>
                      <a:r>
                        <a:rPr lang="en-US" sz="900" u="none" strike="noStrike" cap="none" dirty="0">
                          <a:solidFill>
                            <a:srgbClr val="D97706"/>
                          </a:solidFill>
                        </a:rPr>
                        <a:t>full features (complex)</a:t>
                      </a:r>
                      <a:endParaRPr sz="900" u="none" strike="noStrike" cap="none" dirty="0"/>
                    </a:p>
                  </a:txBody>
                  <a:tcPr marL="91450" marR="91450" marT="45725" marB="45725">
                    <a:lnL w="9525" cap="flat" cmpd="sng">
                      <a:solidFill>
                        <a:srgbClr val="CBD5E1"/>
                      </a:solidFill>
                      <a:prstDash val="solid"/>
                      <a:round/>
                      <a:headEnd type="none" w="sm" len="sm"/>
                      <a:tailEnd type="none" w="sm" len="sm"/>
                    </a:lnL>
                    <a:lnR w="9525" cap="flat" cmpd="sng">
                      <a:solidFill>
                        <a:srgbClr val="CBD5E1"/>
                      </a:solidFill>
                      <a:prstDash val="solid"/>
                      <a:round/>
                      <a:headEnd type="none" w="sm" len="sm"/>
                      <a:tailEnd type="none" w="sm" len="sm"/>
                    </a:lnR>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solidFill>
                      <a:schemeClr val="tx1"/>
                    </a:solidFill>
                  </a:tcPr>
                </a:tc>
                <a:tc>
                  <a:txBody>
                    <a:bodyPr/>
                    <a:lstStyle/>
                    <a:p>
                      <a:pPr marL="0" marR="0" lvl="0" indent="0" algn="ctr" rtl="0">
                        <a:spcBef>
                          <a:spcPts val="0"/>
                        </a:spcBef>
                        <a:spcAft>
                          <a:spcPts val="0"/>
                        </a:spcAft>
                        <a:buClr>
                          <a:srgbClr val="000000"/>
                        </a:buClr>
                        <a:buSzPts val="900"/>
                        <a:buFont typeface="Calibri"/>
                        <a:buNone/>
                      </a:pPr>
                      <a:r>
                        <a:rPr lang="en-US" sz="900" u="none" strike="noStrike" cap="none" dirty="0">
                          <a:solidFill>
                            <a:srgbClr val="000000"/>
                          </a:solidFill>
                        </a:rPr>
                        <a:t>Familiar for Windows</a:t>
                      </a:r>
                      <a:endParaRPr sz="900" u="none" strike="noStrike" cap="none" dirty="0"/>
                    </a:p>
                    <a:p>
                      <a:pPr marL="0" marR="0" lvl="0" indent="0" algn="ctr" rtl="0">
                        <a:spcBef>
                          <a:spcPts val="0"/>
                        </a:spcBef>
                        <a:spcAft>
                          <a:spcPts val="0"/>
                        </a:spcAft>
                        <a:buClr>
                          <a:srgbClr val="000000"/>
                        </a:buClr>
                        <a:buSzPts val="900"/>
                        <a:buFont typeface="Calibri"/>
                        <a:buNone/>
                      </a:pPr>
                      <a:r>
                        <a:rPr lang="en-US" sz="900" u="none" strike="noStrike" cap="none" dirty="0">
                          <a:solidFill>
                            <a:srgbClr val="000000"/>
                          </a:solidFill>
                        </a:rPr>
                        <a:t>admins; limited GUI</a:t>
                      </a:r>
                      <a:endParaRPr sz="900" u="none" strike="noStrike" cap="none" dirty="0"/>
                    </a:p>
                  </a:txBody>
                  <a:tcPr marL="91450" marR="91450" marT="45725" marB="45725">
                    <a:lnL w="9525" cap="flat" cmpd="sng">
                      <a:solidFill>
                        <a:srgbClr val="CBD5E1"/>
                      </a:solidFill>
                      <a:prstDash val="solid"/>
                      <a:round/>
                      <a:headEnd type="none" w="sm" len="sm"/>
                      <a:tailEnd type="none" w="sm" len="sm"/>
                    </a:lnL>
                    <a:lnR w="9525" cap="flat" cmpd="sng">
                      <a:solidFill>
                        <a:srgbClr val="CBD5E1"/>
                      </a:solidFill>
                      <a:prstDash val="solid"/>
                      <a:round/>
                      <a:headEnd type="none" w="sm" len="sm"/>
                      <a:tailEnd type="none" w="sm" len="sm"/>
                    </a:lnR>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solidFill>
                      <a:schemeClr val="tx1"/>
                    </a:solidFill>
                  </a:tcPr>
                </a:tc>
                <a:tc>
                  <a:txBody>
                    <a:bodyPr/>
                    <a:lstStyle/>
                    <a:p>
                      <a:pPr marL="0" marR="0" lvl="0" indent="0" algn="ctr" rtl="0">
                        <a:spcBef>
                          <a:spcPts val="0"/>
                        </a:spcBef>
                        <a:spcAft>
                          <a:spcPts val="0"/>
                        </a:spcAft>
                        <a:buClr>
                          <a:srgbClr val="16A34A"/>
                        </a:buClr>
                        <a:buSzPts val="900"/>
                        <a:buFont typeface="Calibri"/>
                        <a:buNone/>
                      </a:pPr>
                      <a:r>
                        <a:rPr lang="en-US" sz="900" b="1" u="none" strike="noStrike" cap="none" dirty="0">
                          <a:solidFill>
                            <a:srgbClr val="16A34A"/>
                          </a:solidFill>
                        </a:rPr>
                        <a:t>Modern web UI</a:t>
                      </a:r>
                      <a:endParaRPr sz="900" u="none" strike="noStrike" cap="none" dirty="0"/>
                    </a:p>
                    <a:p>
                      <a:pPr marL="0" marR="0" lvl="0" indent="0" algn="ctr" rtl="0">
                        <a:spcBef>
                          <a:spcPts val="0"/>
                        </a:spcBef>
                        <a:spcAft>
                          <a:spcPts val="0"/>
                        </a:spcAft>
                        <a:buClr>
                          <a:srgbClr val="16A34A"/>
                        </a:buClr>
                        <a:buSzPts val="900"/>
                        <a:buFont typeface="Calibri"/>
                        <a:buNone/>
                      </a:pPr>
                      <a:r>
                        <a:rPr lang="en-US" sz="900" b="1" u="none" strike="noStrike" cap="none" dirty="0">
                          <a:solidFill>
                            <a:srgbClr val="16A34A"/>
                          </a:solidFill>
                        </a:rPr>
                        <a:t>out of the box</a:t>
                      </a:r>
                      <a:endParaRPr sz="900" u="none" strike="noStrike" cap="none" dirty="0"/>
                    </a:p>
                  </a:txBody>
                  <a:tcPr marL="91450" marR="91450" marT="45725" marB="45725">
                    <a:lnL w="9525" cap="flat" cmpd="sng">
                      <a:solidFill>
                        <a:srgbClr val="CBD5E1"/>
                      </a:solidFill>
                      <a:prstDash val="solid"/>
                      <a:round/>
                      <a:headEnd type="none" w="sm" len="sm"/>
                      <a:tailEnd type="none" w="sm" len="sm"/>
                    </a:lnL>
                    <a:lnR w="9525" cap="flat" cmpd="sng">
                      <a:solidFill>
                        <a:srgbClr val="CBD5E1"/>
                      </a:solidFill>
                      <a:prstDash val="solid"/>
                      <a:round/>
                      <a:headEnd type="none" w="sm" len="sm"/>
                      <a:tailEnd type="none" w="sm" len="sm"/>
                    </a:lnR>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solidFill>
                      <a:schemeClr val="tx1"/>
                    </a:solidFill>
                  </a:tcPr>
                </a:tc>
                <a:extLst>
                  <a:ext uri="{0D108BD9-81ED-4DB2-BD59-A6C34878D82A}">
                    <a16:rowId xmlns:a16="http://schemas.microsoft.com/office/drawing/2014/main" val="10003"/>
                  </a:ext>
                </a:extLst>
              </a:tr>
              <a:tr h="566925">
                <a:tc>
                  <a:txBody>
                    <a:bodyPr/>
                    <a:lstStyle/>
                    <a:p>
                      <a:pPr marL="0" marR="0" lvl="0" indent="0" algn="l" rtl="0">
                        <a:spcBef>
                          <a:spcPts val="0"/>
                        </a:spcBef>
                        <a:spcAft>
                          <a:spcPts val="0"/>
                        </a:spcAft>
                        <a:buClr>
                          <a:srgbClr val="000000"/>
                        </a:buClr>
                        <a:buSzPts val="900"/>
                        <a:buFont typeface="Calibri"/>
                        <a:buNone/>
                      </a:pPr>
                      <a:r>
                        <a:rPr lang="en-US" sz="900" b="1" u="none" strike="noStrike" cap="none" dirty="0">
                          <a:solidFill>
                            <a:srgbClr val="000000"/>
                          </a:solidFill>
                        </a:rPr>
                        <a:t>Features</a:t>
                      </a:r>
                      <a:endParaRPr sz="900" u="none" strike="noStrike" cap="none" dirty="0"/>
                    </a:p>
                  </a:txBody>
                  <a:tcPr marL="91450" marR="91450" marT="45725" marB="45725">
                    <a:lnL w="9525" cap="flat" cmpd="sng">
                      <a:solidFill>
                        <a:srgbClr val="CBD5E1"/>
                      </a:solidFill>
                      <a:prstDash val="solid"/>
                      <a:round/>
                      <a:headEnd type="none" w="sm" len="sm"/>
                      <a:tailEnd type="none" w="sm" len="sm"/>
                    </a:lnL>
                    <a:lnR w="9525" cap="flat" cmpd="sng">
                      <a:solidFill>
                        <a:srgbClr val="CBD5E1"/>
                      </a:solidFill>
                      <a:prstDash val="solid"/>
                      <a:round/>
                      <a:headEnd type="none" w="sm" len="sm"/>
                      <a:tailEnd type="none" w="sm" len="sm"/>
                    </a:lnR>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solidFill>
                      <a:srgbClr val="F1F5F9"/>
                    </a:solidFill>
                  </a:tcPr>
                </a:tc>
                <a:tc>
                  <a:txBody>
                    <a:bodyPr/>
                    <a:lstStyle/>
                    <a:p>
                      <a:pPr marL="0" marR="0" lvl="0" indent="0" algn="ctr" rtl="0">
                        <a:spcBef>
                          <a:spcPts val="0"/>
                        </a:spcBef>
                        <a:spcAft>
                          <a:spcPts val="0"/>
                        </a:spcAft>
                        <a:buClr>
                          <a:srgbClr val="000000"/>
                        </a:buClr>
                        <a:buSzPts val="900"/>
                        <a:buFont typeface="Calibri"/>
                        <a:buNone/>
                      </a:pPr>
                      <a:r>
                        <a:rPr lang="en-US" sz="900" u="none" strike="noStrike" cap="none" dirty="0">
                          <a:solidFill>
                            <a:srgbClr val="000000"/>
                          </a:solidFill>
                        </a:rPr>
                        <a:t>vMotion, vSAN, HA,</a:t>
                      </a:r>
                      <a:endParaRPr sz="900" u="none" strike="noStrike" cap="none" dirty="0"/>
                    </a:p>
                    <a:p>
                      <a:pPr marL="0" marR="0" lvl="0" indent="0" algn="ctr" rtl="0">
                        <a:spcBef>
                          <a:spcPts val="0"/>
                        </a:spcBef>
                        <a:spcAft>
                          <a:spcPts val="0"/>
                        </a:spcAft>
                        <a:buClr>
                          <a:srgbClr val="000000"/>
                        </a:buClr>
                        <a:buSzPts val="900"/>
                        <a:buFont typeface="Calibri"/>
                        <a:buNone/>
                      </a:pPr>
                      <a:r>
                        <a:rPr lang="en-US" sz="900" u="none" strike="noStrike" cap="none" dirty="0">
                          <a:solidFill>
                            <a:srgbClr val="000000"/>
                          </a:solidFill>
                        </a:rPr>
                        <a:t>DRS, vSphere+</a:t>
                      </a:r>
                      <a:endParaRPr sz="900" u="none" strike="noStrike" cap="none" dirty="0"/>
                    </a:p>
                  </a:txBody>
                  <a:tcPr marL="91450" marR="91450" marT="45725" marB="45725">
                    <a:lnL w="9525" cap="flat" cmpd="sng">
                      <a:solidFill>
                        <a:srgbClr val="CBD5E1"/>
                      </a:solidFill>
                      <a:prstDash val="solid"/>
                      <a:round/>
                      <a:headEnd type="none" w="sm" len="sm"/>
                      <a:tailEnd type="none" w="sm" len="sm"/>
                    </a:lnL>
                    <a:lnR w="9525" cap="flat" cmpd="sng">
                      <a:solidFill>
                        <a:srgbClr val="CBD5E1"/>
                      </a:solidFill>
                      <a:prstDash val="solid"/>
                      <a:round/>
                      <a:headEnd type="none" w="sm" len="sm"/>
                      <a:tailEnd type="none" w="sm" len="sm"/>
                    </a:lnR>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solidFill>
                      <a:schemeClr val="tx1"/>
                    </a:solidFill>
                  </a:tcPr>
                </a:tc>
                <a:tc>
                  <a:txBody>
                    <a:bodyPr/>
                    <a:lstStyle/>
                    <a:p>
                      <a:pPr marL="0" marR="0" lvl="0" indent="0" algn="ctr" rtl="0">
                        <a:spcBef>
                          <a:spcPts val="0"/>
                        </a:spcBef>
                        <a:spcAft>
                          <a:spcPts val="0"/>
                        </a:spcAft>
                        <a:buClr>
                          <a:srgbClr val="000000"/>
                        </a:buClr>
                        <a:buSzPts val="900"/>
                        <a:buFont typeface="Calibri"/>
                        <a:buNone/>
                      </a:pPr>
                      <a:r>
                        <a:rPr lang="en-US" sz="900" u="none" strike="noStrike" cap="none" dirty="0">
                          <a:solidFill>
                            <a:srgbClr val="000000"/>
                          </a:solidFill>
                        </a:rPr>
                        <a:t>Live Migration, Basic</a:t>
                      </a:r>
                      <a:endParaRPr sz="900" u="none" strike="noStrike" cap="none" dirty="0"/>
                    </a:p>
                    <a:p>
                      <a:pPr marL="0" marR="0" lvl="0" indent="0" algn="ctr" rtl="0">
                        <a:spcBef>
                          <a:spcPts val="0"/>
                        </a:spcBef>
                        <a:spcAft>
                          <a:spcPts val="0"/>
                        </a:spcAft>
                        <a:buClr>
                          <a:srgbClr val="000000"/>
                        </a:buClr>
                        <a:buSzPts val="900"/>
                        <a:buFont typeface="Calibri"/>
                        <a:buNone/>
                      </a:pPr>
                      <a:r>
                        <a:rPr lang="en-US" sz="900" u="none" strike="noStrike" cap="none" dirty="0">
                          <a:solidFill>
                            <a:srgbClr val="000000"/>
                          </a:solidFill>
                        </a:rPr>
                        <a:t>HA with failover cluster</a:t>
                      </a:r>
                      <a:endParaRPr sz="900" u="none" strike="noStrike" cap="none" dirty="0"/>
                    </a:p>
                  </a:txBody>
                  <a:tcPr marL="91450" marR="91450" marT="45725" marB="45725">
                    <a:lnL w="9525" cap="flat" cmpd="sng">
                      <a:solidFill>
                        <a:srgbClr val="CBD5E1"/>
                      </a:solidFill>
                      <a:prstDash val="solid"/>
                      <a:round/>
                      <a:headEnd type="none" w="sm" len="sm"/>
                      <a:tailEnd type="none" w="sm" len="sm"/>
                    </a:lnL>
                    <a:lnR w="9525" cap="flat" cmpd="sng">
                      <a:solidFill>
                        <a:srgbClr val="CBD5E1"/>
                      </a:solidFill>
                      <a:prstDash val="solid"/>
                      <a:round/>
                      <a:headEnd type="none" w="sm" len="sm"/>
                      <a:tailEnd type="none" w="sm" len="sm"/>
                    </a:lnR>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solidFill>
                      <a:schemeClr val="tx1"/>
                    </a:solidFill>
                  </a:tcPr>
                </a:tc>
                <a:tc>
                  <a:txBody>
                    <a:bodyPr/>
                    <a:lstStyle/>
                    <a:p>
                      <a:pPr marL="0" marR="0" lvl="0" indent="0" algn="ctr" rtl="0">
                        <a:spcBef>
                          <a:spcPts val="0"/>
                        </a:spcBef>
                        <a:spcAft>
                          <a:spcPts val="0"/>
                        </a:spcAft>
                        <a:buClr>
                          <a:srgbClr val="000000"/>
                        </a:buClr>
                        <a:buSzPts val="900"/>
                        <a:buFont typeface="Calibri"/>
                        <a:buNone/>
                      </a:pPr>
                      <a:r>
                        <a:rPr lang="en-US" sz="900" b="1" u="none" strike="noStrike" cap="none" dirty="0">
                          <a:solidFill>
                            <a:srgbClr val="000000"/>
                          </a:solidFill>
                        </a:rPr>
                        <a:t>Live migration, HA,</a:t>
                      </a:r>
                      <a:endParaRPr sz="900" u="none" strike="noStrike" cap="none" dirty="0"/>
                    </a:p>
                    <a:p>
                      <a:pPr marL="0" marR="0" lvl="0" indent="0" algn="ctr" rtl="0">
                        <a:spcBef>
                          <a:spcPts val="0"/>
                        </a:spcBef>
                        <a:spcAft>
                          <a:spcPts val="0"/>
                        </a:spcAft>
                        <a:buClr>
                          <a:srgbClr val="000000"/>
                        </a:buClr>
                        <a:buSzPts val="900"/>
                        <a:buFont typeface="Calibri"/>
                        <a:buNone/>
                      </a:pPr>
                      <a:r>
                        <a:rPr lang="en-US" sz="900" b="1" u="none" strike="noStrike" cap="none" dirty="0">
                          <a:solidFill>
                            <a:srgbClr val="000000"/>
                          </a:solidFill>
                        </a:rPr>
                        <a:t>Ceph, ZFS, LXC, backup</a:t>
                      </a:r>
                      <a:endParaRPr sz="900" u="none" strike="noStrike" cap="none" dirty="0"/>
                    </a:p>
                  </a:txBody>
                  <a:tcPr marL="91450" marR="91450" marT="45725" marB="45725">
                    <a:lnL w="9525" cap="flat" cmpd="sng">
                      <a:solidFill>
                        <a:srgbClr val="CBD5E1"/>
                      </a:solidFill>
                      <a:prstDash val="solid"/>
                      <a:round/>
                      <a:headEnd type="none" w="sm" len="sm"/>
                      <a:tailEnd type="none" w="sm" len="sm"/>
                    </a:lnL>
                    <a:lnR w="9525" cap="flat" cmpd="sng">
                      <a:solidFill>
                        <a:srgbClr val="CBD5E1"/>
                      </a:solidFill>
                      <a:prstDash val="solid"/>
                      <a:round/>
                      <a:headEnd type="none" w="sm" len="sm"/>
                      <a:tailEnd type="none" w="sm" len="sm"/>
                    </a:lnR>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solidFill>
                      <a:schemeClr val="tx1"/>
                    </a:solidFill>
                  </a:tcPr>
                </a:tc>
                <a:extLst>
                  <a:ext uri="{0D108BD9-81ED-4DB2-BD59-A6C34878D82A}">
                    <a16:rowId xmlns:a16="http://schemas.microsoft.com/office/drawing/2014/main" val="10004"/>
                  </a:ext>
                </a:extLst>
              </a:tr>
              <a:tr h="566925">
                <a:tc>
                  <a:txBody>
                    <a:bodyPr/>
                    <a:lstStyle/>
                    <a:p>
                      <a:pPr marL="0" marR="0" lvl="0" indent="0" algn="l" rtl="0">
                        <a:spcBef>
                          <a:spcPts val="0"/>
                        </a:spcBef>
                        <a:spcAft>
                          <a:spcPts val="0"/>
                        </a:spcAft>
                        <a:buClr>
                          <a:srgbClr val="000000"/>
                        </a:buClr>
                        <a:buSzPts val="900"/>
                        <a:buFont typeface="Calibri"/>
                        <a:buNone/>
                      </a:pPr>
                      <a:r>
                        <a:rPr lang="en-US" sz="900" b="1" u="none" strike="noStrike" cap="none" dirty="0">
                          <a:solidFill>
                            <a:srgbClr val="000000"/>
                          </a:solidFill>
                        </a:rPr>
                        <a:t>Security</a:t>
                      </a:r>
                      <a:endParaRPr sz="900" u="none" strike="noStrike" cap="none" dirty="0"/>
                    </a:p>
                  </a:txBody>
                  <a:tcPr marL="91450" marR="91450" marT="45725" marB="45725">
                    <a:lnL w="9525" cap="flat" cmpd="sng">
                      <a:solidFill>
                        <a:srgbClr val="CBD5E1"/>
                      </a:solidFill>
                      <a:prstDash val="solid"/>
                      <a:round/>
                      <a:headEnd type="none" w="sm" len="sm"/>
                      <a:tailEnd type="none" w="sm" len="sm"/>
                    </a:lnL>
                    <a:lnR w="9525" cap="flat" cmpd="sng">
                      <a:solidFill>
                        <a:srgbClr val="CBD5E1"/>
                      </a:solidFill>
                      <a:prstDash val="solid"/>
                      <a:round/>
                      <a:headEnd type="none" w="sm" len="sm"/>
                      <a:tailEnd type="none" w="sm" len="sm"/>
                    </a:lnR>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solidFill>
                      <a:srgbClr val="F8FAFC"/>
                    </a:solidFill>
                  </a:tcPr>
                </a:tc>
                <a:tc>
                  <a:txBody>
                    <a:bodyPr/>
                    <a:lstStyle/>
                    <a:p>
                      <a:pPr marL="0" marR="0" lvl="0" indent="0" algn="ctr" rtl="0">
                        <a:spcBef>
                          <a:spcPts val="0"/>
                        </a:spcBef>
                        <a:spcAft>
                          <a:spcPts val="0"/>
                        </a:spcAft>
                        <a:buClr>
                          <a:srgbClr val="000000"/>
                        </a:buClr>
                        <a:buSzPts val="900"/>
                        <a:buFont typeface="Calibri"/>
                        <a:buNone/>
                      </a:pPr>
                      <a:r>
                        <a:rPr lang="en-US" sz="900" u="none" strike="noStrike" cap="none" dirty="0">
                          <a:solidFill>
                            <a:srgbClr val="000000"/>
                          </a:solidFill>
                        </a:rPr>
                        <a:t>vTPM, encryption,</a:t>
                      </a:r>
                      <a:endParaRPr sz="900" u="none" strike="noStrike" cap="none" dirty="0"/>
                    </a:p>
                    <a:p>
                      <a:pPr marL="0" marR="0" lvl="0" indent="0" algn="ctr" rtl="0">
                        <a:spcBef>
                          <a:spcPts val="0"/>
                        </a:spcBef>
                        <a:spcAft>
                          <a:spcPts val="0"/>
                        </a:spcAft>
                        <a:buClr>
                          <a:srgbClr val="000000"/>
                        </a:buClr>
                        <a:buSzPts val="900"/>
                        <a:buFont typeface="Calibri"/>
                        <a:buNone/>
                      </a:pPr>
                      <a:r>
                        <a:rPr lang="en-US" sz="900" u="none" strike="noStrike" cap="none" dirty="0">
                          <a:solidFill>
                            <a:srgbClr val="000000"/>
                          </a:solidFill>
                        </a:rPr>
                        <a:t>Secure Boot, NSX FW</a:t>
                      </a:r>
                      <a:endParaRPr sz="900" u="none" strike="noStrike" cap="none" dirty="0"/>
                    </a:p>
                  </a:txBody>
                  <a:tcPr marL="91450" marR="91450" marT="45725" marB="45725">
                    <a:lnL w="9525" cap="flat" cmpd="sng">
                      <a:solidFill>
                        <a:srgbClr val="CBD5E1"/>
                      </a:solidFill>
                      <a:prstDash val="solid"/>
                      <a:round/>
                      <a:headEnd type="none" w="sm" len="sm"/>
                      <a:tailEnd type="none" w="sm" len="sm"/>
                    </a:lnL>
                    <a:lnR w="9525" cap="flat" cmpd="sng">
                      <a:solidFill>
                        <a:srgbClr val="CBD5E1"/>
                      </a:solidFill>
                      <a:prstDash val="solid"/>
                      <a:round/>
                      <a:headEnd type="none" w="sm" len="sm"/>
                      <a:tailEnd type="none" w="sm" len="sm"/>
                    </a:lnR>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solidFill>
                      <a:schemeClr val="tx1"/>
                    </a:solidFill>
                  </a:tcPr>
                </a:tc>
                <a:tc>
                  <a:txBody>
                    <a:bodyPr/>
                    <a:lstStyle/>
                    <a:p>
                      <a:pPr marL="0" marR="0" lvl="0" indent="0" algn="ctr" rtl="0">
                        <a:spcBef>
                          <a:spcPts val="0"/>
                        </a:spcBef>
                        <a:spcAft>
                          <a:spcPts val="0"/>
                        </a:spcAft>
                        <a:buClr>
                          <a:srgbClr val="000000"/>
                        </a:buClr>
                        <a:buSzPts val="900"/>
                        <a:buFont typeface="Calibri"/>
                        <a:buNone/>
                      </a:pPr>
                      <a:r>
                        <a:rPr lang="en-US" sz="900" u="none" strike="noStrike" cap="none" dirty="0">
                          <a:solidFill>
                            <a:srgbClr val="000000"/>
                          </a:solidFill>
                        </a:rPr>
                        <a:t>Shielded VMs,</a:t>
                      </a:r>
                      <a:endParaRPr sz="900" u="none" strike="noStrike" cap="none" dirty="0"/>
                    </a:p>
                    <a:p>
                      <a:pPr marL="0" marR="0" lvl="0" indent="0" algn="ctr" rtl="0">
                        <a:spcBef>
                          <a:spcPts val="0"/>
                        </a:spcBef>
                        <a:spcAft>
                          <a:spcPts val="0"/>
                        </a:spcAft>
                        <a:buClr>
                          <a:srgbClr val="000000"/>
                        </a:buClr>
                        <a:buSzPts val="900"/>
                        <a:buFont typeface="Calibri"/>
                        <a:buNone/>
                      </a:pPr>
                      <a:r>
                        <a:rPr lang="en-US" sz="900" u="none" strike="noStrike" cap="none" dirty="0">
                          <a:solidFill>
                            <a:srgbClr val="000000"/>
                          </a:solidFill>
                        </a:rPr>
                        <a:t>AD integration, BitLocker</a:t>
                      </a:r>
                      <a:endParaRPr sz="900" u="none" strike="noStrike" cap="none" dirty="0"/>
                    </a:p>
                  </a:txBody>
                  <a:tcPr marL="91450" marR="91450" marT="45725" marB="45725">
                    <a:lnL w="9525" cap="flat" cmpd="sng">
                      <a:solidFill>
                        <a:srgbClr val="CBD5E1"/>
                      </a:solidFill>
                      <a:prstDash val="solid"/>
                      <a:round/>
                      <a:headEnd type="none" w="sm" len="sm"/>
                      <a:tailEnd type="none" w="sm" len="sm"/>
                    </a:lnL>
                    <a:lnR w="9525" cap="flat" cmpd="sng">
                      <a:solidFill>
                        <a:srgbClr val="CBD5E1"/>
                      </a:solidFill>
                      <a:prstDash val="solid"/>
                      <a:round/>
                      <a:headEnd type="none" w="sm" len="sm"/>
                      <a:tailEnd type="none" w="sm" len="sm"/>
                    </a:lnR>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solidFill>
                      <a:schemeClr val="tx1"/>
                    </a:solidFill>
                  </a:tcPr>
                </a:tc>
                <a:tc>
                  <a:txBody>
                    <a:bodyPr/>
                    <a:lstStyle/>
                    <a:p>
                      <a:pPr marL="0" marR="0" lvl="0" indent="0" algn="ctr" rtl="0">
                        <a:spcBef>
                          <a:spcPts val="0"/>
                        </a:spcBef>
                        <a:spcAft>
                          <a:spcPts val="0"/>
                        </a:spcAft>
                        <a:buClr>
                          <a:srgbClr val="000000"/>
                        </a:buClr>
                        <a:buSzPts val="900"/>
                        <a:buFont typeface="Calibri"/>
                        <a:buNone/>
                      </a:pPr>
                      <a:r>
                        <a:rPr lang="en-US" sz="900" b="1" u="none" strike="noStrike" cap="none" dirty="0">
                          <a:solidFill>
                            <a:srgbClr val="000000"/>
                          </a:solidFill>
                        </a:rPr>
                        <a:t>RBAC, firewall,</a:t>
                      </a:r>
                      <a:endParaRPr sz="900" u="none" strike="noStrike" cap="none" dirty="0"/>
                    </a:p>
                    <a:p>
                      <a:pPr marL="0" marR="0" lvl="0" indent="0" algn="ctr" rtl="0">
                        <a:spcBef>
                          <a:spcPts val="0"/>
                        </a:spcBef>
                        <a:spcAft>
                          <a:spcPts val="0"/>
                        </a:spcAft>
                        <a:buClr>
                          <a:srgbClr val="000000"/>
                        </a:buClr>
                        <a:buSzPts val="900"/>
                        <a:buFont typeface="Calibri"/>
                        <a:buNone/>
                      </a:pPr>
                      <a:r>
                        <a:rPr lang="en-US" sz="900" b="1" u="none" strike="noStrike" cap="none" dirty="0">
                          <a:solidFill>
                            <a:srgbClr val="000000"/>
                          </a:solidFill>
                        </a:rPr>
                        <a:t>2FA, VM encryption</a:t>
                      </a:r>
                      <a:endParaRPr sz="900" u="none" strike="noStrike" cap="none" dirty="0"/>
                    </a:p>
                  </a:txBody>
                  <a:tcPr marL="91450" marR="91450" marT="45725" marB="45725">
                    <a:lnL w="9525" cap="flat" cmpd="sng">
                      <a:solidFill>
                        <a:srgbClr val="CBD5E1"/>
                      </a:solidFill>
                      <a:prstDash val="solid"/>
                      <a:round/>
                      <a:headEnd type="none" w="sm" len="sm"/>
                      <a:tailEnd type="none" w="sm" len="sm"/>
                    </a:lnL>
                    <a:lnR w="9525" cap="flat" cmpd="sng">
                      <a:solidFill>
                        <a:srgbClr val="CBD5E1"/>
                      </a:solidFill>
                      <a:prstDash val="solid"/>
                      <a:round/>
                      <a:headEnd type="none" w="sm" len="sm"/>
                      <a:tailEnd type="none" w="sm" len="sm"/>
                    </a:lnR>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solidFill>
                      <a:schemeClr val="tx1"/>
                    </a:solidFill>
                  </a:tcPr>
                </a:tc>
                <a:extLst>
                  <a:ext uri="{0D108BD9-81ED-4DB2-BD59-A6C34878D82A}">
                    <a16:rowId xmlns:a16="http://schemas.microsoft.com/office/drawing/2014/main" val="10005"/>
                  </a:ext>
                </a:extLst>
              </a:tr>
              <a:tr h="566925">
                <a:tc>
                  <a:txBody>
                    <a:bodyPr/>
                    <a:lstStyle/>
                    <a:p>
                      <a:pPr marL="0" marR="0" lvl="0" indent="0" algn="l" rtl="0">
                        <a:spcBef>
                          <a:spcPts val="0"/>
                        </a:spcBef>
                        <a:spcAft>
                          <a:spcPts val="0"/>
                        </a:spcAft>
                        <a:buClr>
                          <a:srgbClr val="000000"/>
                        </a:buClr>
                        <a:buSzPts val="900"/>
                        <a:buFont typeface="Calibri"/>
                        <a:buNone/>
                      </a:pPr>
                      <a:r>
                        <a:rPr lang="en-US" sz="900" b="1" u="none" strike="noStrike" cap="none" dirty="0">
                          <a:solidFill>
                            <a:srgbClr val="000000"/>
                          </a:solidFill>
                        </a:rPr>
                        <a:t>SMB Fit</a:t>
                      </a:r>
                      <a:endParaRPr sz="900" u="none" strike="noStrike" cap="none" dirty="0"/>
                    </a:p>
                  </a:txBody>
                  <a:tcPr marL="91450" marR="91450" marT="45725" marB="45725">
                    <a:lnL w="9525" cap="flat" cmpd="sng">
                      <a:solidFill>
                        <a:srgbClr val="CBD5E1"/>
                      </a:solidFill>
                      <a:prstDash val="solid"/>
                      <a:round/>
                      <a:headEnd type="none" w="sm" len="sm"/>
                      <a:tailEnd type="none" w="sm" len="sm"/>
                    </a:lnL>
                    <a:lnR w="9525" cap="flat" cmpd="sng">
                      <a:solidFill>
                        <a:srgbClr val="CBD5E1"/>
                      </a:solidFill>
                      <a:prstDash val="solid"/>
                      <a:round/>
                      <a:headEnd type="none" w="sm" len="sm"/>
                      <a:tailEnd type="none" w="sm" len="sm"/>
                    </a:lnR>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solidFill>
                      <a:srgbClr val="F1F5F9"/>
                    </a:solidFill>
                  </a:tcPr>
                </a:tc>
                <a:tc>
                  <a:txBody>
                    <a:bodyPr/>
                    <a:lstStyle/>
                    <a:p>
                      <a:pPr marL="0" marR="0" lvl="0" indent="0" algn="ctr" rtl="0">
                        <a:spcBef>
                          <a:spcPts val="0"/>
                        </a:spcBef>
                        <a:spcAft>
                          <a:spcPts val="0"/>
                        </a:spcAft>
                        <a:buClr>
                          <a:srgbClr val="DC2626"/>
                        </a:buClr>
                        <a:buSzPts val="900"/>
                        <a:buFont typeface="Calibri"/>
                        <a:buNone/>
                      </a:pPr>
                      <a:r>
                        <a:rPr lang="en-US" sz="900" u="none" strike="noStrike" cap="none" dirty="0">
                          <a:solidFill>
                            <a:srgbClr val="DC2626"/>
                          </a:solidFill>
                        </a:rPr>
                        <a:t>✗ Over-engineered</a:t>
                      </a:r>
                      <a:endParaRPr sz="900" u="none" strike="noStrike" cap="none" dirty="0"/>
                    </a:p>
                    <a:p>
                      <a:pPr marL="0" marR="0" lvl="0" indent="0" algn="ctr" rtl="0">
                        <a:spcBef>
                          <a:spcPts val="0"/>
                        </a:spcBef>
                        <a:spcAft>
                          <a:spcPts val="0"/>
                        </a:spcAft>
                        <a:buClr>
                          <a:srgbClr val="DC2626"/>
                        </a:buClr>
                        <a:buSzPts val="900"/>
                        <a:buFont typeface="Calibri"/>
                        <a:buNone/>
                      </a:pPr>
                      <a:r>
                        <a:rPr lang="en-US" sz="900" u="none" strike="noStrike" cap="none" dirty="0">
                          <a:solidFill>
                            <a:srgbClr val="DC2626"/>
                          </a:solidFill>
                        </a:rPr>
                        <a:t>for 3 servers</a:t>
                      </a:r>
                      <a:endParaRPr sz="900" u="none" strike="noStrike" cap="none" dirty="0"/>
                    </a:p>
                  </a:txBody>
                  <a:tcPr marL="91450" marR="91450" marT="45725" marB="45725">
                    <a:lnL w="9525" cap="flat" cmpd="sng">
                      <a:solidFill>
                        <a:srgbClr val="CBD5E1"/>
                      </a:solidFill>
                      <a:prstDash val="solid"/>
                      <a:round/>
                      <a:headEnd type="none" w="sm" len="sm"/>
                      <a:tailEnd type="none" w="sm" len="sm"/>
                    </a:lnL>
                    <a:lnR w="9525" cap="flat" cmpd="sng">
                      <a:solidFill>
                        <a:srgbClr val="CBD5E1"/>
                      </a:solidFill>
                      <a:prstDash val="solid"/>
                      <a:round/>
                      <a:headEnd type="none" w="sm" len="sm"/>
                      <a:tailEnd type="none" w="sm" len="sm"/>
                    </a:lnR>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solidFill>
                      <a:schemeClr val="tx1"/>
                    </a:solidFill>
                  </a:tcPr>
                </a:tc>
                <a:tc>
                  <a:txBody>
                    <a:bodyPr/>
                    <a:lstStyle/>
                    <a:p>
                      <a:pPr marL="0" marR="0" lvl="0" indent="0" algn="ctr" rtl="0">
                        <a:spcBef>
                          <a:spcPts val="0"/>
                        </a:spcBef>
                        <a:spcAft>
                          <a:spcPts val="0"/>
                        </a:spcAft>
                        <a:buClr>
                          <a:srgbClr val="D97706"/>
                        </a:buClr>
                        <a:buSzPts val="900"/>
                        <a:buFont typeface="Calibri"/>
                        <a:buNone/>
                      </a:pPr>
                      <a:r>
                        <a:rPr lang="en-US" sz="900" u="none" strike="noStrike" cap="none" dirty="0">
                          <a:solidFill>
                            <a:srgbClr val="D97706"/>
                          </a:solidFill>
                        </a:rPr>
                        <a:t>~ Acceptable if</a:t>
                      </a:r>
                      <a:endParaRPr sz="900" u="none" strike="noStrike" cap="none" dirty="0"/>
                    </a:p>
                    <a:p>
                      <a:pPr marL="0" marR="0" lvl="0" indent="0" algn="ctr" rtl="0">
                        <a:spcBef>
                          <a:spcPts val="0"/>
                        </a:spcBef>
                        <a:spcAft>
                          <a:spcPts val="0"/>
                        </a:spcAft>
                        <a:buClr>
                          <a:srgbClr val="D97706"/>
                        </a:buClr>
                        <a:buSzPts val="900"/>
                        <a:buFont typeface="Calibri"/>
                        <a:buNone/>
                      </a:pPr>
                      <a:r>
                        <a:rPr lang="en-US" sz="900" u="none" strike="noStrike" cap="none" dirty="0">
                          <a:solidFill>
                            <a:srgbClr val="D97706"/>
                          </a:solidFill>
                        </a:rPr>
                        <a:t>already Windows-heavy</a:t>
                      </a:r>
                      <a:endParaRPr sz="900" u="none" strike="noStrike" cap="none" dirty="0"/>
                    </a:p>
                  </a:txBody>
                  <a:tcPr marL="91450" marR="91450" marT="45725" marB="45725">
                    <a:lnL w="9525" cap="flat" cmpd="sng">
                      <a:solidFill>
                        <a:srgbClr val="CBD5E1"/>
                      </a:solidFill>
                      <a:prstDash val="solid"/>
                      <a:round/>
                      <a:headEnd type="none" w="sm" len="sm"/>
                      <a:tailEnd type="none" w="sm" len="sm"/>
                    </a:lnL>
                    <a:lnR w="9525" cap="flat" cmpd="sng">
                      <a:solidFill>
                        <a:srgbClr val="CBD5E1"/>
                      </a:solidFill>
                      <a:prstDash val="solid"/>
                      <a:round/>
                      <a:headEnd type="none" w="sm" len="sm"/>
                      <a:tailEnd type="none" w="sm" len="sm"/>
                    </a:lnR>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solidFill>
                      <a:schemeClr val="tx1"/>
                    </a:solidFill>
                  </a:tcPr>
                </a:tc>
                <a:tc>
                  <a:txBody>
                    <a:bodyPr/>
                    <a:lstStyle/>
                    <a:p>
                      <a:pPr marL="0" marR="0" lvl="0" indent="0" algn="ctr" rtl="0">
                        <a:spcBef>
                          <a:spcPts val="0"/>
                        </a:spcBef>
                        <a:spcAft>
                          <a:spcPts val="0"/>
                        </a:spcAft>
                        <a:buClr>
                          <a:srgbClr val="16A34A"/>
                        </a:buClr>
                        <a:buSzPts val="900"/>
                        <a:buFont typeface="Calibri"/>
                        <a:buNone/>
                      </a:pPr>
                      <a:r>
                        <a:rPr lang="en-US" sz="900" b="1" u="none" strike="noStrike" cap="none" dirty="0">
                          <a:solidFill>
                            <a:srgbClr val="16A34A"/>
                          </a:solidFill>
                        </a:rPr>
                        <a:t>✓ Purpose-built</a:t>
                      </a:r>
                      <a:endParaRPr sz="900" u="none" strike="noStrike" cap="none" dirty="0"/>
                    </a:p>
                    <a:p>
                      <a:pPr marL="0" marR="0" lvl="0" indent="0" algn="ctr" rtl="0">
                        <a:spcBef>
                          <a:spcPts val="0"/>
                        </a:spcBef>
                        <a:spcAft>
                          <a:spcPts val="0"/>
                        </a:spcAft>
                        <a:buClr>
                          <a:srgbClr val="16A34A"/>
                        </a:buClr>
                        <a:buSzPts val="900"/>
                        <a:buFont typeface="Calibri"/>
                        <a:buNone/>
                      </a:pPr>
                      <a:r>
                        <a:rPr lang="en-US" sz="900" b="1" u="none" strike="noStrike" cap="none" dirty="0">
                          <a:solidFill>
                            <a:srgbClr val="16A34A"/>
                          </a:solidFill>
                        </a:rPr>
                        <a:t>for this scenario</a:t>
                      </a:r>
                      <a:endParaRPr sz="900" u="none" strike="noStrike" cap="none" dirty="0"/>
                    </a:p>
                  </a:txBody>
                  <a:tcPr marL="91450" marR="91450" marT="45725" marB="45725">
                    <a:lnL w="9525" cap="flat" cmpd="sng">
                      <a:solidFill>
                        <a:srgbClr val="CBD5E1"/>
                      </a:solidFill>
                      <a:prstDash val="solid"/>
                      <a:round/>
                      <a:headEnd type="none" w="sm" len="sm"/>
                      <a:tailEnd type="none" w="sm" len="sm"/>
                    </a:lnL>
                    <a:lnR w="9525" cap="flat" cmpd="sng">
                      <a:solidFill>
                        <a:srgbClr val="CBD5E1"/>
                      </a:solidFill>
                      <a:prstDash val="solid"/>
                      <a:round/>
                      <a:headEnd type="none" w="sm" len="sm"/>
                      <a:tailEnd type="none" w="sm" len="sm"/>
                    </a:lnR>
                    <a:lnT w="9525" cap="flat" cmpd="sng">
                      <a:solidFill>
                        <a:srgbClr val="CBD5E1"/>
                      </a:solidFill>
                      <a:prstDash val="solid"/>
                      <a:round/>
                      <a:headEnd type="none" w="sm" len="sm"/>
                      <a:tailEnd type="none" w="sm" len="sm"/>
                    </a:lnT>
                    <a:lnB w="9525" cap="flat" cmpd="sng">
                      <a:solidFill>
                        <a:srgbClr val="CBD5E1"/>
                      </a:solidFill>
                      <a:prstDash val="solid"/>
                      <a:round/>
                      <a:headEnd type="none" w="sm" len="sm"/>
                      <a:tailEnd type="none" w="sm" len="sm"/>
                    </a:lnB>
                    <a:solidFill>
                      <a:schemeClr val="tx1"/>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6"/>
          <p:cNvSpPr/>
          <p:nvPr/>
        </p:nvSpPr>
        <p:spPr>
          <a:xfrm>
            <a:off x="0" y="0"/>
            <a:ext cx="164592" cy="5143500"/>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133" name="Google Shape;133;p6"/>
          <p:cNvSpPr/>
          <p:nvPr/>
        </p:nvSpPr>
        <p:spPr>
          <a:xfrm>
            <a:off x="411480" y="365760"/>
            <a:ext cx="841248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4B8A6"/>
              </a:buClr>
              <a:buSzPts val="1200"/>
              <a:buFont typeface="Calibri"/>
              <a:buNone/>
            </a:pPr>
            <a:r>
              <a:rPr lang="en-US" sz="1200" b="1" dirty="0">
                <a:solidFill>
                  <a:srgbClr val="14B8A6"/>
                </a:solidFill>
                <a:latin typeface="Calibri"/>
                <a:ea typeface="Calibri"/>
                <a:cs typeface="Calibri"/>
                <a:sym typeface="Calibri"/>
              </a:rPr>
              <a:t>Recommended Solution:</a:t>
            </a:r>
            <a:endParaRPr sz="1200" dirty="0">
              <a:solidFill>
                <a:schemeClr val="dk1"/>
              </a:solidFill>
              <a:latin typeface="Calibri"/>
              <a:ea typeface="Calibri"/>
              <a:cs typeface="Calibri"/>
              <a:sym typeface="Calibri"/>
            </a:endParaRPr>
          </a:p>
        </p:txBody>
      </p:sp>
      <p:sp>
        <p:nvSpPr>
          <p:cNvPr id="134" name="Google Shape;134;p6"/>
          <p:cNvSpPr/>
          <p:nvPr/>
        </p:nvSpPr>
        <p:spPr>
          <a:xfrm>
            <a:off x="411480" y="777240"/>
            <a:ext cx="8412480" cy="8229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4400"/>
              <a:buFont typeface="Calibri"/>
              <a:buNone/>
            </a:pPr>
            <a:r>
              <a:rPr lang="en-US" sz="4400" b="1" dirty="0">
                <a:solidFill>
                  <a:srgbClr val="FFFFFF"/>
                </a:solidFill>
                <a:latin typeface="Calibri"/>
                <a:ea typeface="Calibri"/>
                <a:cs typeface="Calibri"/>
                <a:sym typeface="Calibri"/>
              </a:rPr>
              <a:t>Proxmox VE</a:t>
            </a:r>
            <a:endParaRPr sz="4400" dirty="0">
              <a:solidFill>
                <a:schemeClr val="dk1"/>
              </a:solidFill>
              <a:latin typeface="Calibri"/>
              <a:ea typeface="Calibri"/>
              <a:cs typeface="Calibri"/>
              <a:sym typeface="Calibri"/>
            </a:endParaRPr>
          </a:p>
        </p:txBody>
      </p:sp>
      <p:sp>
        <p:nvSpPr>
          <p:cNvPr id="135" name="Google Shape;135;p6"/>
          <p:cNvSpPr/>
          <p:nvPr/>
        </p:nvSpPr>
        <p:spPr>
          <a:xfrm>
            <a:off x="411480" y="1600200"/>
            <a:ext cx="3200400" cy="45720"/>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136" name="Google Shape;136;p6"/>
          <p:cNvSpPr/>
          <p:nvPr/>
        </p:nvSpPr>
        <p:spPr>
          <a:xfrm>
            <a:off x="411480" y="1737360"/>
            <a:ext cx="832104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E2E8F0"/>
              </a:buClr>
              <a:buSzPts val="1400"/>
              <a:buFont typeface="Calibri"/>
              <a:buNone/>
            </a:pPr>
            <a:r>
              <a:rPr lang="en-US" sz="1400" dirty="0">
                <a:solidFill>
                  <a:srgbClr val="E2E8F0"/>
                </a:solidFill>
                <a:latin typeface="Calibri"/>
                <a:ea typeface="Calibri"/>
                <a:cs typeface="Calibri"/>
                <a:sym typeface="Calibri"/>
              </a:rPr>
              <a:t>The ideal Type 1 hypervisor for a 3-server, 10-client small business environment.</a:t>
            </a:r>
            <a:endParaRPr sz="1400" dirty="0">
              <a:solidFill>
                <a:schemeClr val="dk1"/>
              </a:solidFill>
              <a:latin typeface="Calibri"/>
              <a:ea typeface="Calibri"/>
              <a:cs typeface="Calibri"/>
              <a:sym typeface="Calibri"/>
            </a:endParaRPr>
          </a:p>
        </p:txBody>
      </p:sp>
      <p:sp>
        <p:nvSpPr>
          <p:cNvPr id="137" name="Google Shape;137;p6"/>
          <p:cNvSpPr/>
          <p:nvPr/>
        </p:nvSpPr>
        <p:spPr>
          <a:xfrm>
            <a:off x="411480" y="2377440"/>
            <a:ext cx="4114800" cy="1097280"/>
          </a:xfrm>
          <a:prstGeom prst="rect">
            <a:avLst/>
          </a:prstGeom>
          <a:solidFill>
            <a:srgbClr val="1E3A5F"/>
          </a:solidFill>
          <a:ln w="12700" cap="flat" cmpd="sng">
            <a:solidFill>
              <a:srgbClr val="2D548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138" name="Google Shape;138;p6"/>
          <p:cNvSpPr/>
          <p:nvPr/>
        </p:nvSpPr>
        <p:spPr>
          <a:xfrm>
            <a:off x="411480" y="2377440"/>
            <a:ext cx="73152" cy="1097280"/>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139" name="Google Shape;139;p6"/>
          <p:cNvSpPr/>
          <p:nvPr/>
        </p:nvSpPr>
        <p:spPr>
          <a:xfrm>
            <a:off x="594360" y="2450592"/>
            <a:ext cx="374904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4B8A6"/>
              </a:buClr>
              <a:buSzPts val="1100"/>
              <a:buFont typeface="Calibri"/>
              <a:buNone/>
            </a:pPr>
            <a:r>
              <a:rPr lang="en-US" sz="1100" b="1" dirty="0">
                <a:solidFill>
                  <a:srgbClr val="14B8A6"/>
                </a:solidFill>
                <a:latin typeface="Calibri"/>
                <a:ea typeface="Calibri"/>
                <a:cs typeface="Calibri"/>
                <a:sym typeface="Calibri"/>
              </a:rPr>
              <a:t>Zero Licensing Cost</a:t>
            </a:r>
            <a:endParaRPr sz="1100" dirty="0">
              <a:solidFill>
                <a:schemeClr val="dk1"/>
              </a:solidFill>
              <a:latin typeface="Calibri"/>
              <a:ea typeface="Calibri"/>
              <a:cs typeface="Calibri"/>
              <a:sym typeface="Calibri"/>
            </a:endParaRPr>
          </a:p>
        </p:txBody>
      </p:sp>
      <p:sp>
        <p:nvSpPr>
          <p:cNvPr id="140" name="Google Shape;140;p6"/>
          <p:cNvSpPr/>
          <p:nvPr/>
        </p:nvSpPr>
        <p:spPr>
          <a:xfrm>
            <a:off x="594360" y="2761488"/>
            <a:ext cx="3749040" cy="64008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E2E8F0"/>
              </a:buClr>
              <a:buSzPts val="950"/>
              <a:buFont typeface="Calibri"/>
              <a:buNone/>
            </a:pPr>
            <a:r>
              <a:rPr lang="en-US" sz="950" dirty="0">
                <a:solidFill>
                  <a:srgbClr val="E2E8F0"/>
                </a:solidFill>
                <a:latin typeface="Calibri"/>
                <a:ea typeface="Calibri"/>
                <a:cs typeface="Calibri"/>
                <a:sym typeface="Calibri"/>
              </a:rPr>
              <a:t>No per-socket or per-VM fees. Proxmox VE is 100% open-source under AGPLv3. Paid enterprise support subscriptions are optional — perfect for tight SMB budgets.</a:t>
            </a:r>
            <a:endParaRPr sz="950" dirty="0">
              <a:solidFill>
                <a:schemeClr val="dk1"/>
              </a:solidFill>
              <a:latin typeface="Calibri"/>
              <a:ea typeface="Calibri"/>
              <a:cs typeface="Calibri"/>
              <a:sym typeface="Calibri"/>
            </a:endParaRPr>
          </a:p>
        </p:txBody>
      </p:sp>
      <p:sp>
        <p:nvSpPr>
          <p:cNvPr id="141" name="Google Shape;141;p6"/>
          <p:cNvSpPr/>
          <p:nvPr/>
        </p:nvSpPr>
        <p:spPr>
          <a:xfrm>
            <a:off x="4800600" y="2377440"/>
            <a:ext cx="4114800" cy="1097280"/>
          </a:xfrm>
          <a:prstGeom prst="rect">
            <a:avLst/>
          </a:prstGeom>
          <a:solidFill>
            <a:srgbClr val="1E3A5F"/>
          </a:solidFill>
          <a:ln w="12700" cap="flat" cmpd="sng">
            <a:solidFill>
              <a:srgbClr val="2D548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142" name="Google Shape;142;p6"/>
          <p:cNvSpPr/>
          <p:nvPr/>
        </p:nvSpPr>
        <p:spPr>
          <a:xfrm>
            <a:off x="4800600" y="2377440"/>
            <a:ext cx="73152" cy="1097280"/>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143" name="Google Shape;143;p6"/>
          <p:cNvSpPr/>
          <p:nvPr/>
        </p:nvSpPr>
        <p:spPr>
          <a:xfrm>
            <a:off x="4983480" y="2450592"/>
            <a:ext cx="374904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4B8A6"/>
              </a:buClr>
              <a:buSzPts val="1100"/>
              <a:buFont typeface="Calibri"/>
              <a:buNone/>
            </a:pPr>
            <a:r>
              <a:rPr lang="en-US" sz="1100" b="1" dirty="0">
                <a:solidFill>
                  <a:srgbClr val="14B8A6"/>
                </a:solidFill>
                <a:latin typeface="Calibri"/>
                <a:ea typeface="Calibri"/>
                <a:cs typeface="Calibri"/>
                <a:sym typeface="Calibri"/>
              </a:rPr>
              <a:t>All Features Included Free</a:t>
            </a:r>
            <a:endParaRPr sz="1100" dirty="0">
              <a:solidFill>
                <a:schemeClr val="dk1"/>
              </a:solidFill>
              <a:latin typeface="Calibri"/>
              <a:ea typeface="Calibri"/>
              <a:cs typeface="Calibri"/>
              <a:sym typeface="Calibri"/>
            </a:endParaRPr>
          </a:p>
        </p:txBody>
      </p:sp>
      <p:sp>
        <p:nvSpPr>
          <p:cNvPr id="144" name="Google Shape;144;p6"/>
          <p:cNvSpPr/>
          <p:nvPr/>
        </p:nvSpPr>
        <p:spPr>
          <a:xfrm>
            <a:off x="4983480" y="2761488"/>
            <a:ext cx="3749040" cy="64008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E2E8F0"/>
              </a:buClr>
              <a:buSzPts val="950"/>
              <a:buFont typeface="Calibri"/>
              <a:buNone/>
            </a:pPr>
            <a:r>
              <a:rPr lang="en-US" sz="950" dirty="0">
                <a:solidFill>
                  <a:srgbClr val="E2E8F0"/>
                </a:solidFill>
                <a:latin typeface="Calibri"/>
                <a:ea typeface="Calibri"/>
                <a:cs typeface="Calibri"/>
                <a:sym typeface="Calibri"/>
              </a:rPr>
              <a:t>Live migration, HA clustering, backup, Ceph distributed storage, ZFS, and LXC containers all come built-in — no add-on packs or upsells.</a:t>
            </a:r>
            <a:endParaRPr sz="950" dirty="0">
              <a:solidFill>
                <a:schemeClr val="dk1"/>
              </a:solidFill>
              <a:latin typeface="Calibri"/>
              <a:ea typeface="Calibri"/>
              <a:cs typeface="Calibri"/>
              <a:sym typeface="Calibri"/>
            </a:endParaRPr>
          </a:p>
        </p:txBody>
      </p:sp>
      <p:sp>
        <p:nvSpPr>
          <p:cNvPr id="145" name="Google Shape;145;p6"/>
          <p:cNvSpPr/>
          <p:nvPr/>
        </p:nvSpPr>
        <p:spPr>
          <a:xfrm>
            <a:off x="411480" y="3657600"/>
            <a:ext cx="4114800" cy="1097280"/>
          </a:xfrm>
          <a:prstGeom prst="rect">
            <a:avLst/>
          </a:prstGeom>
          <a:solidFill>
            <a:srgbClr val="1E3A5F"/>
          </a:solidFill>
          <a:ln w="12700" cap="flat" cmpd="sng">
            <a:solidFill>
              <a:srgbClr val="2D548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146" name="Google Shape;146;p6"/>
          <p:cNvSpPr/>
          <p:nvPr/>
        </p:nvSpPr>
        <p:spPr>
          <a:xfrm>
            <a:off x="411480" y="3657600"/>
            <a:ext cx="73152" cy="1097280"/>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147" name="Google Shape;147;p6"/>
          <p:cNvSpPr/>
          <p:nvPr/>
        </p:nvSpPr>
        <p:spPr>
          <a:xfrm>
            <a:off x="594360" y="3730752"/>
            <a:ext cx="374904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4B8A6"/>
              </a:buClr>
              <a:buSzPts val="1100"/>
              <a:buFont typeface="Calibri"/>
              <a:buNone/>
            </a:pPr>
            <a:r>
              <a:rPr lang="en-US" sz="1100" b="1" dirty="0">
                <a:solidFill>
                  <a:srgbClr val="14B8A6"/>
                </a:solidFill>
                <a:latin typeface="Calibri"/>
                <a:ea typeface="Calibri"/>
                <a:cs typeface="Calibri"/>
                <a:sym typeface="Calibri"/>
              </a:rPr>
              <a:t>Simple Web-Based Management</a:t>
            </a:r>
            <a:endParaRPr sz="1100" dirty="0">
              <a:solidFill>
                <a:schemeClr val="dk1"/>
              </a:solidFill>
              <a:latin typeface="Calibri"/>
              <a:ea typeface="Calibri"/>
              <a:cs typeface="Calibri"/>
              <a:sym typeface="Calibri"/>
            </a:endParaRPr>
          </a:p>
        </p:txBody>
      </p:sp>
      <p:sp>
        <p:nvSpPr>
          <p:cNvPr id="148" name="Google Shape;148;p6"/>
          <p:cNvSpPr/>
          <p:nvPr/>
        </p:nvSpPr>
        <p:spPr>
          <a:xfrm>
            <a:off x="594360" y="4041648"/>
            <a:ext cx="3749040" cy="64008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E2E8F0"/>
              </a:buClr>
              <a:buSzPts val="950"/>
              <a:buFont typeface="Calibri"/>
              <a:buNone/>
            </a:pPr>
            <a:r>
              <a:rPr lang="en-US" sz="950" dirty="0">
                <a:solidFill>
                  <a:srgbClr val="E2E8F0"/>
                </a:solidFill>
                <a:latin typeface="Calibri"/>
                <a:ea typeface="Calibri"/>
                <a:cs typeface="Calibri"/>
                <a:sym typeface="Calibri"/>
              </a:rPr>
              <a:t>The built-in web UI allows full management of VMs, containers, storage, and networking from a browser — no additional management server needed.</a:t>
            </a:r>
            <a:endParaRPr sz="950" dirty="0">
              <a:solidFill>
                <a:schemeClr val="dk1"/>
              </a:solidFill>
              <a:latin typeface="Calibri"/>
              <a:ea typeface="Calibri"/>
              <a:cs typeface="Calibri"/>
              <a:sym typeface="Calibri"/>
            </a:endParaRPr>
          </a:p>
        </p:txBody>
      </p:sp>
      <p:sp>
        <p:nvSpPr>
          <p:cNvPr id="149" name="Google Shape;149;p6"/>
          <p:cNvSpPr/>
          <p:nvPr/>
        </p:nvSpPr>
        <p:spPr>
          <a:xfrm>
            <a:off x="4800600" y="3657600"/>
            <a:ext cx="4114800" cy="1097280"/>
          </a:xfrm>
          <a:prstGeom prst="rect">
            <a:avLst/>
          </a:prstGeom>
          <a:solidFill>
            <a:srgbClr val="1E3A5F"/>
          </a:solidFill>
          <a:ln w="12700" cap="flat" cmpd="sng">
            <a:solidFill>
              <a:srgbClr val="2D548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150" name="Google Shape;150;p6"/>
          <p:cNvSpPr/>
          <p:nvPr/>
        </p:nvSpPr>
        <p:spPr>
          <a:xfrm>
            <a:off x="4800600" y="3657600"/>
            <a:ext cx="73152" cy="1097280"/>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151" name="Google Shape;151;p6"/>
          <p:cNvSpPr/>
          <p:nvPr/>
        </p:nvSpPr>
        <p:spPr>
          <a:xfrm>
            <a:off x="4983480" y="3730752"/>
            <a:ext cx="374904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4B8A6"/>
              </a:buClr>
              <a:buSzPts val="1100"/>
              <a:buFont typeface="Calibri"/>
              <a:buNone/>
            </a:pPr>
            <a:r>
              <a:rPr lang="en-US" sz="1100" b="1" dirty="0">
                <a:solidFill>
                  <a:srgbClr val="14B8A6"/>
                </a:solidFill>
                <a:latin typeface="Calibri"/>
                <a:ea typeface="Calibri"/>
                <a:cs typeface="Calibri"/>
                <a:sym typeface="Calibri"/>
              </a:rPr>
              <a:t>Scales With the Business</a:t>
            </a:r>
            <a:endParaRPr sz="1100" dirty="0">
              <a:solidFill>
                <a:schemeClr val="dk1"/>
              </a:solidFill>
              <a:latin typeface="Calibri"/>
              <a:ea typeface="Calibri"/>
              <a:cs typeface="Calibri"/>
              <a:sym typeface="Calibri"/>
            </a:endParaRPr>
          </a:p>
        </p:txBody>
      </p:sp>
      <p:sp>
        <p:nvSpPr>
          <p:cNvPr id="152" name="Google Shape;152;p6"/>
          <p:cNvSpPr/>
          <p:nvPr/>
        </p:nvSpPr>
        <p:spPr>
          <a:xfrm>
            <a:off x="4983480" y="4041648"/>
            <a:ext cx="3749040" cy="64008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E2E8F0"/>
              </a:buClr>
              <a:buSzPts val="950"/>
              <a:buFont typeface="Calibri"/>
              <a:buNone/>
            </a:pPr>
            <a:r>
              <a:rPr lang="en-US" sz="950" dirty="0">
                <a:solidFill>
                  <a:srgbClr val="E2E8F0"/>
                </a:solidFill>
                <a:latin typeface="Calibri"/>
                <a:ea typeface="Calibri"/>
                <a:cs typeface="Calibri"/>
                <a:sym typeface="Calibri"/>
              </a:rPr>
              <a:t>Start with 3 nodes; expand later. Proxmox clusters seamlessly as the business grows, without license cost spikes.</a:t>
            </a:r>
            <a:endParaRPr sz="950" dirty="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1B28F63-CF00-448F-B141-FE33C33B18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002263"/>
            <a:ext cx="3027759" cy="3141237"/>
          </a:xfrm>
          <a:prstGeom prst="rect">
            <a:avLst/>
          </a:prstGeom>
        </p:spPr>
      </p:pic>
      <p:pic>
        <p:nvPicPr>
          <p:cNvPr id="12" name="Picture 11">
            <a:extLst>
              <a:ext uri="{FF2B5EF4-FFF2-40B4-BE49-F238E27FC236}">
                <a16:creationId xmlns:a16="http://schemas.microsoft.com/office/drawing/2014/main" id="{2AE609E2-8522-44E4-9077-980E5BCF3E1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169260"/>
            <a:ext cx="1141809" cy="1774090"/>
          </a:xfrm>
          <a:prstGeom prst="rect">
            <a:avLst/>
          </a:prstGeom>
        </p:spPr>
      </p:pic>
      <p:sp>
        <p:nvSpPr>
          <p:cNvPr id="14" name="Oval 13">
            <a:extLst>
              <a:ext uri="{FF2B5EF4-FFF2-40B4-BE49-F238E27FC236}">
                <a16:creationId xmlns:a16="http://schemas.microsoft.com/office/drawing/2014/main" id="{4FA533C5-33E3-4611-AF9F-72811D8B26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6759" y="1257300"/>
            <a:ext cx="2114550" cy="211455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pic>
        <p:nvPicPr>
          <p:cNvPr id="16" name="Picture 15">
            <a:extLst>
              <a:ext uri="{FF2B5EF4-FFF2-40B4-BE49-F238E27FC236}">
                <a16:creationId xmlns:a16="http://schemas.microsoft.com/office/drawing/2014/main" id="{8949AD42-25FD-4C3D-9EEE-B7FEC580998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5999559" y="0"/>
            <a:ext cx="1202540" cy="856055"/>
          </a:xfrm>
          <a:prstGeom prst="rect">
            <a:avLst/>
          </a:prstGeom>
        </p:spPr>
      </p:pic>
      <p:pic>
        <p:nvPicPr>
          <p:cNvPr id="18" name="Picture 17">
            <a:extLst>
              <a:ext uri="{FF2B5EF4-FFF2-40B4-BE49-F238E27FC236}">
                <a16:creationId xmlns:a16="http://schemas.microsoft.com/office/drawing/2014/main" id="{6AC7D913-60B7-4603-881B-831DA5D3A94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6454408" y="4572000"/>
            <a:ext cx="745301" cy="571500"/>
          </a:xfrm>
          <a:prstGeom prst="rect">
            <a:avLst/>
          </a:prstGeom>
        </p:spPr>
      </p:pic>
      <p:sp>
        <p:nvSpPr>
          <p:cNvPr id="20" name="Rectangle 19">
            <a:extLst>
              <a:ext uri="{FF2B5EF4-FFF2-40B4-BE49-F238E27FC236}">
                <a16:creationId xmlns:a16="http://schemas.microsoft.com/office/drawing/2014/main" id="{87F0FDC4-AD8C-47D9-9131-623C98ADB0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2" name="Rectangle 21">
            <a:extLst>
              <a:ext uri="{FF2B5EF4-FFF2-40B4-BE49-F238E27FC236}">
                <a16:creationId xmlns:a16="http://schemas.microsoft.com/office/drawing/2014/main" id="{74CD14DB-BB81-479F-A1FC-1C75640E9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24" name="Rectangle 23">
            <a:extLst>
              <a:ext uri="{FF2B5EF4-FFF2-40B4-BE49-F238E27FC236}">
                <a16:creationId xmlns:a16="http://schemas.microsoft.com/office/drawing/2014/main" id="{C943A91B-7CA7-4592-A975-73B1BF8C4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6" name="Freeform 7">
            <a:extLst>
              <a:ext uri="{FF2B5EF4-FFF2-40B4-BE49-F238E27FC236}">
                <a16:creationId xmlns:a16="http://schemas.microsoft.com/office/drawing/2014/main" id="{EC471314-E46A-414B-8D91-74880E84F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39954" y="1095172"/>
            <a:ext cx="2604045" cy="619449"/>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useBgFill="1">
        <p:nvSpPr>
          <p:cNvPr id="28" name="Freeform: Shape 27">
            <a:extLst>
              <a:ext uri="{FF2B5EF4-FFF2-40B4-BE49-F238E27FC236}">
                <a16:creationId xmlns:a16="http://schemas.microsoft.com/office/drawing/2014/main" id="{6A681326-1C9D-44A3-A627-3871BDAE4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321550"/>
            <a:ext cx="9144313" cy="3821950"/>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US" dirty="0"/>
          </a:p>
        </p:txBody>
      </p:sp>
      <p:sp>
        <p:nvSpPr>
          <p:cNvPr id="2" name="TextBox 1">
            <a:extLst>
              <a:ext uri="{FF2B5EF4-FFF2-40B4-BE49-F238E27FC236}">
                <a16:creationId xmlns:a16="http://schemas.microsoft.com/office/drawing/2014/main" id="{BAC589EC-7ACB-A09F-81A8-B089BFBB39F8}"/>
              </a:ext>
            </a:extLst>
          </p:cNvPr>
          <p:cNvSpPr txBox="1"/>
          <p:nvPr/>
        </p:nvSpPr>
        <p:spPr>
          <a:xfrm>
            <a:off x="827484" y="339538"/>
            <a:ext cx="6710641" cy="1050398"/>
          </a:xfrm>
          <a:prstGeom prst="rect">
            <a:avLst/>
          </a:prstGeom>
        </p:spPr>
        <p:txBody>
          <a:bodyPr vert="horz" lIns="91440" tIns="45720" rIns="91440" bIns="45720" rtlCol="0" anchor="ctr">
            <a:normAutofit/>
          </a:bodyPr>
          <a:lstStyle/>
          <a:p>
            <a:pPr>
              <a:spcBef>
                <a:spcPct val="0"/>
              </a:spcBef>
              <a:spcAft>
                <a:spcPts val="600"/>
              </a:spcAft>
            </a:pPr>
            <a:r>
              <a:rPr lang="en-US" sz="4200" b="0" i="0" kern="1200" dirty="0">
                <a:solidFill>
                  <a:srgbClr val="FFFFFF"/>
                </a:solidFill>
                <a:latin typeface="+mj-lt"/>
                <a:ea typeface="+mj-ea"/>
                <a:cs typeface="+mj-cs"/>
              </a:rPr>
              <a:t>Limitations of Proxmox VE</a:t>
            </a:r>
          </a:p>
        </p:txBody>
      </p:sp>
      <p:sp>
        <p:nvSpPr>
          <p:cNvPr id="5" name="Rectangle 1">
            <a:extLst>
              <a:ext uri="{FF2B5EF4-FFF2-40B4-BE49-F238E27FC236}">
                <a16:creationId xmlns:a16="http://schemas.microsoft.com/office/drawing/2014/main" id="{A0C9395E-6F0B-D107-7F5B-E4DB22A216D7}"/>
              </a:ext>
            </a:extLst>
          </p:cNvPr>
          <p:cNvSpPr>
            <a:spLocks noChangeArrowheads="1"/>
          </p:cNvSpPr>
          <p:nvPr/>
        </p:nvSpPr>
        <p:spPr bwMode="auto">
          <a:xfrm>
            <a:off x="827484" y="1468382"/>
            <a:ext cx="6709905" cy="261365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L="285750" marR="0" lvl="0" indent="-285750" fontAlgn="base">
              <a:spcBef>
                <a:spcPts val="1000"/>
              </a:spcBef>
              <a:buClr>
                <a:schemeClr val="bg2">
                  <a:lumMod val="40000"/>
                  <a:lumOff val="60000"/>
                </a:schemeClr>
              </a:buClr>
              <a:buSzPct val="80000"/>
              <a:buFont typeface="Arial" panose="020B0604020202020204" pitchFamily="34" charset="0"/>
              <a:buChar char="•"/>
              <a:tabLst/>
            </a:pPr>
            <a:endParaRPr kumimoji="0" lang="en-US" altLang="en-US" u="none" strike="noStrike" cap="none" normalizeH="0" baseline="0" dirty="0">
              <a:ln>
                <a:noFill/>
              </a:ln>
              <a:effectLst/>
              <a:latin typeface="+mj-lt"/>
              <a:ea typeface="+mj-ea"/>
              <a:cs typeface="+mj-cs"/>
            </a:endParaRPr>
          </a:p>
          <a:p>
            <a:pPr marL="285750" indent="-285750" fontAlgn="base">
              <a:spcBef>
                <a:spcPts val="1000"/>
              </a:spcBef>
              <a:buClr>
                <a:schemeClr val="bg2">
                  <a:lumMod val="40000"/>
                  <a:lumOff val="60000"/>
                </a:schemeClr>
              </a:buClr>
              <a:buSzPct val="80000"/>
              <a:buFont typeface="Arial" panose="020B0604020202020204" pitchFamily="34" charset="0"/>
              <a:buChar char="•"/>
            </a:pPr>
            <a:r>
              <a:rPr kumimoji="0" lang="en-US" altLang="en-US" u="none" strike="noStrike" cap="none" normalizeH="0" baseline="0" dirty="0">
                <a:ln>
                  <a:noFill/>
                </a:ln>
                <a:effectLst/>
                <a:latin typeface="Calibri" panose="020F0502020204030204" pitchFamily="34" charset="0"/>
                <a:ea typeface="Calibri" panose="020F0502020204030204" pitchFamily="34" charset="0"/>
                <a:cs typeface="Calibri" panose="020F0502020204030204" pitchFamily="34" charset="0"/>
              </a:rPr>
              <a:t>Limited vendor-backed support </a:t>
            </a:r>
            <a:r>
              <a:rPr lang="en-US" altLang="en-US" dirty="0">
                <a:latin typeface="Calibri" panose="020F0502020204030204" pitchFamily="34" charset="0"/>
                <a:ea typeface="Calibri" panose="020F0502020204030204" pitchFamily="34" charset="0"/>
                <a:cs typeface="Calibri" panose="020F0502020204030204" pitchFamily="34" charset="0"/>
              </a:rPr>
              <a:t>/ Community-based troubleshooting  </a:t>
            </a:r>
          </a:p>
          <a:p>
            <a:pPr marL="285750" marR="0" lvl="0" indent="-285750" fontAlgn="base">
              <a:spcBef>
                <a:spcPts val="1000"/>
              </a:spcBef>
              <a:buClr>
                <a:schemeClr val="bg2">
                  <a:lumMod val="40000"/>
                  <a:lumOff val="60000"/>
                </a:schemeClr>
              </a:buClr>
              <a:buSzPct val="80000"/>
              <a:buFont typeface="Arial" panose="020B0604020202020204" pitchFamily="34" charset="0"/>
              <a:buChar char="•"/>
              <a:tabLst/>
            </a:pPr>
            <a:r>
              <a:rPr kumimoji="0" lang="en-US" altLang="en-US" u="none" strike="noStrike" cap="none" normalizeH="0" baseline="0" dirty="0">
                <a:ln>
                  <a:noFill/>
                </a:ln>
                <a:effectLst/>
                <a:latin typeface="Calibri" panose="020F0502020204030204" pitchFamily="34" charset="0"/>
                <a:ea typeface="Calibri" panose="020F0502020204030204" pitchFamily="34" charset="0"/>
                <a:cs typeface="Calibri" panose="020F0502020204030204" pitchFamily="34" charset="0"/>
              </a:rPr>
              <a:t>Smaller enterprise ecosystem </a:t>
            </a:r>
          </a:p>
          <a:p>
            <a:pPr marL="285750" marR="0" lvl="0" indent="-285750" fontAlgn="base">
              <a:spcBef>
                <a:spcPts val="1000"/>
              </a:spcBef>
              <a:buClr>
                <a:schemeClr val="bg2">
                  <a:lumMod val="40000"/>
                  <a:lumOff val="60000"/>
                </a:schemeClr>
              </a:buClr>
              <a:buSzPct val="80000"/>
              <a:buFont typeface="Arial" panose="020B0604020202020204" pitchFamily="34" charset="0"/>
              <a:buChar char="•"/>
              <a:tabLst/>
            </a:pPr>
            <a:r>
              <a:rPr kumimoji="0" lang="en-US" altLang="en-US" u="none" strike="noStrike" cap="none" normalizeH="0" baseline="0" dirty="0">
                <a:ln>
                  <a:noFill/>
                </a:ln>
                <a:effectLst/>
                <a:latin typeface="Calibri" panose="020F0502020204030204" pitchFamily="34" charset="0"/>
                <a:ea typeface="Calibri" panose="020F0502020204030204" pitchFamily="34" charset="0"/>
                <a:cs typeface="Calibri" panose="020F0502020204030204" pitchFamily="34" charset="0"/>
              </a:rPr>
              <a:t>Steeper learning curve for beginners (Linux-based)</a:t>
            </a:r>
          </a:p>
          <a:p>
            <a:pPr marL="285750" marR="0" lvl="0" indent="-285750" fontAlgn="base">
              <a:spcBef>
                <a:spcPts val="1000"/>
              </a:spcBef>
              <a:buClr>
                <a:schemeClr val="bg2">
                  <a:lumMod val="40000"/>
                  <a:lumOff val="60000"/>
                </a:schemeClr>
              </a:buClr>
              <a:buSzPct val="80000"/>
              <a:buFont typeface="Arial" panose="020B0604020202020204" pitchFamily="34" charset="0"/>
              <a:buChar char="•"/>
              <a:tabLst/>
            </a:pPr>
            <a:r>
              <a:rPr kumimoji="0" lang="en-US" altLang="en-US" u="none" strike="noStrike" cap="none" normalizeH="0" baseline="0" dirty="0">
                <a:ln>
                  <a:noFill/>
                </a:ln>
                <a:effectLst/>
                <a:latin typeface="Calibri" panose="020F0502020204030204" pitchFamily="34" charset="0"/>
                <a:ea typeface="Calibri" panose="020F0502020204030204" pitchFamily="34" charset="0"/>
                <a:cs typeface="Calibri" panose="020F0502020204030204" pitchFamily="34" charset="0"/>
              </a:rPr>
              <a:t>Less native integration with Microsoft tools </a:t>
            </a:r>
          </a:p>
        </p:txBody>
      </p:sp>
    </p:spTree>
    <p:extLst>
      <p:ext uri="{BB962C8B-B14F-4D97-AF65-F5344CB8AC3E}">
        <p14:creationId xmlns:p14="http://schemas.microsoft.com/office/powerpoint/2010/main" val="8365202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2" name="Text 0"/>
          <p:cNvSpPr/>
          <p:nvPr/>
        </p:nvSpPr>
        <p:spPr>
          <a:xfrm>
            <a:off x="137160" y="18288"/>
            <a:ext cx="8869680" cy="237744"/>
          </a:xfrm>
          <a:prstGeom prst="rect">
            <a:avLst/>
          </a:prstGeom>
          <a:noFill/>
          <a:ln/>
        </p:spPr>
        <p:txBody>
          <a:bodyPr wrap="square" lIns="0" tIns="0" rIns="0" bIns="0" rtlCol="0" anchor="ctr"/>
          <a:lstStyle/>
          <a:p>
            <a:pPr marL="0" indent="0" algn="ctr">
              <a:buNone/>
            </a:pPr>
            <a:r>
              <a:rPr lang="en-US" sz="1400" b="1" dirty="0">
                <a:latin typeface="Segoe UI" pitchFamily="34" charset="0"/>
                <a:ea typeface="Segoe UI" pitchFamily="34" charset="-122"/>
                <a:cs typeface="Segoe UI" pitchFamily="34" charset="-120"/>
              </a:rPr>
              <a:t>Proposed Proxmox VE Architecture</a:t>
            </a:r>
            <a:endParaRPr lang="en-US" sz="1400" dirty="0"/>
          </a:p>
        </p:txBody>
      </p:sp>
      <p:sp>
        <p:nvSpPr>
          <p:cNvPr id="3" name="Text 1"/>
          <p:cNvSpPr/>
          <p:nvPr/>
        </p:nvSpPr>
        <p:spPr>
          <a:xfrm>
            <a:off x="137160" y="237744"/>
            <a:ext cx="8869680" cy="146304"/>
          </a:xfrm>
          <a:prstGeom prst="rect">
            <a:avLst/>
          </a:prstGeom>
          <a:noFill/>
          <a:ln/>
        </p:spPr>
        <p:txBody>
          <a:bodyPr wrap="square" lIns="0" tIns="0" rIns="0" bIns="0" rtlCol="0" anchor="ctr"/>
          <a:lstStyle/>
          <a:p>
            <a:pPr marL="0" indent="0" algn="ctr">
              <a:buNone/>
            </a:pPr>
            <a:r>
              <a:rPr lang="en-US" sz="900" i="1" dirty="0">
                <a:latin typeface="Segoe UI" pitchFamily="34" charset="0"/>
                <a:ea typeface="Segoe UI" pitchFamily="34" charset="-122"/>
                <a:cs typeface="Segoe UI" pitchFamily="34" charset="-120"/>
              </a:rPr>
              <a:t>3-Node HA Cluster</a:t>
            </a:r>
            <a:endParaRPr lang="en-US" sz="900" dirty="0"/>
          </a:p>
        </p:txBody>
      </p:sp>
      <p:sp>
        <p:nvSpPr>
          <p:cNvPr id="4" name="Shape 2"/>
          <p:cNvSpPr/>
          <p:nvPr/>
        </p:nvSpPr>
        <p:spPr>
          <a:xfrm>
            <a:off x="2560320" y="429768"/>
            <a:ext cx="1828800" cy="274320"/>
          </a:xfrm>
          <a:prstGeom prst="roundRect">
            <a:avLst>
              <a:gd name="adj" fmla="val 16667"/>
            </a:avLst>
          </a:prstGeom>
          <a:solidFill>
            <a:srgbClr val="F1F5F9"/>
          </a:solidFill>
          <a:ln w="12700">
            <a:solidFill>
              <a:srgbClr val="94A3B8"/>
            </a:solidFill>
            <a:prstDash val="solid"/>
          </a:ln>
        </p:spPr>
        <p:txBody>
          <a:bodyPr/>
          <a:lstStyle/>
          <a:p>
            <a:endParaRPr lang="en-US" dirty="0"/>
          </a:p>
        </p:txBody>
      </p:sp>
      <p:sp>
        <p:nvSpPr>
          <p:cNvPr id="5" name="Text 3"/>
          <p:cNvSpPr/>
          <p:nvPr/>
        </p:nvSpPr>
        <p:spPr>
          <a:xfrm>
            <a:off x="2560320" y="429768"/>
            <a:ext cx="1828800" cy="274320"/>
          </a:xfrm>
          <a:prstGeom prst="rect">
            <a:avLst/>
          </a:prstGeom>
          <a:noFill/>
          <a:ln/>
        </p:spPr>
        <p:txBody>
          <a:bodyPr wrap="square" lIns="0" tIns="0" rIns="0" bIns="0" rtlCol="0" anchor="ctr"/>
          <a:lstStyle/>
          <a:p>
            <a:pPr marL="0" indent="0" algn="ctr">
              <a:buNone/>
            </a:pPr>
            <a:r>
              <a:rPr lang="en-US" sz="700" b="1" dirty="0">
                <a:solidFill>
                  <a:srgbClr val="334155"/>
                </a:solidFill>
                <a:latin typeface="Segoe UI" pitchFamily="34" charset="0"/>
                <a:ea typeface="Segoe UI" pitchFamily="34" charset="-122"/>
                <a:cs typeface="Segoe UI" pitchFamily="34" charset="-120"/>
              </a:rPr>
              <a:t>Client Workstations (10)</a:t>
            </a:r>
            <a:endParaRPr lang="en-US" sz="700" dirty="0"/>
          </a:p>
          <a:p>
            <a:pPr marL="0" indent="0" algn="ctr">
              <a:buNone/>
            </a:pPr>
            <a:r>
              <a:rPr lang="en-US" sz="550" dirty="0">
                <a:solidFill>
                  <a:srgbClr val="64748B"/>
                </a:solidFill>
                <a:latin typeface="Segoe UI" pitchFamily="34" charset="0"/>
                <a:ea typeface="Segoe UI" pitchFamily="34" charset="-122"/>
                <a:cs typeface="Segoe UI" pitchFamily="34" charset="-120"/>
              </a:rPr>
              <a:t>Windows / Thin Clients</a:t>
            </a:r>
            <a:endParaRPr lang="en-US" sz="700" dirty="0"/>
          </a:p>
        </p:txBody>
      </p:sp>
      <p:sp>
        <p:nvSpPr>
          <p:cNvPr id="6" name="Shape 4"/>
          <p:cNvSpPr/>
          <p:nvPr/>
        </p:nvSpPr>
        <p:spPr>
          <a:xfrm>
            <a:off x="3474720" y="704088"/>
            <a:ext cx="0" cy="118872"/>
          </a:xfrm>
          <a:prstGeom prst="line">
            <a:avLst/>
          </a:prstGeom>
          <a:noFill/>
          <a:ln w="19050">
            <a:solidFill>
              <a:schemeClr val="tx1"/>
            </a:solidFill>
            <a:prstDash val="solid"/>
            <a:tailEnd type="triangle"/>
          </a:ln>
        </p:spPr>
        <p:txBody>
          <a:bodyPr/>
          <a:lstStyle/>
          <a:p>
            <a:endParaRPr lang="en-US" dirty="0"/>
          </a:p>
        </p:txBody>
      </p:sp>
      <p:sp>
        <p:nvSpPr>
          <p:cNvPr id="7" name="Shape 5"/>
          <p:cNvSpPr/>
          <p:nvPr/>
        </p:nvSpPr>
        <p:spPr>
          <a:xfrm>
            <a:off x="228600" y="850392"/>
            <a:ext cx="6492240" cy="1325880"/>
          </a:xfrm>
          <a:prstGeom prst="roundRect">
            <a:avLst>
              <a:gd name="adj" fmla="val 5517"/>
            </a:avLst>
          </a:prstGeom>
          <a:solidFill>
            <a:srgbClr val="DBEAFE"/>
          </a:solidFill>
          <a:ln w="19050">
            <a:solidFill>
              <a:srgbClr val="3B82F6"/>
            </a:solidFill>
            <a:prstDash val="solid"/>
          </a:ln>
        </p:spPr>
        <p:txBody>
          <a:bodyPr/>
          <a:lstStyle/>
          <a:p>
            <a:endParaRPr lang="en-US" dirty="0"/>
          </a:p>
        </p:txBody>
      </p:sp>
      <p:sp>
        <p:nvSpPr>
          <p:cNvPr id="8" name="Text 6"/>
          <p:cNvSpPr/>
          <p:nvPr/>
        </p:nvSpPr>
        <p:spPr>
          <a:xfrm>
            <a:off x="320040" y="868680"/>
            <a:ext cx="6309360" cy="182880"/>
          </a:xfrm>
          <a:prstGeom prst="rect">
            <a:avLst/>
          </a:prstGeom>
          <a:noFill/>
          <a:ln/>
        </p:spPr>
        <p:txBody>
          <a:bodyPr wrap="square" lIns="0" tIns="0" rIns="0" bIns="0" rtlCol="0" anchor="ctr"/>
          <a:lstStyle/>
          <a:p>
            <a:pPr marL="0" indent="0" algn="ctr">
              <a:buNone/>
            </a:pPr>
            <a:r>
              <a:rPr lang="en-US" sz="850" b="1" dirty="0">
                <a:solidFill>
                  <a:srgbClr val="1E3A5F"/>
                </a:solidFill>
                <a:latin typeface="Segoe UI" pitchFamily="34" charset="0"/>
                <a:ea typeface="Segoe UI" pitchFamily="34" charset="-122"/>
                <a:cs typeface="Segoe UI" pitchFamily="34" charset="-120"/>
              </a:rPr>
              <a:t>Virtual Machines (VM Layer)</a:t>
            </a:r>
            <a:endParaRPr lang="en-US" sz="850" dirty="0"/>
          </a:p>
        </p:txBody>
      </p:sp>
      <p:sp>
        <p:nvSpPr>
          <p:cNvPr id="9" name="Shape 7"/>
          <p:cNvSpPr/>
          <p:nvPr/>
        </p:nvSpPr>
        <p:spPr>
          <a:xfrm>
            <a:off x="320040" y="1078992"/>
            <a:ext cx="1529334" cy="420624"/>
          </a:xfrm>
          <a:prstGeom prst="roundRect">
            <a:avLst>
              <a:gd name="adj" fmla="val 8696"/>
            </a:avLst>
          </a:prstGeom>
          <a:solidFill>
            <a:srgbClr val="FFFFFF"/>
          </a:solidFill>
          <a:ln w="9525">
            <a:solidFill>
              <a:srgbClr val="3B82F6"/>
            </a:solidFill>
            <a:prstDash val="solid"/>
          </a:ln>
          <a:effectLst>
            <a:outerShdw blurRad="38100" dist="12700" dir="8100000" algn="bl" rotWithShape="0">
              <a:srgbClr val="000000">
                <a:alpha val="8000"/>
              </a:srgbClr>
            </a:outerShdw>
          </a:effectLst>
        </p:spPr>
        <p:txBody>
          <a:bodyPr/>
          <a:lstStyle/>
          <a:p>
            <a:endParaRPr lang="en-US" dirty="0"/>
          </a:p>
        </p:txBody>
      </p:sp>
      <p:sp>
        <p:nvSpPr>
          <p:cNvPr id="10" name="Text 8"/>
          <p:cNvSpPr/>
          <p:nvPr/>
        </p:nvSpPr>
        <p:spPr>
          <a:xfrm>
            <a:off x="320040" y="1078992"/>
            <a:ext cx="1529334" cy="420624"/>
          </a:xfrm>
          <a:prstGeom prst="rect">
            <a:avLst/>
          </a:prstGeom>
          <a:noFill/>
          <a:ln/>
        </p:spPr>
        <p:txBody>
          <a:bodyPr wrap="square" lIns="25400" tIns="25400" rIns="25400" bIns="25400" rtlCol="0" anchor="ctr"/>
          <a:lstStyle/>
          <a:p>
            <a:pPr marL="0" indent="0" algn="ctr">
              <a:buNone/>
            </a:pPr>
            <a:r>
              <a:rPr lang="en-US" sz="650" b="1" dirty="0">
                <a:solidFill>
                  <a:srgbClr val="1E3A5F"/>
                </a:solidFill>
                <a:latin typeface="Segoe UI" pitchFamily="34" charset="0"/>
                <a:ea typeface="Segoe UI" pitchFamily="34" charset="-122"/>
                <a:cs typeface="Segoe UI" pitchFamily="34" charset="-120"/>
              </a:rPr>
              <a:t>Windows Server 2022</a:t>
            </a:r>
            <a:endParaRPr lang="en-US" sz="650" dirty="0"/>
          </a:p>
          <a:p>
            <a:pPr marL="0" indent="0" algn="ctr">
              <a:buNone/>
            </a:pPr>
            <a:r>
              <a:rPr lang="en-US" sz="550" dirty="0">
                <a:solidFill>
                  <a:srgbClr val="64748B"/>
                </a:solidFill>
                <a:latin typeface="Segoe UI" pitchFamily="34" charset="0"/>
                <a:ea typeface="Segoe UI" pitchFamily="34" charset="-122"/>
                <a:cs typeface="Segoe UI" pitchFamily="34" charset="-120"/>
              </a:rPr>
              <a:t>Active Directory / DNS</a:t>
            </a:r>
            <a:endParaRPr lang="en-US" sz="650" dirty="0"/>
          </a:p>
        </p:txBody>
      </p:sp>
      <p:sp>
        <p:nvSpPr>
          <p:cNvPr id="11" name="Shape 9"/>
          <p:cNvSpPr/>
          <p:nvPr/>
        </p:nvSpPr>
        <p:spPr>
          <a:xfrm>
            <a:off x="1913382" y="1078992"/>
            <a:ext cx="1529334" cy="420624"/>
          </a:xfrm>
          <a:prstGeom prst="roundRect">
            <a:avLst>
              <a:gd name="adj" fmla="val 8696"/>
            </a:avLst>
          </a:prstGeom>
          <a:solidFill>
            <a:srgbClr val="FFFFFF"/>
          </a:solidFill>
          <a:ln w="9525">
            <a:solidFill>
              <a:srgbClr val="3B82F6"/>
            </a:solidFill>
            <a:prstDash val="solid"/>
          </a:ln>
          <a:effectLst>
            <a:outerShdw blurRad="38100" dist="12700" dir="8100000" algn="bl" rotWithShape="0">
              <a:srgbClr val="000000">
                <a:alpha val="8000"/>
              </a:srgbClr>
            </a:outerShdw>
          </a:effectLst>
        </p:spPr>
        <p:txBody>
          <a:bodyPr/>
          <a:lstStyle/>
          <a:p>
            <a:endParaRPr lang="en-US" dirty="0"/>
          </a:p>
        </p:txBody>
      </p:sp>
      <p:sp>
        <p:nvSpPr>
          <p:cNvPr id="12" name="Text 10"/>
          <p:cNvSpPr/>
          <p:nvPr/>
        </p:nvSpPr>
        <p:spPr>
          <a:xfrm>
            <a:off x="1913382" y="1078992"/>
            <a:ext cx="1529334" cy="420624"/>
          </a:xfrm>
          <a:prstGeom prst="rect">
            <a:avLst/>
          </a:prstGeom>
          <a:noFill/>
          <a:ln/>
        </p:spPr>
        <p:txBody>
          <a:bodyPr wrap="square" lIns="25400" tIns="25400" rIns="25400" bIns="25400" rtlCol="0" anchor="ctr"/>
          <a:lstStyle/>
          <a:p>
            <a:pPr marL="0" indent="0" algn="ctr">
              <a:buNone/>
            </a:pPr>
            <a:r>
              <a:rPr lang="en-US" sz="650" b="1" dirty="0">
                <a:solidFill>
                  <a:srgbClr val="1E3A5F"/>
                </a:solidFill>
                <a:latin typeface="Segoe UI" pitchFamily="34" charset="0"/>
                <a:ea typeface="Segoe UI" pitchFamily="34" charset="-122"/>
                <a:cs typeface="Segoe UI" pitchFamily="34" charset="-120"/>
              </a:rPr>
              <a:t>File Server</a:t>
            </a:r>
            <a:endParaRPr lang="en-US" sz="650" dirty="0"/>
          </a:p>
          <a:p>
            <a:pPr marL="0" indent="0" algn="ctr">
              <a:buNone/>
            </a:pPr>
            <a:r>
              <a:rPr lang="en-US" sz="550" dirty="0">
                <a:solidFill>
                  <a:srgbClr val="64748B"/>
                </a:solidFill>
                <a:latin typeface="Segoe UI" pitchFamily="34" charset="0"/>
                <a:ea typeface="Segoe UI" pitchFamily="34" charset="-122"/>
                <a:cs typeface="Segoe UI" pitchFamily="34" charset="-120"/>
              </a:rPr>
              <a:t>Samba</a:t>
            </a:r>
            <a:endParaRPr lang="en-US" sz="650" dirty="0"/>
          </a:p>
        </p:txBody>
      </p:sp>
      <p:sp>
        <p:nvSpPr>
          <p:cNvPr id="13" name="Shape 11"/>
          <p:cNvSpPr/>
          <p:nvPr/>
        </p:nvSpPr>
        <p:spPr>
          <a:xfrm>
            <a:off x="3506724" y="1078992"/>
            <a:ext cx="1529334" cy="420624"/>
          </a:xfrm>
          <a:prstGeom prst="roundRect">
            <a:avLst>
              <a:gd name="adj" fmla="val 8696"/>
            </a:avLst>
          </a:prstGeom>
          <a:solidFill>
            <a:srgbClr val="FFFFFF"/>
          </a:solidFill>
          <a:ln w="9525">
            <a:solidFill>
              <a:srgbClr val="3B82F6"/>
            </a:solidFill>
            <a:prstDash val="solid"/>
          </a:ln>
          <a:effectLst>
            <a:outerShdw blurRad="38100" dist="12700" dir="8100000" algn="bl" rotWithShape="0">
              <a:srgbClr val="000000">
                <a:alpha val="8000"/>
              </a:srgbClr>
            </a:outerShdw>
          </a:effectLst>
        </p:spPr>
        <p:txBody>
          <a:bodyPr/>
          <a:lstStyle/>
          <a:p>
            <a:endParaRPr lang="en-US" dirty="0"/>
          </a:p>
        </p:txBody>
      </p:sp>
      <p:sp>
        <p:nvSpPr>
          <p:cNvPr id="14" name="Text 12"/>
          <p:cNvSpPr/>
          <p:nvPr/>
        </p:nvSpPr>
        <p:spPr>
          <a:xfrm>
            <a:off x="3506724" y="1078992"/>
            <a:ext cx="1529334" cy="420624"/>
          </a:xfrm>
          <a:prstGeom prst="rect">
            <a:avLst/>
          </a:prstGeom>
          <a:noFill/>
          <a:ln/>
        </p:spPr>
        <p:txBody>
          <a:bodyPr wrap="square" lIns="25400" tIns="25400" rIns="25400" bIns="25400" rtlCol="0" anchor="ctr"/>
          <a:lstStyle/>
          <a:p>
            <a:pPr marL="0" indent="0" algn="ctr">
              <a:buNone/>
            </a:pPr>
            <a:r>
              <a:rPr lang="en-US" sz="650" b="1" dirty="0">
                <a:solidFill>
                  <a:srgbClr val="1E3A5F"/>
                </a:solidFill>
                <a:latin typeface="Segoe UI" pitchFamily="34" charset="0"/>
                <a:ea typeface="Segoe UI" pitchFamily="34" charset="-122"/>
                <a:cs typeface="Segoe UI" pitchFamily="34" charset="-120"/>
              </a:rPr>
              <a:t>Application Server</a:t>
            </a:r>
            <a:endParaRPr lang="en-US" sz="650" dirty="0"/>
          </a:p>
          <a:p>
            <a:pPr marL="0" indent="0" algn="ctr">
              <a:buNone/>
            </a:pPr>
            <a:r>
              <a:rPr lang="en-US" sz="550" dirty="0">
                <a:solidFill>
                  <a:srgbClr val="64748B"/>
                </a:solidFill>
                <a:latin typeface="Segoe UI" pitchFamily="34" charset="0"/>
                <a:ea typeface="Segoe UI" pitchFamily="34" charset="-122"/>
                <a:cs typeface="Segoe UI" pitchFamily="34" charset="-120"/>
              </a:rPr>
              <a:t>Linux</a:t>
            </a:r>
            <a:endParaRPr lang="en-US" sz="650" dirty="0"/>
          </a:p>
        </p:txBody>
      </p:sp>
      <p:sp>
        <p:nvSpPr>
          <p:cNvPr id="15" name="Shape 13"/>
          <p:cNvSpPr/>
          <p:nvPr/>
        </p:nvSpPr>
        <p:spPr>
          <a:xfrm>
            <a:off x="5100066" y="1078992"/>
            <a:ext cx="1529334" cy="420624"/>
          </a:xfrm>
          <a:prstGeom prst="roundRect">
            <a:avLst>
              <a:gd name="adj" fmla="val 8696"/>
            </a:avLst>
          </a:prstGeom>
          <a:solidFill>
            <a:srgbClr val="FFFFFF"/>
          </a:solidFill>
          <a:ln w="9525">
            <a:solidFill>
              <a:srgbClr val="3B82F6"/>
            </a:solidFill>
            <a:prstDash val="solid"/>
          </a:ln>
          <a:effectLst>
            <a:outerShdw blurRad="38100" dist="12700" dir="8100000" algn="bl" rotWithShape="0">
              <a:srgbClr val="000000">
                <a:alpha val="8000"/>
              </a:srgbClr>
            </a:outerShdw>
          </a:effectLst>
        </p:spPr>
        <p:txBody>
          <a:bodyPr/>
          <a:lstStyle/>
          <a:p>
            <a:endParaRPr lang="en-US" dirty="0"/>
          </a:p>
        </p:txBody>
      </p:sp>
      <p:sp>
        <p:nvSpPr>
          <p:cNvPr id="16" name="Text 14"/>
          <p:cNvSpPr/>
          <p:nvPr/>
        </p:nvSpPr>
        <p:spPr>
          <a:xfrm>
            <a:off x="5100066" y="1078992"/>
            <a:ext cx="1529334" cy="420624"/>
          </a:xfrm>
          <a:prstGeom prst="rect">
            <a:avLst/>
          </a:prstGeom>
          <a:noFill/>
          <a:ln/>
        </p:spPr>
        <p:txBody>
          <a:bodyPr wrap="square" lIns="25400" tIns="25400" rIns="25400" bIns="25400" rtlCol="0" anchor="ctr"/>
          <a:lstStyle/>
          <a:p>
            <a:pPr marL="0" indent="0" algn="ctr">
              <a:buNone/>
            </a:pPr>
            <a:r>
              <a:rPr lang="en-US" sz="650" b="1" dirty="0">
                <a:solidFill>
                  <a:srgbClr val="1E3A5F"/>
                </a:solidFill>
                <a:latin typeface="Segoe UI" pitchFamily="34" charset="0"/>
                <a:ea typeface="Segoe UI" pitchFamily="34" charset="-122"/>
                <a:cs typeface="Segoe UI" pitchFamily="34" charset="-120"/>
              </a:rPr>
              <a:t>Web + DB Server</a:t>
            </a:r>
            <a:endParaRPr lang="en-US" sz="650" dirty="0"/>
          </a:p>
          <a:p>
            <a:pPr marL="0" indent="0" algn="ctr">
              <a:buNone/>
            </a:pPr>
            <a:r>
              <a:rPr lang="en-US" sz="550" dirty="0">
                <a:solidFill>
                  <a:srgbClr val="64748B"/>
                </a:solidFill>
                <a:latin typeface="Segoe UI" pitchFamily="34" charset="0"/>
                <a:ea typeface="Segoe UI" pitchFamily="34" charset="-122"/>
                <a:cs typeface="Segoe UI" pitchFamily="34" charset="-120"/>
              </a:rPr>
              <a:t>LAMP</a:t>
            </a:r>
            <a:endParaRPr lang="en-US" sz="650" dirty="0"/>
          </a:p>
        </p:txBody>
      </p:sp>
      <p:sp>
        <p:nvSpPr>
          <p:cNvPr id="17" name="Shape 15"/>
          <p:cNvSpPr/>
          <p:nvPr/>
        </p:nvSpPr>
        <p:spPr>
          <a:xfrm>
            <a:off x="320040" y="1554480"/>
            <a:ext cx="1529334" cy="420624"/>
          </a:xfrm>
          <a:prstGeom prst="roundRect">
            <a:avLst>
              <a:gd name="adj" fmla="val 8696"/>
            </a:avLst>
          </a:prstGeom>
          <a:solidFill>
            <a:srgbClr val="FFFFFF"/>
          </a:solidFill>
          <a:ln w="9525">
            <a:solidFill>
              <a:srgbClr val="3B82F6"/>
            </a:solidFill>
            <a:prstDash val="solid"/>
          </a:ln>
          <a:effectLst>
            <a:outerShdw blurRad="38100" dist="12700" dir="8100000" algn="bl" rotWithShape="0">
              <a:srgbClr val="000000">
                <a:alpha val="8000"/>
              </a:srgbClr>
            </a:outerShdw>
          </a:effectLst>
        </p:spPr>
        <p:txBody>
          <a:bodyPr/>
          <a:lstStyle/>
          <a:p>
            <a:endParaRPr lang="en-US" dirty="0"/>
          </a:p>
        </p:txBody>
      </p:sp>
      <p:sp>
        <p:nvSpPr>
          <p:cNvPr id="18" name="Text 16"/>
          <p:cNvSpPr/>
          <p:nvPr/>
        </p:nvSpPr>
        <p:spPr>
          <a:xfrm>
            <a:off x="320040" y="1554480"/>
            <a:ext cx="1529334" cy="420624"/>
          </a:xfrm>
          <a:prstGeom prst="rect">
            <a:avLst/>
          </a:prstGeom>
          <a:noFill/>
          <a:ln/>
        </p:spPr>
        <p:txBody>
          <a:bodyPr wrap="square" lIns="25400" tIns="25400" rIns="25400" bIns="25400" rtlCol="0" anchor="ctr"/>
          <a:lstStyle/>
          <a:p>
            <a:pPr marL="0" indent="0" algn="ctr">
              <a:buNone/>
            </a:pPr>
            <a:r>
              <a:rPr lang="en-US" sz="650" b="1" dirty="0">
                <a:solidFill>
                  <a:srgbClr val="1E3A5F"/>
                </a:solidFill>
                <a:latin typeface="Segoe UI" pitchFamily="34" charset="0"/>
                <a:ea typeface="Segoe UI" pitchFamily="34" charset="-122"/>
                <a:cs typeface="Segoe UI" pitchFamily="34" charset="-120"/>
              </a:rPr>
              <a:t>Proxmox Backup</a:t>
            </a:r>
            <a:endParaRPr lang="en-US" sz="650" dirty="0"/>
          </a:p>
          <a:p>
            <a:pPr marL="0" indent="0" algn="ctr">
              <a:buNone/>
            </a:pPr>
            <a:r>
              <a:rPr lang="en-US" sz="550" dirty="0">
                <a:solidFill>
                  <a:srgbClr val="64748B"/>
                </a:solidFill>
                <a:latin typeface="Segoe UI" pitchFamily="34" charset="0"/>
                <a:ea typeface="Segoe UI" pitchFamily="34" charset="-122"/>
                <a:cs typeface="Segoe UI" pitchFamily="34" charset="-120"/>
              </a:rPr>
              <a:t>Server (PBS)</a:t>
            </a:r>
            <a:endParaRPr lang="en-US" sz="650" dirty="0"/>
          </a:p>
        </p:txBody>
      </p:sp>
      <p:sp>
        <p:nvSpPr>
          <p:cNvPr id="19" name="Shape 17"/>
          <p:cNvSpPr/>
          <p:nvPr/>
        </p:nvSpPr>
        <p:spPr>
          <a:xfrm>
            <a:off x="1913382" y="1554480"/>
            <a:ext cx="1529334" cy="420624"/>
          </a:xfrm>
          <a:prstGeom prst="roundRect">
            <a:avLst>
              <a:gd name="adj" fmla="val 8696"/>
            </a:avLst>
          </a:prstGeom>
          <a:solidFill>
            <a:srgbClr val="FFFFFF"/>
          </a:solidFill>
          <a:ln w="9525">
            <a:solidFill>
              <a:srgbClr val="3B82F6"/>
            </a:solidFill>
            <a:prstDash val="solid"/>
          </a:ln>
          <a:effectLst>
            <a:outerShdw blurRad="38100" dist="12700" dir="8100000" algn="bl" rotWithShape="0">
              <a:srgbClr val="000000">
                <a:alpha val="8000"/>
              </a:srgbClr>
            </a:outerShdw>
          </a:effectLst>
        </p:spPr>
        <p:txBody>
          <a:bodyPr/>
          <a:lstStyle/>
          <a:p>
            <a:endParaRPr lang="en-US" dirty="0"/>
          </a:p>
        </p:txBody>
      </p:sp>
      <p:sp>
        <p:nvSpPr>
          <p:cNvPr id="20" name="Text 18"/>
          <p:cNvSpPr/>
          <p:nvPr/>
        </p:nvSpPr>
        <p:spPr>
          <a:xfrm>
            <a:off x="1913382" y="1554480"/>
            <a:ext cx="1529334" cy="420624"/>
          </a:xfrm>
          <a:prstGeom prst="rect">
            <a:avLst/>
          </a:prstGeom>
          <a:noFill/>
          <a:ln/>
        </p:spPr>
        <p:txBody>
          <a:bodyPr wrap="square" lIns="25400" tIns="25400" rIns="25400" bIns="25400" rtlCol="0" anchor="ctr"/>
          <a:lstStyle/>
          <a:p>
            <a:pPr marL="0" indent="0" algn="ctr">
              <a:buNone/>
            </a:pPr>
            <a:r>
              <a:rPr lang="en-US" sz="650" b="1" dirty="0">
                <a:solidFill>
                  <a:srgbClr val="1E3A5F"/>
                </a:solidFill>
                <a:latin typeface="Segoe UI" pitchFamily="34" charset="0"/>
                <a:ea typeface="Segoe UI" pitchFamily="34" charset="-122"/>
                <a:cs typeface="Segoe UI" pitchFamily="34" charset="-120"/>
              </a:rPr>
              <a:t>Monitoring</a:t>
            </a:r>
            <a:endParaRPr lang="en-US" sz="650" dirty="0"/>
          </a:p>
          <a:p>
            <a:pPr marL="0" indent="0" algn="ctr">
              <a:buNone/>
            </a:pPr>
            <a:r>
              <a:rPr lang="en-US" sz="550" dirty="0">
                <a:solidFill>
                  <a:srgbClr val="64748B"/>
                </a:solidFill>
                <a:latin typeface="Segoe UI" pitchFamily="34" charset="0"/>
                <a:ea typeface="Segoe UI" pitchFamily="34" charset="-122"/>
                <a:cs typeface="Segoe UI" pitchFamily="34" charset="-120"/>
              </a:rPr>
              <a:t>Grafana</a:t>
            </a:r>
            <a:endParaRPr lang="en-US" sz="650" dirty="0"/>
          </a:p>
        </p:txBody>
      </p:sp>
      <p:sp>
        <p:nvSpPr>
          <p:cNvPr id="21" name="Shape 19"/>
          <p:cNvSpPr/>
          <p:nvPr/>
        </p:nvSpPr>
        <p:spPr>
          <a:xfrm>
            <a:off x="3506724" y="1554480"/>
            <a:ext cx="1529334" cy="420624"/>
          </a:xfrm>
          <a:prstGeom prst="roundRect">
            <a:avLst>
              <a:gd name="adj" fmla="val 8696"/>
            </a:avLst>
          </a:prstGeom>
          <a:solidFill>
            <a:srgbClr val="FFFFFF"/>
          </a:solidFill>
          <a:ln w="9525">
            <a:solidFill>
              <a:srgbClr val="3B82F6"/>
            </a:solidFill>
            <a:prstDash val="solid"/>
          </a:ln>
          <a:effectLst>
            <a:outerShdw blurRad="38100" dist="12700" dir="8100000" algn="bl" rotWithShape="0">
              <a:srgbClr val="000000">
                <a:alpha val="8000"/>
              </a:srgbClr>
            </a:outerShdw>
          </a:effectLst>
        </p:spPr>
        <p:txBody>
          <a:bodyPr/>
          <a:lstStyle/>
          <a:p>
            <a:endParaRPr lang="en-US" dirty="0"/>
          </a:p>
        </p:txBody>
      </p:sp>
      <p:sp>
        <p:nvSpPr>
          <p:cNvPr id="22" name="Text 20"/>
          <p:cNvSpPr/>
          <p:nvPr/>
        </p:nvSpPr>
        <p:spPr>
          <a:xfrm>
            <a:off x="3506724" y="1554480"/>
            <a:ext cx="1529334" cy="420624"/>
          </a:xfrm>
          <a:prstGeom prst="rect">
            <a:avLst/>
          </a:prstGeom>
          <a:noFill/>
          <a:ln/>
        </p:spPr>
        <p:txBody>
          <a:bodyPr wrap="square" lIns="25400" tIns="25400" rIns="25400" bIns="25400" rtlCol="0" anchor="ctr"/>
          <a:lstStyle/>
          <a:p>
            <a:pPr marL="0" indent="0" algn="ctr">
              <a:buNone/>
            </a:pPr>
            <a:r>
              <a:rPr lang="en-US" sz="650" b="1" dirty="0">
                <a:solidFill>
                  <a:srgbClr val="1E3A5F"/>
                </a:solidFill>
                <a:latin typeface="Segoe UI" pitchFamily="34" charset="0"/>
                <a:ea typeface="Segoe UI" pitchFamily="34" charset="-122"/>
                <a:cs typeface="Segoe UI" pitchFamily="34" charset="-120"/>
              </a:rPr>
              <a:t>Firewall VM</a:t>
            </a:r>
            <a:endParaRPr lang="en-US" sz="650" dirty="0"/>
          </a:p>
          <a:p>
            <a:pPr marL="0" indent="0" algn="ctr">
              <a:buNone/>
            </a:pPr>
            <a:r>
              <a:rPr lang="en-US" sz="550" dirty="0">
                <a:solidFill>
                  <a:srgbClr val="64748B"/>
                </a:solidFill>
                <a:latin typeface="Segoe UI" pitchFamily="34" charset="0"/>
                <a:ea typeface="Segoe UI" pitchFamily="34" charset="-122"/>
                <a:cs typeface="Segoe UI" pitchFamily="34" charset="-120"/>
              </a:rPr>
              <a:t>pfSense</a:t>
            </a:r>
            <a:endParaRPr lang="en-US" sz="650" dirty="0"/>
          </a:p>
        </p:txBody>
      </p:sp>
      <p:sp>
        <p:nvSpPr>
          <p:cNvPr id="23" name="Shape 21"/>
          <p:cNvSpPr/>
          <p:nvPr/>
        </p:nvSpPr>
        <p:spPr>
          <a:xfrm>
            <a:off x="5100066" y="1554480"/>
            <a:ext cx="1529334" cy="420624"/>
          </a:xfrm>
          <a:prstGeom prst="roundRect">
            <a:avLst>
              <a:gd name="adj" fmla="val 8696"/>
            </a:avLst>
          </a:prstGeom>
          <a:solidFill>
            <a:srgbClr val="FFFFFF"/>
          </a:solidFill>
          <a:ln w="9525">
            <a:solidFill>
              <a:srgbClr val="3B82F6"/>
            </a:solidFill>
            <a:prstDash val="solid"/>
          </a:ln>
          <a:effectLst>
            <a:outerShdw blurRad="38100" dist="12700" dir="8100000" algn="bl" rotWithShape="0">
              <a:srgbClr val="000000">
                <a:alpha val="8000"/>
              </a:srgbClr>
            </a:outerShdw>
          </a:effectLst>
        </p:spPr>
        <p:txBody>
          <a:bodyPr/>
          <a:lstStyle/>
          <a:p>
            <a:endParaRPr lang="en-US" dirty="0"/>
          </a:p>
        </p:txBody>
      </p:sp>
      <p:sp>
        <p:nvSpPr>
          <p:cNvPr id="24" name="Text 22"/>
          <p:cNvSpPr/>
          <p:nvPr/>
        </p:nvSpPr>
        <p:spPr>
          <a:xfrm>
            <a:off x="5100066" y="1554480"/>
            <a:ext cx="1529334" cy="420624"/>
          </a:xfrm>
          <a:prstGeom prst="rect">
            <a:avLst/>
          </a:prstGeom>
          <a:noFill/>
          <a:ln/>
        </p:spPr>
        <p:txBody>
          <a:bodyPr wrap="square" lIns="25400" tIns="25400" rIns="25400" bIns="25400" rtlCol="0" anchor="ctr"/>
          <a:lstStyle/>
          <a:p>
            <a:pPr marL="0" indent="0" algn="ctr">
              <a:buNone/>
            </a:pPr>
            <a:r>
              <a:rPr lang="en-US" sz="650" b="1" dirty="0">
                <a:solidFill>
                  <a:srgbClr val="1E3A5F"/>
                </a:solidFill>
                <a:latin typeface="Segoe UI" pitchFamily="34" charset="0"/>
                <a:ea typeface="Segoe UI" pitchFamily="34" charset="-122"/>
                <a:cs typeface="Segoe UI" pitchFamily="34" charset="-120"/>
              </a:rPr>
              <a:t>VDI</a:t>
            </a:r>
            <a:endParaRPr lang="en-US" sz="650" dirty="0"/>
          </a:p>
          <a:p>
            <a:pPr marL="0" indent="0" algn="ctr">
              <a:buNone/>
            </a:pPr>
            <a:r>
              <a:rPr lang="en-US" sz="550" dirty="0">
                <a:solidFill>
                  <a:srgbClr val="64748B"/>
                </a:solidFill>
                <a:latin typeface="Segoe UI" pitchFamily="34" charset="0"/>
                <a:ea typeface="Segoe UI" pitchFamily="34" charset="-122"/>
                <a:cs typeface="Segoe UI" pitchFamily="34" charset="-120"/>
              </a:rPr>
              <a:t>2–4 Win 10 VMs</a:t>
            </a:r>
            <a:endParaRPr lang="en-US" sz="650" dirty="0"/>
          </a:p>
        </p:txBody>
      </p:sp>
      <p:sp>
        <p:nvSpPr>
          <p:cNvPr id="25" name="Shape 23"/>
          <p:cNvSpPr/>
          <p:nvPr/>
        </p:nvSpPr>
        <p:spPr>
          <a:xfrm>
            <a:off x="3474720" y="2176272"/>
            <a:ext cx="0" cy="109728"/>
          </a:xfrm>
          <a:prstGeom prst="line">
            <a:avLst/>
          </a:prstGeom>
          <a:noFill/>
          <a:ln w="19050">
            <a:solidFill>
              <a:schemeClr val="tx1"/>
            </a:solidFill>
            <a:prstDash val="solid"/>
            <a:tailEnd type="triangle"/>
          </a:ln>
        </p:spPr>
        <p:txBody>
          <a:bodyPr/>
          <a:lstStyle/>
          <a:p>
            <a:endParaRPr lang="en-US" dirty="0"/>
          </a:p>
        </p:txBody>
      </p:sp>
      <p:sp>
        <p:nvSpPr>
          <p:cNvPr id="26" name="Shape 24"/>
          <p:cNvSpPr/>
          <p:nvPr/>
        </p:nvSpPr>
        <p:spPr>
          <a:xfrm>
            <a:off x="228600" y="2313432"/>
            <a:ext cx="6492240" cy="868680"/>
          </a:xfrm>
          <a:prstGeom prst="roundRect">
            <a:avLst>
              <a:gd name="adj" fmla="val 8421"/>
            </a:avLst>
          </a:prstGeom>
          <a:solidFill>
            <a:srgbClr val="FED7AA"/>
          </a:solidFill>
          <a:ln w="19050">
            <a:solidFill>
              <a:srgbClr val="F97316"/>
            </a:solidFill>
            <a:prstDash val="solid"/>
          </a:ln>
        </p:spPr>
        <p:txBody>
          <a:bodyPr/>
          <a:lstStyle/>
          <a:p>
            <a:endParaRPr lang="en-US" dirty="0"/>
          </a:p>
        </p:txBody>
      </p:sp>
      <p:sp>
        <p:nvSpPr>
          <p:cNvPr id="27" name="Text 25"/>
          <p:cNvSpPr/>
          <p:nvPr/>
        </p:nvSpPr>
        <p:spPr>
          <a:xfrm>
            <a:off x="320040" y="2331720"/>
            <a:ext cx="6309360" cy="201168"/>
          </a:xfrm>
          <a:prstGeom prst="rect">
            <a:avLst/>
          </a:prstGeom>
          <a:noFill/>
          <a:ln/>
        </p:spPr>
        <p:txBody>
          <a:bodyPr wrap="square" lIns="0" tIns="0" rIns="0" bIns="0" rtlCol="0" anchor="ctr"/>
          <a:lstStyle/>
          <a:p>
            <a:pPr marL="0" indent="0" algn="ctr">
              <a:buNone/>
            </a:pPr>
            <a:r>
              <a:rPr lang="en-US" sz="800" b="1" dirty="0">
                <a:solidFill>
                  <a:srgbClr val="7C2D12"/>
                </a:solidFill>
                <a:latin typeface="Segoe UI" pitchFamily="34" charset="0"/>
                <a:ea typeface="Segoe UI" pitchFamily="34" charset="-122"/>
                <a:cs typeface="Segoe UI" pitchFamily="34" charset="-120"/>
              </a:rPr>
              <a:t>Proxmox VE Cluster (Type 1 Hypervisor)</a:t>
            </a:r>
            <a:endParaRPr lang="en-US" sz="800" dirty="0"/>
          </a:p>
          <a:p>
            <a:pPr marL="0" indent="0" algn="ctr">
              <a:buNone/>
            </a:pPr>
            <a:r>
              <a:rPr lang="en-US" sz="600" i="1" dirty="0">
                <a:solidFill>
                  <a:srgbClr val="EA580C"/>
                </a:solidFill>
                <a:latin typeface="Segoe UI" pitchFamily="34" charset="0"/>
                <a:ea typeface="Segoe UI" pitchFamily="34" charset="-122"/>
                <a:cs typeface="Segoe UI" pitchFamily="34" charset="-120"/>
              </a:rPr>
              <a:t>HA (High Availability) Enabled</a:t>
            </a:r>
            <a:endParaRPr lang="en-US" sz="800" dirty="0"/>
          </a:p>
        </p:txBody>
      </p:sp>
      <p:sp>
        <p:nvSpPr>
          <p:cNvPr id="28" name="Shape 26"/>
          <p:cNvSpPr/>
          <p:nvPr/>
        </p:nvSpPr>
        <p:spPr>
          <a:xfrm>
            <a:off x="338328" y="2560320"/>
            <a:ext cx="2029968" cy="502920"/>
          </a:xfrm>
          <a:prstGeom prst="roundRect">
            <a:avLst>
              <a:gd name="adj" fmla="val 7273"/>
            </a:avLst>
          </a:prstGeom>
          <a:solidFill>
            <a:srgbClr val="FFFFFF"/>
          </a:solidFill>
          <a:ln w="9525">
            <a:solidFill>
              <a:srgbClr val="F97316"/>
            </a:solidFill>
            <a:prstDash val="solid"/>
          </a:ln>
          <a:effectLst>
            <a:outerShdw blurRad="38100" dist="12700" dir="8100000" algn="bl" rotWithShape="0">
              <a:srgbClr val="000000">
                <a:alpha val="8000"/>
              </a:srgbClr>
            </a:outerShdw>
          </a:effectLst>
        </p:spPr>
        <p:txBody>
          <a:bodyPr/>
          <a:lstStyle/>
          <a:p>
            <a:endParaRPr lang="en-US" dirty="0"/>
          </a:p>
        </p:txBody>
      </p:sp>
      <p:sp>
        <p:nvSpPr>
          <p:cNvPr id="29" name="Text 27"/>
          <p:cNvSpPr/>
          <p:nvPr/>
        </p:nvSpPr>
        <p:spPr>
          <a:xfrm>
            <a:off x="338328" y="2560320"/>
            <a:ext cx="2029968" cy="502920"/>
          </a:xfrm>
          <a:prstGeom prst="rect">
            <a:avLst/>
          </a:prstGeom>
          <a:noFill/>
          <a:ln/>
        </p:spPr>
        <p:txBody>
          <a:bodyPr wrap="square" lIns="25400" tIns="25400" rIns="25400" bIns="25400" rtlCol="0" anchor="ctr"/>
          <a:lstStyle/>
          <a:p>
            <a:pPr marL="0" indent="0" algn="ctr">
              <a:buNone/>
            </a:pPr>
            <a:r>
              <a:rPr lang="en-US" sz="700" b="1" dirty="0">
                <a:solidFill>
                  <a:srgbClr val="7C2D12"/>
                </a:solidFill>
                <a:latin typeface="Segoe UI" pitchFamily="34" charset="0"/>
                <a:ea typeface="Segoe UI" pitchFamily="34" charset="-122"/>
                <a:cs typeface="Segoe UI" pitchFamily="34" charset="-120"/>
              </a:rPr>
              <a:t>Host 01</a:t>
            </a:r>
            <a:endParaRPr lang="en-US" sz="700" dirty="0"/>
          </a:p>
          <a:p>
            <a:pPr marL="0" indent="0" algn="ctr">
              <a:buNone/>
            </a:pPr>
            <a:r>
              <a:rPr lang="en-US" sz="550" dirty="0">
                <a:solidFill>
                  <a:srgbClr val="64748B"/>
                </a:solidFill>
                <a:latin typeface="Segoe UI" pitchFamily="34" charset="0"/>
                <a:ea typeface="Segoe UI" pitchFamily="34" charset="-122"/>
                <a:cs typeface="Segoe UI" pitchFamily="34" charset="-120"/>
              </a:rPr>
              <a:t>32-Core CPU | 128 GB RAM</a:t>
            </a:r>
            <a:endParaRPr lang="en-US" sz="700" dirty="0"/>
          </a:p>
          <a:p>
            <a:pPr marL="0" indent="0" algn="ctr">
              <a:buNone/>
            </a:pPr>
            <a:r>
              <a:rPr lang="en-US" sz="550" dirty="0">
                <a:solidFill>
                  <a:srgbClr val="64748B"/>
                </a:solidFill>
                <a:latin typeface="Segoe UI" pitchFamily="34" charset="0"/>
                <a:ea typeface="Segoe UI" pitchFamily="34" charset="-122"/>
                <a:cs typeface="Segoe UI" pitchFamily="34" charset="-120"/>
              </a:rPr>
              <a:t>2 TB NVMe + 4 TB HDD</a:t>
            </a:r>
            <a:endParaRPr lang="en-US" sz="700" dirty="0"/>
          </a:p>
          <a:p>
            <a:pPr marL="0" indent="0" algn="ctr">
              <a:buNone/>
            </a:pPr>
            <a:r>
              <a:rPr lang="en-US" sz="500" i="1" dirty="0">
                <a:solidFill>
                  <a:srgbClr val="EA580C"/>
                </a:solidFill>
                <a:latin typeface="Segoe UI" pitchFamily="34" charset="0"/>
                <a:ea typeface="Segoe UI" pitchFamily="34" charset="-122"/>
                <a:cs typeface="Segoe UI" pitchFamily="34" charset="-120"/>
              </a:rPr>
              <a:t>Proxmox VE (Virtual Environment)</a:t>
            </a:r>
            <a:endParaRPr lang="en-US" sz="700" dirty="0"/>
          </a:p>
        </p:txBody>
      </p:sp>
      <p:sp>
        <p:nvSpPr>
          <p:cNvPr id="30" name="Shape 28"/>
          <p:cNvSpPr/>
          <p:nvPr/>
        </p:nvSpPr>
        <p:spPr>
          <a:xfrm>
            <a:off x="2459736" y="2560320"/>
            <a:ext cx="2029968" cy="502920"/>
          </a:xfrm>
          <a:prstGeom prst="roundRect">
            <a:avLst>
              <a:gd name="adj" fmla="val 7273"/>
            </a:avLst>
          </a:prstGeom>
          <a:solidFill>
            <a:srgbClr val="FFFFFF"/>
          </a:solidFill>
          <a:ln w="9525">
            <a:solidFill>
              <a:srgbClr val="F97316"/>
            </a:solidFill>
            <a:prstDash val="solid"/>
          </a:ln>
          <a:effectLst>
            <a:outerShdw blurRad="38100" dist="12700" dir="8100000" algn="bl" rotWithShape="0">
              <a:srgbClr val="000000">
                <a:alpha val="8000"/>
              </a:srgbClr>
            </a:outerShdw>
          </a:effectLst>
        </p:spPr>
        <p:txBody>
          <a:bodyPr/>
          <a:lstStyle/>
          <a:p>
            <a:endParaRPr lang="en-US" dirty="0"/>
          </a:p>
        </p:txBody>
      </p:sp>
      <p:sp>
        <p:nvSpPr>
          <p:cNvPr id="31" name="Text 29"/>
          <p:cNvSpPr/>
          <p:nvPr/>
        </p:nvSpPr>
        <p:spPr>
          <a:xfrm>
            <a:off x="2459736" y="2560320"/>
            <a:ext cx="2029968" cy="502920"/>
          </a:xfrm>
          <a:prstGeom prst="rect">
            <a:avLst/>
          </a:prstGeom>
          <a:noFill/>
          <a:ln/>
        </p:spPr>
        <p:txBody>
          <a:bodyPr wrap="square" lIns="25400" tIns="25400" rIns="25400" bIns="25400" rtlCol="0" anchor="ctr"/>
          <a:lstStyle/>
          <a:p>
            <a:pPr marL="0" indent="0" algn="ctr">
              <a:buNone/>
            </a:pPr>
            <a:r>
              <a:rPr lang="en-US" sz="700" b="1" dirty="0">
                <a:solidFill>
                  <a:srgbClr val="7C2D12"/>
                </a:solidFill>
                <a:latin typeface="Segoe UI" pitchFamily="34" charset="0"/>
                <a:ea typeface="Segoe UI" pitchFamily="34" charset="-122"/>
                <a:cs typeface="Segoe UI" pitchFamily="34" charset="-120"/>
              </a:rPr>
              <a:t>Host 02</a:t>
            </a:r>
            <a:endParaRPr lang="en-US" sz="700" dirty="0"/>
          </a:p>
          <a:p>
            <a:pPr marL="0" indent="0" algn="ctr">
              <a:buNone/>
            </a:pPr>
            <a:r>
              <a:rPr lang="en-US" sz="550" dirty="0">
                <a:solidFill>
                  <a:srgbClr val="64748B"/>
                </a:solidFill>
                <a:latin typeface="Segoe UI" pitchFamily="34" charset="0"/>
                <a:ea typeface="Segoe UI" pitchFamily="34" charset="-122"/>
                <a:cs typeface="Segoe UI" pitchFamily="34" charset="-120"/>
              </a:rPr>
              <a:t>32-Core CPU | 128 GB RAM</a:t>
            </a:r>
            <a:endParaRPr lang="en-US" sz="700" dirty="0"/>
          </a:p>
          <a:p>
            <a:pPr marL="0" indent="0" algn="ctr">
              <a:buNone/>
            </a:pPr>
            <a:r>
              <a:rPr lang="en-US" sz="550" dirty="0">
                <a:solidFill>
                  <a:srgbClr val="64748B"/>
                </a:solidFill>
                <a:latin typeface="Segoe UI" pitchFamily="34" charset="0"/>
                <a:ea typeface="Segoe UI" pitchFamily="34" charset="-122"/>
                <a:cs typeface="Segoe UI" pitchFamily="34" charset="-120"/>
              </a:rPr>
              <a:t>2 TB NVMe + 4 TB HDD</a:t>
            </a:r>
            <a:endParaRPr lang="en-US" sz="700" dirty="0"/>
          </a:p>
          <a:p>
            <a:pPr marL="0" indent="0" algn="ctr">
              <a:buNone/>
            </a:pPr>
            <a:r>
              <a:rPr lang="en-US" sz="500" i="1" dirty="0">
                <a:solidFill>
                  <a:srgbClr val="EA580C"/>
                </a:solidFill>
                <a:latin typeface="Segoe UI" pitchFamily="34" charset="0"/>
                <a:ea typeface="Segoe UI" pitchFamily="34" charset="-122"/>
                <a:cs typeface="Segoe UI" pitchFamily="34" charset="-120"/>
              </a:rPr>
              <a:t>Proxmox VE (Virtual Environment)</a:t>
            </a:r>
            <a:endParaRPr lang="en-US" sz="700" dirty="0"/>
          </a:p>
        </p:txBody>
      </p:sp>
      <p:sp>
        <p:nvSpPr>
          <p:cNvPr id="32" name="Shape 30"/>
          <p:cNvSpPr/>
          <p:nvPr/>
        </p:nvSpPr>
        <p:spPr>
          <a:xfrm>
            <a:off x="4581144" y="2560320"/>
            <a:ext cx="2029968" cy="502920"/>
          </a:xfrm>
          <a:prstGeom prst="roundRect">
            <a:avLst>
              <a:gd name="adj" fmla="val 7273"/>
            </a:avLst>
          </a:prstGeom>
          <a:solidFill>
            <a:srgbClr val="FFFFFF"/>
          </a:solidFill>
          <a:ln w="9525">
            <a:solidFill>
              <a:srgbClr val="F97316"/>
            </a:solidFill>
            <a:prstDash val="solid"/>
          </a:ln>
          <a:effectLst>
            <a:outerShdw blurRad="38100" dist="12700" dir="8100000" algn="bl" rotWithShape="0">
              <a:srgbClr val="000000">
                <a:alpha val="8000"/>
              </a:srgbClr>
            </a:outerShdw>
          </a:effectLst>
        </p:spPr>
        <p:txBody>
          <a:bodyPr/>
          <a:lstStyle/>
          <a:p>
            <a:endParaRPr lang="en-US" dirty="0"/>
          </a:p>
        </p:txBody>
      </p:sp>
      <p:sp>
        <p:nvSpPr>
          <p:cNvPr id="33" name="Text 31"/>
          <p:cNvSpPr/>
          <p:nvPr/>
        </p:nvSpPr>
        <p:spPr>
          <a:xfrm>
            <a:off x="4581144" y="2560320"/>
            <a:ext cx="2029968" cy="502920"/>
          </a:xfrm>
          <a:prstGeom prst="rect">
            <a:avLst/>
          </a:prstGeom>
          <a:noFill/>
          <a:ln/>
        </p:spPr>
        <p:txBody>
          <a:bodyPr wrap="square" lIns="25400" tIns="25400" rIns="25400" bIns="25400" rtlCol="0" anchor="ctr"/>
          <a:lstStyle/>
          <a:p>
            <a:pPr marL="0" indent="0" algn="ctr">
              <a:buNone/>
            </a:pPr>
            <a:r>
              <a:rPr lang="en-US" sz="700" b="1" dirty="0">
                <a:solidFill>
                  <a:srgbClr val="7C2D12"/>
                </a:solidFill>
                <a:latin typeface="Segoe UI" pitchFamily="34" charset="0"/>
                <a:ea typeface="Segoe UI" pitchFamily="34" charset="-122"/>
                <a:cs typeface="Segoe UI" pitchFamily="34" charset="-120"/>
              </a:rPr>
              <a:t>Host 03</a:t>
            </a:r>
            <a:endParaRPr lang="en-US" sz="700" dirty="0"/>
          </a:p>
          <a:p>
            <a:pPr marL="0" indent="0" algn="ctr">
              <a:buNone/>
            </a:pPr>
            <a:r>
              <a:rPr lang="en-US" sz="550" dirty="0">
                <a:solidFill>
                  <a:srgbClr val="64748B"/>
                </a:solidFill>
                <a:latin typeface="Segoe UI" pitchFamily="34" charset="0"/>
                <a:ea typeface="Segoe UI" pitchFamily="34" charset="-122"/>
                <a:cs typeface="Segoe UI" pitchFamily="34" charset="-120"/>
              </a:rPr>
              <a:t>32-Core CPU | 128 GB RAM</a:t>
            </a:r>
            <a:endParaRPr lang="en-US" sz="700" dirty="0"/>
          </a:p>
          <a:p>
            <a:pPr marL="0" indent="0" algn="ctr">
              <a:buNone/>
            </a:pPr>
            <a:r>
              <a:rPr lang="en-US" sz="550" dirty="0">
                <a:solidFill>
                  <a:srgbClr val="64748B"/>
                </a:solidFill>
                <a:latin typeface="Segoe UI" pitchFamily="34" charset="0"/>
                <a:ea typeface="Segoe UI" pitchFamily="34" charset="-122"/>
                <a:cs typeface="Segoe UI" pitchFamily="34" charset="-120"/>
              </a:rPr>
              <a:t>2 TB NVMe + 4 TB HDD</a:t>
            </a:r>
            <a:endParaRPr lang="en-US" sz="700" dirty="0"/>
          </a:p>
          <a:p>
            <a:pPr marL="0" indent="0" algn="ctr">
              <a:buNone/>
            </a:pPr>
            <a:r>
              <a:rPr lang="en-US" sz="500" i="1" dirty="0">
                <a:solidFill>
                  <a:srgbClr val="EA580C"/>
                </a:solidFill>
                <a:latin typeface="Segoe UI" pitchFamily="34" charset="0"/>
                <a:ea typeface="Segoe UI" pitchFamily="34" charset="-122"/>
                <a:cs typeface="Segoe UI" pitchFamily="34" charset="-120"/>
              </a:rPr>
              <a:t>Proxmox VE (Virtual Environment)</a:t>
            </a:r>
            <a:endParaRPr lang="en-US" sz="700" dirty="0"/>
          </a:p>
        </p:txBody>
      </p:sp>
      <p:sp>
        <p:nvSpPr>
          <p:cNvPr id="34" name="Shape 32"/>
          <p:cNvSpPr/>
          <p:nvPr/>
        </p:nvSpPr>
        <p:spPr>
          <a:xfrm>
            <a:off x="2377440" y="3182112"/>
            <a:ext cx="0" cy="109728"/>
          </a:xfrm>
          <a:prstGeom prst="line">
            <a:avLst/>
          </a:prstGeom>
          <a:noFill/>
          <a:ln w="19050">
            <a:solidFill>
              <a:schemeClr val="tx1"/>
            </a:solidFill>
            <a:prstDash val="solid"/>
            <a:tailEnd type="triangle"/>
          </a:ln>
        </p:spPr>
        <p:txBody>
          <a:bodyPr/>
          <a:lstStyle/>
          <a:p>
            <a:endParaRPr lang="en-US" dirty="0"/>
          </a:p>
        </p:txBody>
      </p:sp>
      <p:sp>
        <p:nvSpPr>
          <p:cNvPr id="35" name="Shape 33"/>
          <p:cNvSpPr/>
          <p:nvPr/>
        </p:nvSpPr>
        <p:spPr>
          <a:xfrm>
            <a:off x="4572000" y="3182112"/>
            <a:ext cx="0" cy="109728"/>
          </a:xfrm>
          <a:prstGeom prst="line">
            <a:avLst/>
          </a:prstGeom>
          <a:noFill/>
          <a:ln w="19050">
            <a:solidFill>
              <a:schemeClr val="tx1"/>
            </a:solidFill>
            <a:prstDash val="solid"/>
            <a:tailEnd type="triangle"/>
          </a:ln>
        </p:spPr>
        <p:txBody>
          <a:bodyPr/>
          <a:lstStyle/>
          <a:p>
            <a:endParaRPr lang="en-US" dirty="0"/>
          </a:p>
        </p:txBody>
      </p:sp>
      <p:sp>
        <p:nvSpPr>
          <p:cNvPr id="36" name="Shape 34"/>
          <p:cNvSpPr/>
          <p:nvPr/>
        </p:nvSpPr>
        <p:spPr>
          <a:xfrm>
            <a:off x="228600" y="3319272"/>
            <a:ext cx="3177540" cy="713232"/>
          </a:xfrm>
          <a:prstGeom prst="roundRect">
            <a:avLst>
              <a:gd name="adj" fmla="val 7692"/>
            </a:avLst>
          </a:prstGeom>
          <a:solidFill>
            <a:srgbClr val="FEF9C3"/>
          </a:solidFill>
          <a:ln w="12700">
            <a:solidFill>
              <a:srgbClr val="EAB308"/>
            </a:solidFill>
            <a:prstDash val="solid"/>
          </a:ln>
        </p:spPr>
        <p:txBody>
          <a:bodyPr/>
          <a:lstStyle/>
          <a:p>
            <a:endParaRPr lang="en-US" dirty="0"/>
          </a:p>
        </p:txBody>
      </p:sp>
      <p:sp>
        <p:nvSpPr>
          <p:cNvPr id="37" name="Text 35"/>
          <p:cNvSpPr/>
          <p:nvPr/>
        </p:nvSpPr>
        <p:spPr>
          <a:xfrm>
            <a:off x="320040" y="3355848"/>
            <a:ext cx="2994660" cy="640080"/>
          </a:xfrm>
          <a:prstGeom prst="rect">
            <a:avLst/>
          </a:prstGeom>
          <a:noFill/>
          <a:ln/>
        </p:spPr>
        <p:txBody>
          <a:bodyPr wrap="square" lIns="0" tIns="0" rIns="0" bIns="0" rtlCol="0" anchor="t"/>
          <a:lstStyle/>
          <a:p>
            <a:pPr marL="0" indent="0" algn="l">
              <a:buNone/>
            </a:pPr>
            <a:r>
              <a:rPr lang="en-US" sz="700" b="1" dirty="0">
                <a:solidFill>
                  <a:srgbClr val="713F12"/>
                </a:solidFill>
                <a:latin typeface="Segoe UI" pitchFamily="34" charset="0"/>
                <a:ea typeface="Segoe UI" pitchFamily="34" charset="-122"/>
                <a:cs typeface="Segoe UI" pitchFamily="34" charset="-120"/>
              </a:rPr>
              <a:t>Virtual Networking</a:t>
            </a:r>
            <a:endParaRPr lang="en-US" sz="700" dirty="0"/>
          </a:p>
          <a:p>
            <a:pPr marL="0" indent="0" algn="l">
              <a:buNone/>
            </a:pPr>
            <a:r>
              <a:rPr lang="en-US" sz="500" i="1" dirty="0">
                <a:solidFill>
                  <a:srgbClr val="92400E"/>
                </a:solidFill>
                <a:latin typeface="Segoe UI" pitchFamily="34" charset="0"/>
                <a:ea typeface="Segoe UI" pitchFamily="34" charset="-122"/>
                <a:cs typeface="Segoe UI" pitchFamily="34" charset="-120"/>
              </a:rPr>
              <a:t>VLAN (Virtual Local Area Network)</a:t>
            </a:r>
            <a:endParaRPr lang="en-US" sz="700" dirty="0"/>
          </a:p>
          <a:p>
            <a:pPr marL="0" indent="0" algn="l">
              <a:buNone/>
            </a:pPr>
            <a:r>
              <a:rPr lang="en-US" sz="300" dirty="0">
                <a:solidFill>
                  <a:srgbClr val="713F12"/>
                </a:solidFill>
                <a:latin typeface="Segoe UI" pitchFamily="34" charset="0"/>
                <a:ea typeface="Segoe UI" pitchFamily="34" charset="-122"/>
                <a:cs typeface="Segoe UI" pitchFamily="34" charset="-120"/>
              </a:rPr>
              <a:t> </a:t>
            </a:r>
            <a:endParaRPr lang="en-US" sz="700" dirty="0"/>
          </a:p>
          <a:p>
            <a:pPr marL="0" indent="0" algn="l">
              <a:buNone/>
            </a:pPr>
            <a:r>
              <a:rPr lang="en-US" sz="550" dirty="0">
                <a:solidFill>
                  <a:srgbClr val="713F12"/>
                </a:solidFill>
                <a:latin typeface="Segoe UI" pitchFamily="34" charset="0"/>
                <a:ea typeface="Segoe UI" pitchFamily="34" charset="-122"/>
                <a:cs typeface="Segoe UI" pitchFamily="34" charset="-120"/>
              </a:rPr>
              <a:t>VLAN 10 – Management</a:t>
            </a:r>
            <a:endParaRPr lang="en-US" sz="700" dirty="0"/>
          </a:p>
          <a:p>
            <a:pPr marL="0" indent="0" algn="l">
              <a:buNone/>
            </a:pPr>
            <a:r>
              <a:rPr lang="en-US" sz="550" dirty="0">
                <a:solidFill>
                  <a:srgbClr val="713F12"/>
                </a:solidFill>
                <a:latin typeface="Segoe UI" pitchFamily="34" charset="0"/>
                <a:ea typeface="Segoe UI" pitchFamily="34" charset="-122"/>
                <a:cs typeface="Segoe UI" pitchFamily="34" charset="-120"/>
              </a:rPr>
              <a:t>VLAN 20 – Production</a:t>
            </a:r>
            <a:endParaRPr lang="en-US" sz="700" dirty="0"/>
          </a:p>
          <a:p>
            <a:pPr marL="0" indent="0" algn="l">
              <a:buNone/>
            </a:pPr>
            <a:r>
              <a:rPr lang="en-US" sz="550" dirty="0">
                <a:solidFill>
                  <a:srgbClr val="713F12"/>
                </a:solidFill>
                <a:latin typeface="Segoe UI" pitchFamily="34" charset="0"/>
                <a:ea typeface="Segoe UI" pitchFamily="34" charset="-122"/>
                <a:cs typeface="Segoe UI" pitchFamily="34" charset="-120"/>
              </a:rPr>
              <a:t>VLAN 30 – Clients</a:t>
            </a:r>
            <a:endParaRPr lang="en-US" sz="700" dirty="0"/>
          </a:p>
          <a:p>
            <a:pPr marL="0" indent="0" algn="l">
              <a:buNone/>
            </a:pPr>
            <a:r>
              <a:rPr lang="en-US" sz="550" dirty="0">
                <a:solidFill>
                  <a:srgbClr val="713F12"/>
                </a:solidFill>
                <a:latin typeface="Segoe UI" pitchFamily="34" charset="0"/>
                <a:ea typeface="Segoe UI" pitchFamily="34" charset="-122"/>
                <a:cs typeface="Segoe UI" pitchFamily="34" charset="-120"/>
              </a:rPr>
              <a:t>VLAN 40 – Storage</a:t>
            </a:r>
            <a:endParaRPr lang="en-US" sz="700" dirty="0"/>
          </a:p>
        </p:txBody>
      </p:sp>
      <p:sp>
        <p:nvSpPr>
          <p:cNvPr id="38" name="Shape 36"/>
          <p:cNvSpPr/>
          <p:nvPr/>
        </p:nvSpPr>
        <p:spPr>
          <a:xfrm>
            <a:off x="3543300" y="3319272"/>
            <a:ext cx="3177540" cy="713232"/>
          </a:xfrm>
          <a:prstGeom prst="roundRect">
            <a:avLst>
              <a:gd name="adj" fmla="val 7692"/>
            </a:avLst>
          </a:prstGeom>
          <a:solidFill>
            <a:srgbClr val="DCFCE7"/>
          </a:solidFill>
          <a:ln w="12700">
            <a:solidFill>
              <a:srgbClr val="22C55E"/>
            </a:solidFill>
            <a:prstDash val="solid"/>
          </a:ln>
        </p:spPr>
        <p:txBody>
          <a:bodyPr/>
          <a:lstStyle/>
          <a:p>
            <a:endParaRPr lang="en-US" dirty="0"/>
          </a:p>
        </p:txBody>
      </p:sp>
      <p:sp>
        <p:nvSpPr>
          <p:cNvPr id="39" name="Text 37"/>
          <p:cNvSpPr/>
          <p:nvPr/>
        </p:nvSpPr>
        <p:spPr>
          <a:xfrm>
            <a:off x="3634740" y="3355848"/>
            <a:ext cx="2994660" cy="640080"/>
          </a:xfrm>
          <a:prstGeom prst="rect">
            <a:avLst/>
          </a:prstGeom>
          <a:noFill/>
          <a:ln/>
        </p:spPr>
        <p:txBody>
          <a:bodyPr wrap="square" lIns="0" tIns="0" rIns="0" bIns="0" rtlCol="0" anchor="t"/>
          <a:lstStyle/>
          <a:p>
            <a:pPr marL="0" indent="0" algn="l">
              <a:buNone/>
            </a:pPr>
            <a:r>
              <a:rPr lang="en-US" sz="700" b="1" dirty="0">
                <a:solidFill>
                  <a:srgbClr val="14532D"/>
                </a:solidFill>
                <a:latin typeface="Segoe UI" pitchFamily="34" charset="0"/>
                <a:ea typeface="Segoe UI" pitchFamily="34" charset="-122"/>
                <a:cs typeface="Segoe UI" pitchFamily="34" charset="-120"/>
              </a:rPr>
              <a:t>Storage Layer</a:t>
            </a:r>
            <a:endParaRPr lang="en-US" sz="700" dirty="0"/>
          </a:p>
          <a:p>
            <a:pPr marL="0" indent="0" algn="l">
              <a:buNone/>
            </a:pPr>
            <a:r>
              <a:rPr lang="en-US" sz="300" dirty="0">
                <a:solidFill>
                  <a:srgbClr val="14532D"/>
                </a:solidFill>
                <a:latin typeface="Segoe UI" pitchFamily="34" charset="0"/>
                <a:ea typeface="Segoe UI" pitchFamily="34" charset="-122"/>
                <a:cs typeface="Segoe UI" pitchFamily="34" charset="-120"/>
              </a:rPr>
              <a:t> </a:t>
            </a:r>
            <a:endParaRPr lang="en-US" sz="700" dirty="0"/>
          </a:p>
          <a:p>
            <a:pPr marL="0" indent="0" algn="l">
              <a:buNone/>
            </a:pPr>
            <a:r>
              <a:rPr lang="en-US" sz="550" b="1" dirty="0">
                <a:solidFill>
                  <a:srgbClr val="14532D"/>
                </a:solidFill>
                <a:latin typeface="Segoe UI" pitchFamily="34" charset="0"/>
                <a:ea typeface="Segoe UI" pitchFamily="34" charset="-122"/>
                <a:cs typeface="Segoe UI" pitchFamily="34" charset="-120"/>
              </a:rPr>
              <a:t>Local ZFS (Zettabyte File System)</a:t>
            </a:r>
            <a:endParaRPr lang="en-US" sz="700" dirty="0"/>
          </a:p>
          <a:p>
            <a:pPr marL="0" indent="0" algn="l">
              <a:buNone/>
            </a:pPr>
            <a:r>
              <a:rPr lang="en-US" sz="550" dirty="0">
                <a:solidFill>
                  <a:srgbClr val="64748B"/>
                </a:solidFill>
                <a:latin typeface="Segoe UI" pitchFamily="34" charset="0"/>
                <a:ea typeface="Segoe UI" pitchFamily="34" charset="-122"/>
                <a:cs typeface="Segoe UI" pitchFamily="34" charset="-120"/>
              </a:rPr>
              <a:t>Mirrored Pools per Host</a:t>
            </a:r>
            <a:endParaRPr lang="en-US" sz="700" dirty="0"/>
          </a:p>
          <a:p>
            <a:pPr marL="0" indent="0" algn="l">
              <a:buNone/>
            </a:pPr>
            <a:r>
              <a:rPr lang="en-US" sz="550" b="1" dirty="0">
                <a:solidFill>
                  <a:srgbClr val="14532D"/>
                </a:solidFill>
                <a:latin typeface="Segoe UI" pitchFamily="34" charset="0"/>
                <a:ea typeface="Segoe UI" pitchFamily="34" charset="-122"/>
                <a:cs typeface="Segoe UI" pitchFamily="34" charset="-120"/>
              </a:rPr>
              <a:t>Shared NAS (Network Attached Storage)</a:t>
            </a:r>
            <a:endParaRPr lang="en-US" sz="700" dirty="0"/>
          </a:p>
          <a:p>
            <a:pPr marL="0" indent="0" algn="l">
              <a:buNone/>
            </a:pPr>
            <a:r>
              <a:rPr lang="en-US" sz="550" dirty="0">
                <a:solidFill>
                  <a:srgbClr val="64748B"/>
                </a:solidFill>
                <a:latin typeface="Segoe UI" pitchFamily="34" charset="0"/>
                <a:ea typeface="Segoe UI" pitchFamily="34" charset="-122"/>
                <a:cs typeface="Segoe UI" pitchFamily="34" charset="-120"/>
              </a:rPr>
              <a:t>NFS / CIFS</a:t>
            </a:r>
            <a:endParaRPr lang="en-US" sz="700" dirty="0"/>
          </a:p>
          <a:p>
            <a:pPr marL="0" indent="0" algn="l">
              <a:buNone/>
            </a:pPr>
            <a:r>
              <a:rPr lang="en-US" sz="550" b="1" dirty="0">
                <a:solidFill>
                  <a:srgbClr val="14532D"/>
                </a:solidFill>
                <a:latin typeface="Segoe UI" pitchFamily="34" charset="0"/>
                <a:ea typeface="Segoe UI" pitchFamily="34" charset="-122"/>
                <a:cs typeface="Segoe UI" pitchFamily="34" charset="-120"/>
              </a:rPr>
              <a:t>Backup Storage (PBS)</a:t>
            </a:r>
            <a:endParaRPr lang="en-US" sz="700" dirty="0"/>
          </a:p>
        </p:txBody>
      </p:sp>
      <p:sp>
        <p:nvSpPr>
          <p:cNvPr id="40" name="Shape 38"/>
          <p:cNvSpPr/>
          <p:nvPr/>
        </p:nvSpPr>
        <p:spPr>
          <a:xfrm>
            <a:off x="3474720" y="4032504"/>
            <a:ext cx="0" cy="91440"/>
          </a:xfrm>
          <a:prstGeom prst="line">
            <a:avLst/>
          </a:prstGeom>
          <a:noFill/>
          <a:ln w="19050">
            <a:solidFill>
              <a:schemeClr val="tx1"/>
            </a:solidFill>
            <a:prstDash val="solid"/>
            <a:tailEnd type="triangle"/>
          </a:ln>
        </p:spPr>
        <p:txBody>
          <a:bodyPr/>
          <a:lstStyle/>
          <a:p>
            <a:endParaRPr lang="en-US" dirty="0"/>
          </a:p>
        </p:txBody>
      </p:sp>
      <p:sp>
        <p:nvSpPr>
          <p:cNvPr id="41" name="Shape 39"/>
          <p:cNvSpPr/>
          <p:nvPr/>
        </p:nvSpPr>
        <p:spPr>
          <a:xfrm>
            <a:off x="2194560" y="4114799"/>
            <a:ext cx="2560320" cy="936999"/>
          </a:xfrm>
          <a:prstGeom prst="roundRect">
            <a:avLst>
              <a:gd name="adj" fmla="val 7317"/>
            </a:avLst>
          </a:prstGeom>
          <a:solidFill>
            <a:srgbClr val="FEF2F2"/>
          </a:solidFill>
          <a:ln w="6350">
            <a:solidFill>
              <a:srgbClr val="EF4444"/>
            </a:solidFill>
            <a:prstDash val="dash"/>
          </a:ln>
        </p:spPr>
        <p:txBody>
          <a:bodyPr/>
          <a:lstStyle/>
          <a:p>
            <a:endParaRPr lang="en-US" dirty="0"/>
          </a:p>
        </p:txBody>
      </p:sp>
      <p:sp>
        <p:nvSpPr>
          <p:cNvPr id="42" name="Text 40"/>
          <p:cNvSpPr/>
          <p:nvPr/>
        </p:nvSpPr>
        <p:spPr>
          <a:xfrm>
            <a:off x="2194560" y="4133088"/>
            <a:ext cx="2560320" cy="128016"/>
          </a:xfrm>
          <a:prstGeom prst="rect">
            <a:avLst/>
          </a:prstGeom>
          <a:noFill/>
          <a:ln/>
        </p:spPr>
        <p:txBody>
          <a:bodyPr wrap="square" lIns="0" tIns="0" rIns="0" bIns="0" rtlCol="0" anchor="ctr"/>
          <a:lstStyle/>
          <a:p>
            <a:pPr marL="0" indent="0" algn="ctr">
              <a:buNone/>
            </a:pPr>
            <a:r>
              <a:rPr lang="en-US" sz="600" b="1" dirty="0">
                <a:solidFill>
                  <a:srgbClr val="7F1D1D"/>
                </a:solidFill>
                <a:latin typeface="Segoe UI" pitchFamily="34" charset="0"/>
                <a:ea typeface="Segoe UI" pitchFamily="34" charset="-122"/>
                <a:cs typeface="Segoe UI" pitchFamily="34" charset="-120"/>
              </a:rPr>
              <a:t>Physical Network</a:t>
            </a:r>
            <a:endParaRPr lang="en-US" sz="600" dirty="0"/>
          </a:p>
        </p:txBody>
      </p:sp>
      <p:sp>
        <p:nvSpPr>
          <p:cNvPr id="43" name="Shape 41"/>
          <p:cNvSpPr/>
          <p:nvPr/>
        </p:nvSpPr>
        <p:spPr>
          <a:xfrm>
            <a:off x="2468880" y="4261104"/>
            <a:ext cx="2011680" cy="164592"/>
          </a:xfrm>
          <a:prstGeom prst="roundRect">
            <a:avLst>
              <a:gd name="adj" fmla="val 16667"/>
            </a:avLst>
          </a:prstGeom>
          <a:solidFill>
            <a:srgbClr val="FEE2E2"/>
          </a:solidFill>
          <a:ln w="9525">
            <a:solidFill>
              <a:srgbClr val="EF4444"/>
            </a:solidFill>
            <a:prstDash val="solid"/>
          </a:ln>
        </p:spPr>
        <p:txBody>
          <a:bodyPr/>
          <a:lstStyle/>
          <a:p>
            <a:endParaRPr lang="en-US" dirty="0"/>
          </a:p>
        </p:txBody>
      </p:sp>
      <p:sp>
        <p:nvSpPr>
          <p:cNvPr id="44" name="Text 42"/>
          <p:cNvSpPr/>
          <p:nvPr/>
        </p:nvSpPr>
        <p:spPr>
          <a:xfrm>
            <a:off x="2468880" y="4261104"/>
            <a:ext cx="2011680" cy="164592"/>
          </a:xfrm>
          <a:prstGeom prst="rect">
            <a:avLst/>
          </a:prstGeom>
          <a:noFill/>
          <a:ln/>
        </p:spPr>
        <p:txBody>
          <a:bodyPr wrap="square" lIns="0" tIns="0" rIns="0" bIns="0" rtlCol="0" anchor="ctr"/>
          <a:lstStyle/>
          <a:p>
            <a:pPr marL="0" indent="0" algn="ctr">
              <a:buNone/>
            </a:pPr>
            <a:r>
              <a:rPr lang="en-US" sz="600" b="1" dirty="0">
                <a:solidFill>
                  <a:srgbClr val="7F1D1D"/>
                </a:solidFill>
                <a:latin typeface="Segoe UI" pitchFamily="34" charset="0"/>
                <a:ea typeface="Segoe UI" pitchFamily="34" charset="-122"/>
                <a:cs typeface="Segoe UI" pitchFamily="34" charset="-120"/>
              </a:rPr>
              <a:t>Internet / ISP</a:t>
            </a:r>
            <a:endParaRPr lang="en-US" sz="600" dirty="0"/>
          </a:p>
        </p:txBody>
      </p:sp>
      <p:sp>
        <p:nvSpPr>
          <p:cNvPr id="45" name="Shape 43"/>
          <p:cNvSpPr/>
          <p:nvPr/>
        </p:nvSpPr>
        <p:spPr>
          <a:xfrm>
            <a:off x="3474720" y="4467420"/>
            <a:ext cx="0" cy="36576"/>
          </a:xfrm>
          <a:prstGeom prst="line">
            <a:avLst/>
          </a:prstGeom>
          <a:noFill/>
          <a:ln w="12700">
            <a:solidFill>
              <a:schemeClr val="bg1"/>
            </a:solidFill>
            <a:prstDash val="solid"/>
            <a:tailEnd type="triangle"/>
          </a:ln>
        </p:spPr>
        <p:txBody>
          <a:bodyPr/>
          <a:lstStyle/>
          <a:p>
            <a:endParaRPr lang="en-US" dirty="0"/>
          </a:p>
        </p:txBody>
      </p:sp>
      <p:sp>
        <p:nvSpPr>
          <p:cNvPr id="46" name="Shape 44"/>
          <p:cNvSpPr/>
          <p:nvPr/>
        </p:nvSpPr>
        <p:spPr>
          <a:xfrm>
            <a:off x="2468880" y="4503996"/>
            <a:ext cx="2011680" cy="164592"/>
          </a:xfrm>
          <a:prstGeom prst="roundRect">
            <a:avLst>
              <a:gd name="adj" fmla="val 16667"/>
            </a:avLst>
          </a:prstGeom>
          <a:solidFill>
            <a:srgbClr val="FEE2E2"/>
          </a:solidFill>
          <a:ln w="9525">
            <a:solidFill>
              <a:srgbClr val="EF4444"/>
            </a:solidFill>
            <a:prstDash val="solid"/>
          </a:ln>
        </p:spPr>
        <p:txBody>
          <a:bodyPr/>
          <a:lstStyle/>
          <a:p>
            <a:endParaRPr lang="en-US" dirty="0"/>
          </a:p>
        </p:txBody>
      </p:sp>
      <p:sp>
        <p:nvSpPr>
          <p:cNvPr id="47" name="Text 45"/>
          <p:cNvSpPr/>
          <p:nvPr/>
        </p:nvSpPr>
        <p:spPr>
          <a:xfrm>
            <a:off x="2468880" y="4503996"/>
            <a:ext cx="2011680" cy="164592"/>
          </a:xfrm>
          <a:prstGeom prst="rect">
            <a:avLst/>
          </a:prstGeom>
          <a:noFill/>
          <a:ln/>
        </p:spPr>
        <p:txBody>
          <a:bodyPr wrap="square" lIns="0" tIns="0" rIns="0" bIns="0" rtlCol="0" anchor="ctr"/>
          <a:lstStyle/>
          <a:p>
            <a:pPr marL="0" indent="0" algn="ctr">
              <a:buNone/>
            </a:pPr>
            <a:r>
              <a:rPr lang="en-US" sz="600" b="1" dirty="0">
                <a:solidFill>
                  <a:srgbClr val="7F1D1D"/>
                </a:solidFill>
                <a:latin typeface="Segoe UI" pitchFamily="34" charset="0"/>
                <a:ea typeface="Segoe UI" pitchFamily="34" charset="-122"/>
                <a:cs typeface="Segoe UI" pitchFamily="34" charset="-120"/>
              </a:rPr>
              <a:t>Firewall / Router</a:t>
            </a:r>
            <a:endParaRPr lang="en-US" sz="600" dirty="0"/>
          </a:p>
        </p:txBody>
      </p:sp>
      <p:sp>
        <p:nvSpPr>
          <p:cNvPr id="48" name="Shape 46"/>
          <p:cNvSpPr/>
          <p:nvPr/>
        </p:nvSpPr>
        <p:spPr>
          <a:xfrm>
            <a:off x="3474720" y="4703358"/>
            <a:ext cx="0" cy="36576"/>
          </a:xfrm>
          <a:prstGeom prst="line">
            <a:avLst/>
          </a:prstGeom>
          <a:noFill/>
          <a:ln w="12700">
            <a:solidFill>
              <a:schemeClr val="bg1"/>
            </a:solidFill>
            <a:prstDash val="solid"/>
            <a:tailEnd type="triangle"/>
          </a:ln>
        </p:spPr>
        <p:txBody>
          <a:bodyPr/>
          <a:lstStyle/>
          <a:p>
            <a:endParaRPr lang="en-US" dirty="0"/>
          </a:p>
        </p:txBody>
      </p:sp>
      <p:sp>
        <p:nvSpPr>
          <p:cNvPr id="49" name="Shape 47"/>
          <p:cNvSpPr/>
          <p:nvPr/>
        </p:nvSpPr>
        <p:spPr>
          <a:xfrm>
            <a:off x="2468880" y="4736457"/>
            <a:ext cx="2011680" cy="164592"/>
          </a:xfrm>
          <a:prstGeom prst="roundRect">
            <a:avLst>
              <a:gd name="adj" fmla="val 16667"/>
            </a:avLst>
          </a:prstGeom>
          <a:solidFill>
            <a:srgbClr val="FEE2E2"/>
          </a:solidFill>
          <a:ln w="9525">
            <a:solidFill>
              <a:srgbClr val="EF4444"/>
            </a:solidFill>
            <a:prstDash val="solid"/>
          </a:ln>
        </p:spPr>
        <p:txBody>
          <a:bodyPr/>
          <a:lstStyle/>
          <a:p>
            <a:endParaRPr lang="en-US" dirty="0"/>
          </a:p>
        </p:txBody>
      </p:sp>
      <p:sp>
        <p:nvSpPr>
          <p:cNvPr id="50" name="Text 48"/>
          <p:cNvSpPr/>
          <p:nvPr/>
        </p:nvSpPr>
        <p:spPr>
          <a:xfrm>
            <a:off x="2468880" y="4736457"/>
            <a:ext cx="2011680" cy="164592"/>
          </a:xfrm>
          <a:prstGeom prst="rect">
            <a:avLst/>
          </a:prstGeom>
          <a:noFill/>
          <a:ln/>
        </p:spPr>
        <p:txBody>
          <a:bodyPr wrap="square" lIns="0" tIns="0" rIns="0" bIns="0" rtlCol="0" anchor="ctr"/>
          <a:lstStyle/>
          <a:p>
            <a:pPr marL="0" indent="0" algn="ctr">
              <a:buNone/>
            </a:pPr>
            <a:r>
              <a:rPr lang="en-US" sz="600" b="1" dirty="0">
                <a:solidFill>
                  <a:srgbClr val="7F1D1D"/>
                </a:solidFill>
                <a:latin typeface="Segoe UI" pitchFamily="34" charset="0"/>
                <a:ea typeface="Segoe UI" pitchFamily="34" charset="-122"/>
                <a:cs typeface="Segoe UI" pitchFamily="34" charset="-120"/>
              </a:rPr>
              <a:t>Managed Switch (VLAN-aware)</a:t>
            </a:r>
            <a:endParaRPr lang="en-US" sz="600" dirty="0"/>
          </a:p>
        </p:txBody>
      </p:sp>
      <p:sp>
        <p:nvSpPr>
          <p:cNvPr id="51" name="Shape 49"/>
          <p:cNvSpPr/>
          <p:nvPr/>
        </p:nvSpPr>
        <p:spPr>
          <a:xfrm>
            <a:off x="6949440" y="850392"/>
            <a:ext cx="1920240" cy="2331720"/>
          </a:xfrm>
          <a:prstGeom prst="roundRect">
            <a:avLst>
              <a:gd name="adj" fmla="val 3810"/>
            </a:avLst>
          </a:prstGeom>
          <a:solidFill>
            <a:srgbClr val="EDE9FE"/>
          </a:solidFill>
          <a:ln w="19050">
            <a:solidFill>
              <a:srgbClr val="8B5CF6"/>
            </a:solidFill>
            <a:prstDash val="solid"/>
          </a:ln>
        </p:spPr>
        <p:txBody>
          <a:bodyPr/>
          <a:lstStyle/>
          <a:p>
            <a:endParaRPr lang="en-US" dirty="0"/>
          </a:p>
        </p:txBody>
      </p:sp>
      <p:sp>
        <p:nvSpPr>
          <p:cNvPr id="52" name="Text 50"/>
          <p:cNvSpPr/>
          <p:nvPr/>
        </p:nvSpPr>
        <p:spPr>
          <a:xfrm>
            <a:off x="7022592" y="923544"/>
            <a:ext cx="1773936" cy="2185416"/>
          </a:xfrm>
          <a:prstGeom prst="rect">
            <a:avLst/>
          </a:prstGeom>
          <a:noFill/>
          <a:ln/>
        </p:spPr>
        <p:txBody>
          <a:bodyPr wrap="square" lIns="0" tIns="0" rIns="0" bIns="0" rtlCol="0" anchor="t"/>
          <a:lstStyle/>
          <a:p>
            <a:pPr marL="0" indent="0" algn="ctr">
              <a:buNone/>
            </a:pPr>
            <a:r>
              <a:rPr lang="en-US" sz="850" b="1" dirty="0">
                <a:solidFill>
                  <a:srgbClr val="4C1D95"/>
                </a:solidFill>
                <a:latin typeface="Segoe UI" pitchFamily="34" charset="0"/>
                <a:ea typeface="Segoe UI" pitchFamily="34" charset="-122"/>
                <a:cs typeface="Segoe UI" pitchFamily="34" charset="-120"/>
              </a:rPr>
              <a:t>Management</a:t>
            </a:r>
            <a:endParaRPr lang="en-US" sz="850" dirty="0"/>
          </a:p>
          <a:p>
            <a:pPr marL="0" indent="0" algn="ctr">
              <a:buNone/>
            </a:pPr>
            <a:r>
              <a:rPr lang="en-US" sz="850" b="1" dirty="0">
                <a:solidFill>
                  <a:srgbClr val="4C1D95"/>
                </a:solidFill>
                <a:latin typeface="Segoe UI" pitchFamily="34" charset="0"/>
                <a:ea typeface="Segoe UI" pitchFamily="34" charset="-122"/>
                <a:cs typeface="Segoe UI" pitchFamily="34" charset="-120"/>
              </a:rPr>
              <a:t>Layer</a:t>
            </a:r>
            <a:endParaRPr lang="en-US" sz="850" dirty="0"/>
          </a:p>
          <a:p>
            <a:pPr marL="0" indent="0" algn="ctr">
              <a:buNone/>
            </a:pPr>
            <a:r>
              <a:rPr lang="en-US" sz="500" dirty="0">
                <a:solidFill>
                  <a:srgbClr val="4C1D95"/>
                </a:solidFill>
                <a:latin typeface="Segoe UI" pitchFamily="34" charset="0"/>
                <a:ea typeface="Segoe UI" pitchFamily="34" charset="-122"/>
                <a:cs typeface="Segoe UI" pitchFamily="34" charset="-120"/>
              </a:rPr>
              <a:t> </a:t>
            </a:r>
            <a:endParaRPr lang="en-US" sz="850" dirty="0"/>
          </a:p>
          <a:p>
            <a:pPr marL="0" indent="0" algn="ctr">
              <a:buNone/>
            </a:pPr>
            <a:r>
              <a:rPr lang="en-US" sz="700" b="1" dirty="0">
                <a:solidFill>
                  <a:srgbClr val="4C1D95"/>
                </a:solidFill>
                <a:latin typeface="Segoe UI" pitchFamily="34" charset="0"/>
                <a:ea typeface="Segoe UI" pitchFamily="34" charset="-122"/>
                <a:cs typeface="Segoe UI" pitchFamily="34" charset="-120"/>
              </a:rPr>
              <a:t>Proxmox Web UI</a:t>
            </a:r>
            <a:endParaRPr lang="en-US" sz="850" dirty="0"/>
          </a:p>
          <a:p>
            <a:pPr marL="0" indent="0" algn="ctr">
              <a:buNone/>
            </a:pPr>
            <a:r>
              <a:rPr lang="en-US" sz="400" dirty="0">
                <a:solidFill>
                  <a:srgbClr val="4C1D95"/>
                </a:solidFill>
                <a:latin typeface="Segoe UI" pitchFamily="34" charset="0"/>
                <a:ea typeface="Segoe UI" pitchFamily="34" charset="-122"/>
                <a:cs typeface="Segoe UI" pitchFamily="34" charset="-120"/>
              </a:rPr>
              <a:t> </a:t>
            </a:r>
            <a:endParaRPr lang="en-US" sz="850" dirty="0"/>
          </a:p>
          <a:p>
            <a:pPr marL="0" indent="0" algn="ctr">
              <a:buNone/>
            </a:pPr>
            <a:r>
              <a:rPr lang="en-US" sz="600" dirty="0">
                <a:solidFill>
                  <a:srgbClr val="4C1D95"/>
                </a:solidFill>
                <a:latin typeface="Segoe UI" pitchFamily="34" charset="0"/>
                <a:ea typeface="Segoe UI" pitchFamily="34" charset="-122"/>
                <a:cs typeface="Segoe UI" pitchFamily="34" charset="-120"/>
              </a:rPr>
              <a:t>▸ Cluster Management</a:t>
            </a:r>
            <a:endParaRPr lang="en-US" sz="850" dirty="0"/>
          </a:p>
          <a:p>
            <a:pPr marL="0" indent="0" algn="ctr">
              <a:buNone/>
            </a:pPr>
            <a:r>
              <a:rPr lang="en-US" sz="600" dirty="0">
                <a:solidFill>
                  <a:srgbClr val="4C1D95"/>
                </a:solidFill>
                <a:latin typeface="Segoe UI" pitchFamily="34" charset="0"/>
                <a:ea typeface="Segoe UI" pitchFamily="34" charset="-122"/>
                <a:cs typeface="Segoe UI" pitchFamily="34" charset="-120"/>
              </a:rPr>
              <a:t>▸ Backup Management</a:t>
            </a:r>
            <a:endParaRPr lang="en-US" sz="850" dirty="0"/>
          </a:p>
          <a:p>
            <a:pPr marL="0" indent="0" algn="ctr">
              <a:buNone/>
            </a:pPr>
            <a:r>
              <a:rPr lang="en-US" sz="600" dirty="0">
                <a:solidFill>
                  <a:srgbClr val="4C1D95"/>
                </a:solidFill>
                <a:latin typeface="Segoe UI" pitchFamily="34" charset="0"/>
                <a:ea typeface="Segoe UI" pitchFamily="34" charset="-122"/>
                <a:cs typeface="Segoe UI" pitchFamily="34" charset="-120"/>
              </a:rPr>
              <a:t>▸ Monitoring</a:t>
            </a:r>
            <a:endParaRPr lang="en-US" sz="850" dirty="0"/>
          </a:p>
          <a:p>
            <a:pPr marL="0" indent="0" algn="ctr">
              <a:buNone/>
            </a:pPr>
            <a:r>
              <a:rPr lang="en-US" sz="500" dirty="0">
                <a:solidFill>
                  <a:srgbClr val="4C1D95"/>
                </a:solidFill>
                <a:latin typeface="Segoe UI" pitchFamily="34" charset="0"/>
                <a:ea typeface="Segoe UI" pitchFamily="34" charset="-122"/>
                <a:cs typeface="Segoe UI" pitchFamily="34" charset="-120"/>
              </a:rPr>
              <a:t> </a:t>
            </a:r>
            <a:endParaRPr lang="en-US" sz="850" dirty="0"/>
          </a:p>
          <a:p>
            <a:pPr marL="0" indent="0" algn="ctr">
              <a:buNone/>
            </a:pPr>
            <a:r>
              <a:rPr lang="en-US" sz="500" i="1" dirty="0">
                <a:solidFill>
                  <a:srgbClr val="7C3AED"/>
                </a:solidFill>
                <a:latin typeface="Segoe UI" pitchFamily="34" charset="0"/>
                <a:ea typeface="Segoe UI" pitchFamily="34" charset="-122"/>
                <a:cs typeface="Segoe UI" pitchFamily="34" charset="-120"/>
              </a:rPr>
              <a:t>Controls everything,</a:t>
            </a:r>
            <a:endParaRPr lang="en-US" sz="850" dirty="0"/>
          </a:p>
          <a:p>
            <a:pPr marL="0" indent="0" algn="ctr">
              <a:buNone/>
            </a:pPr>
            <a:r>
              <a:rPr lang="en-US" sz="500" i="1" dirty="0">
                <a:solidFill>
                  <a:srgbClr val="7C3AED"/>
                </a:solidFill>
                <a:latin typeface="Segoe UI" pitchFamily="34" charset="0"/>
                <a:ea typeface="Segoe UI" pitchFamily="34" charset="-122"/>
                <a:cs typeface="Segoe UI" pitchFamily="34" charset="-120"/>
              </a:rPr>
              <a:t>not in the data path</a:t>
            </a:r>
            <a:endParaRPr lang="en-US" sz="850" dirty="0"/>
          </a:p>
        </p:txBody>
      </p:sp>
      <p:sp>
        <p:nvSpPr>
          <p:cNvPr id="53" name="Shape 51"/>
          <p:cNvSpPr/>
          <p:nvPr/>
        </p:nvSpPr>
        <p:spPr>
          <a:xfrm>
            <a:off x="6739128" y="1513332"/>
            <a:ext cx="210312" cy="0"/>
          </a:xfrm>
          <a:prstGeom prst="line">
            <a:avLst/>
          </a:prstGeom>
          <a:noFill/>
          <a:ln w="12700">
            <a:solidFill>
              <a:schemeClr val="tx1"/>
            </a:solidFill>
            <a:prstDash val="dash"/>
          </a:ln>
        </p:spPr>
        <p:txBody>
          <a:bodyPr/>
          <a:lstStyle/>
          <a:p>
            <a:endParaRPr lang="en-US" dirty="0"/>
          </a:p>
        </p:txBody>
      </p:sp>
      <p:sp>
        <p:nvSpPr>
          <p:cNvPr id="54" name="Shape 52"/>
          <p:cNvSpPr/>
          <p:nvPr/>
        </p:nvSpPr>
        <p:spPr>
          <a:xfrm>
            <a:off x="6739128" y="2747772"/>
            <a:ext cx="210312" cy="0"/>
          </a:xfrm>
          <a:prstGeom prst="line">
            <a:avLst/>
          </a:prstGeom>
          <a:noFill/>
          <a:ln w="12700">
            <a:solidFill>
              <a:schemeClr val="tx1"/>
            </a:solidFill>
            <a:prstDash val="dash"/>
          </a:ln>
        </p:spPr>
        <p:txBody>
          <a:bodyPr/>
          <a:lstStyle/>
          <a:p>
            <a:endParaRPr lang="en-US" dirty="0"/>
          </a:p>
        </p:txBody>
      </p:sp>
      <p:sp>
        <p:nvSpPr>
          <p:cNvPr id="55" name="Text 53"/>
          <p:cNvSpPr/>
          <p:nvPr/>
        </p:nvSpPr>
        <p:spPr>
          <a:xfrm>
            <a:off x="6858000" y="4800600"/>
            <a:ext cx="2194560" cy="320040"/>
          </a:xfrm>
          <a:prstGeom prst="rect">
            <a:avLst/>
          </a:prstGeom>
          <a:noFill/>
          <a:ln/>
        </p:spPr>
        <p:txBody>
          <a:bodyPr wrap="square" lIns="0" tIns="0" rIns="0" bIns="0" rtlCol="0" anchor="ctr"/>
          <a:lstStyle/>
          <a:p>
            <a:pPr marL="0" indent="0" algn="l">
              <a:buNone/>
            </a:pPr>
            <a:r>
              <a:rPr lang="en-US" sz="600" dirty="0">
                <a:latin typeface="Segoe UI" pitchFamily="34" charset="0"/>
                <a:ea typeface="Segoe UI" pitchFamily="34" charset="-122"/>
                <a:cs typeface="Segoe UI" pitchFamily="34" charset="-120"/>
              </a:rPr>
              <a:t>──── Solid = Data Flow</a:t>
            </a:r>
            <a:endParaRPr lang="en-US" sz="600" dirty="0"/>
          </a:p>
          <a:p>
            <a:pPr marL="0" indent="0" algn="l">
              <a:buNone/>
            </a:pPr>
            <a:r>
              <a:rPr lang="en-US" sz="600" dirty="0">
                <a:latin typeface="Segoe UI" pitchFamily="34" charset="0"/>
                <a:ea typeface="Segoe UI" pitchFamily="34" charset="-122"/>
                <a:cs typeface="Segoe UI" pitchFamily="34" charset="-120"/>
              </a:rPr>
              <a:t>- - - - Dashed = Management / Control</a:t>
            </a:r>
            <a:endParaRPr lang="en-US" sz="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8"/>
          <p:cNvSpPr/>
          <p:nvPr/>
        </p:nvSpPr>
        <p:spPr>
          <a:xfrm>
            <a:off x="0" y="0"/>
            <a:ext cx="9144000" cy="685800"/>
          </a:xfrm>
          <a:prstGeom prst="rect">
            <a:avLst/>
          </a:prstGeom>
          <a:solidFill>
            <a:srgbClr val="1A2B4A"/>
          </a:solidFill>
          <a:ln w="12700" cap="flat" cmpd="sng">
            <a:solidFill>
              <a:srgbClr val="1A2B4A"/>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202" name="Google Shape;202;p8"/>
          <p:cNvSpPr/>
          <p:nvPr/>
        </p:nvSpPr>
        <p:spPr>
          <a:xfrm>
            <a:off x="365760" y="0"/>
            <a:ext cx="8412480" cy="6858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2200"/>
              <a:buFont typeface="Calibri"/>
              <a:buNone/>
            </a:pPr>
            <a:r>
              <a:rPr lang="en-US" sz="2200" b="1" dirty="0">
                <a:solidFill>
                  <a:srgbClr val="FFFFFF"/>
                </a:solidFill>
                <a:latin typeface="Calibri"/>
                <a:ea typeface="Calibri"/>
                <a:cs typeface="Calibri"/>
                <a:sym typeface="Calibri"/>
              </a:rPr>
              <a:t>Architecture Details &amp; Design Rationale</a:t>
            </a:r>
            <a:endParaRPr sz="2200" dirty="0">
              <a:solidFill>
                <a:schemeClr val="dk1"/>
              </a:solidFill>
              <a:latin typeface="Calibri"/>
              <a:ea typeface="Calibri"/>
              <a:cs typeface="Calibri"/>
              <a:sym typeface="Calibri"/>
            </a:endParaRPr>
          </a:p>
        </p:txBody>
      </p:sp>
      <p:sp>
        <p:nvSpPr>
          <p:cNvPr id="203" name="Google Shape;203;p8"/>
          <p:cNvSpPr/>
          <p:nvPr/>
        </p:nvSpPr>
        <p:spPr>
          <a:xfrm>
            <a:off x="274320" y="822960"/>
            <a:ext cx="4206240" cy="1234440"/>
          </a:xfrm>
          <a:prstGeom prst="rect">
            <a:avLst/>
          </a:prstGeom>
          <a:solidFill>
            <a:srgbClr val="FFFFFF"/>
          </a:solidFill>
          <a:ln w="12700" cap="flat" cmpd="sng">
            <a:solidFill>
              <a:srgbClr val="E2E8F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204" name="Google Shape;204;p8"/>
          <p:cNvSpPr/>
          <p:nvPr/>
        </p:nvSpPr>
        <p:spPr>
          <a:xfrm>
            <a:off x="274320" y="822960"/>
            <a:ext cx="4206240" cy="64008"/>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205" name="Google Shape;205;p8"/>
          <p:cNvSpPr/>
          <p:nvPr/>
        </p:nvSpPr>
        <p:spPr>
          <a:xfrm>
            <a:off x="411480" y="932688"/>
            <a:ext cx="393192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2B4A"/>
              </a:buClr>
              <a:buSzPts val="1100"/>
              <a:buFont typeface="Calibri"/>
              <a:buNone/>
            </a:pPr>
            <a:r>
              <a:rPr lang="en-US" sz="1100" b="1" dirty="0">
                <a:solidFill>
                  <a:srgbClr val="1A2B4A"/>
                </a:solidFill>
                <a:latin typeface="Calibri"/>
                <a:ea typeface="Calibri"/>
                <a:cs typeface="Calibri"/>
                <a:sym typeface="Calibri"/>
              </a:rPr>
              <a:t>Host Servers (×3)</a:t>
            </a:r>
            <a:endParaRPr sz="1100" dirty="0">
              <a:solidFill>
                <a:schemeClr val="dk1"/>
              </a:solidFill>
              <a:latin typeface="Calibri"/>
              <a:ea typeface="Calibri"/>
              <a:cs typeface="Calibri"/>
              <a:sym typeface="Calibri"/>
            </a:endParaRPr>
          </a:p>
        </p:txBody>
      </p:sp>
      <p:sp>
        <p:nvSpPr>
          <p:cNvPr id="206" name="Google Shape;206;p8"/>
          <p:cNvSpPr/>
          <p:nvPr/>
        </p:nvSpPr>
        <p:spPr>
          <a:xfrm>
            <a:off x="411480" y="1280160"/>
            <a:ext cx="3931920" cy="71323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F172A"/>
              </a:buClr>
              <a:buSzPts val="950"/>
              <a:buFont typeface="Calibri"/>
              <a:buNone/>
            </a:pPr>
            <a:r>
              <a:rPr lang="en-US" sz="950" dirty="0">
                <a:solidFill>
                  <a:srgbClr val="0F172A"/>
                </a:solidFill>
                <a:latin typeface="Calibri"/>
                <a:ea typeface="Calibri"/>
                <a:cs typeface="Calibri"/>
                <a:sym typeface="Calibri"/>
              </a:rPr>
              <a:t>Each physical host: 32-core CPU, 128 GB RAM, 2 TB NVMe SSD (OS + VMs) + 4 TB HDD (bulk storage). Three nodes form a Proxmox HA cluster with quorum.</a:t>
            </a:r>
            <a:endParaRPr sz="950" dirty="0">
              <a:solidFill>
                <a:schemeClr val="dk1"/>
              </a:solidFill>
              <a:latin typeface="Calibri"/>
              <a:ea typeface="Calibri"/>
              <a:cs typeface="Calibri"/>
              <a:sym typeface="Calibri"/>
            </a:endParaRPr>
          </a:p>
        </p:txBody>
      </p:sp>
      <p:sp>
        <p:nvSpPr>
          <p:cNvPr id="207" name="Google Shape;207;p8"/>
          <p:cNvSpPr/>
          <p:nvPr/>
        </p:nvSpPr>
        <p:spPr>
          <a:xfrm>
            <a:off x="4754880" y="822960"/>
            <a:ext cx="4206240" cy="1234440"/>
          </a:xfrm>
          <a:prstGeom prst="rect">
            <a:avLst/>
          </a:prstGeom>
          <a:solidFill>
            <a:srgbClr val="FFFFFF"/>
          </a:solidFill>
          <a:ln w="12700" cap="flat" cmpd="sng">
            <a:solidFill>
              <a:srgbClr val="E2E8F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208" name="Google Shape;208;p8"/>
          <p:cNvSpPr/>
          <p:nvPr/>
        </p:nvSpPr>
        <p:spPr>
          <a:xfrm>
            <a:off x="4754880" y="822960"/>
            <a:ext cx="4206240" cy="64008"/>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209" name="Google Shape;209;p8"/>
          <p:cNvSpPr/>
          <p:nvPr/>
        </p:nvSpPr>
        <p:spPr>
          <a:xfrm>
            <a:off x="4892040" y="932688"/>
            <a:ext cx="393192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2B4A"/>
              </a:buClr>
              <a:buSzPts val="1100"/>
              <a:buFont typeface="Calibri"/>
              <a:buNone/>
            </a:pPr>
            <a:r>
              <a:rPr lang="en-US" sz="1100" b="1" dirty="0">
                <a:solidFill>
                  <a:srgbClr val="1A2B4A"/>
                </a:solidFill>
                <a:latin typeface="Calibri"/>
                <a:ea typeface="Calibri"/>
                <a:cs typeface="Calibri"/>
                <a:sym typeface="Calibri"/>
              </a:rPr>
              <a:t>Virtual Machines</a:t>
            </a:r>
            <a:endParaRPr sz="1100" dirty="0">
              <a:solidFill>
                <a:schemeClr val="dk1"/>
              </a:solidFill>
              <a:latin typeface="Calibri"/>
              <a:ea typeface="Calibri"/>
              <a:cs typeface="Calibri"/>
              <a:sym typeface="Calibri"/>
            </a:endParaRPr>
          </a:p>
        </p:txBody>
      </p:sp>
      <p:sp>
        <p:nvSpPr>
          <p:cNvPr id="210" name="Google Shape;210;p8"/>
          <p:cNvSpPr/>
          <p:nvPr/>
        </p:nvSpPr>
        <p:spPr>
          <a:xfrm>
            <a:off x="4892040" y="1280160"/>
            <a:ext cx="3931920" cy="71323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F172A"/>
              </a:buClr>
              <a:buSzPts val="950"/>
              <a:buFont typeface="Calibri"/>
              <a:buNone/>
            </a:pPr>
            <a:r>
              <a:rPr lang="en-US" sz="950" dirty="0">
                <a:solidFill>
                  <a:srgbClr val="0F172A"/>
                </a:solidFill>
                <a:latin typeface="Calibri"/>
                <a:ea typeface="Calibri"/>
                <a:cs typeface="Calibri"/>
                <a:sym typeface="Calibri"/>
              </a:rPr>
              <a:t>9 VMs total: Windows Server 2022 (AD/DNS), File Server, Web/DB, App Server, Backup (Proxmox Backup Server), VDI (2× Win 10), pfSense VM, Monitoring.</a:t>
            </a:r>
            <a:endParaRPr sz="950" dirty="0">
              <a:solidFill>
                <a:schemeClr val="dk1"/>
              </a:solidFill>
              <a:latin typeface="Calibri"/>
              <a:ea typeface="Calibri"/>
              <a:cs typeface="Calibri"/>
              <a:sym typeface="Calibri"/>
            </a:endParaRPr>
          </a:p>
        </p:txBody>
      </p:sp>
      <p:sp>
        <p:nvSpPr>
          <p:cNvPr id="211" name="Google Shape;211;p8"/>
          <p:cNvSpPr/>
          <p:nvPr/>
        </p:nvSpPr>
        <p:spPr>
          <a:xfrm>
            <a:off x="274320" y="2240280"/>
            <a:ext cx="4206240" cy="1234440"/>
          </a:xfrm>
          <a:prstGeom prst="rect">
            <a:avLst/>
          </a:prstGeom>
          <a:solidFill>
            <a:srgbClr val="FFFFFF"/>
          </a:solidFill>
          <a:ln w="12700" cap="flat" cmpd="sng">
            <a:solidFill>
              <a:srgbClr val="E2E8F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212" name="Google Shape;212;p8"/>
          <p:cNvSpPr/>
          <p:nvPr/>
        </p:nvSpPr>
        <p:spPr>
          <a:xfrm>
            <a:off x="274320" y="2240280"/>
            <a:ext cx="4206240" cy="64008"/>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213" name="Google Shape;213;p8"/>
          <p:cNvSpPr/>
          <p:nvPr/>
        </p:nvSpPr>
        <p:spPr>
          <a:xfrm>
            <a:off x="411480" y="2350008"/>
            <a:ext cx="393192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2B4A"/>
              </a:buClr>
              <a:buSzPts val="1100"/>
              <a:buFont typeface="Calibri"/>
              <a:buNone/>
            </a:pPr>
            <a:r>
              <a:rPr lang="en-US" sz="1100" b="1" dirty="0">
                <a:solidFill>
                  <a:srgbClr val="1A2B4A"/>
                </a:solidFill>
                <a:latin typeface="Calibri"/>
                <a:ea typeface="Calibri"/>
                <a:cs typeface="Calibri"/>
                <a:sym typeface="Calibri"/>
              </a:rPr>
              <a:t>Networking</a:t>
            </a:r>
            <a:endParaRPr sz="1100" dirty="0">
              <a:solidFill>
                <a:schemeClr val="dk1"/>
              </a:solidFill>
              <a:latin typeface="Calibri"/>
              <a:ea typeface="Calibri"/>
              <a:cs typeface="Calibri"/>
              <a:sym typeface="Calibri"/>
            </a:endParaRPr>
          </a:p>
        </p:txBody>
      </p:sp>
      <p:sp>
        <p:nvSpPr>
          <p:cNvPr id="214" name="Google Shape;214;p8"/>
          <p:cNvSpPr/>
          <p:nvPr/>
        </p:nvSpPr>
        <p:spPr>
          <a:xfrm>
            <a:off x="411480" y="2697480"/>
            <a:ext cx="3931920" cy="71323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F172A"/>
              </a:buClr>
              <a:buSzPts val="950"/>
              <a:buFont typeface="Calibri"/>
              <a:buNone/>
            </a:pPr>
            <a:r>
              <a:rPr lang="en-US" sz="950" dirty="0">
                <a:solidFill>
                  <a:srgbClr val="0F172A"/>
                </a:solidFill>
                <a:latin typeface="Calibri"/>
                <a:ea typeface="Calibri"/>
                <a:cs typeface="Calibri"/>
                <a:sym typeface="Calibri"/>
              </a:rPr>
              <a:t>VLAN-aware managed switch. Separate VLANs for: Management (VLAN 10), Production (VLAN 20), Clients (VLAN 30), Storage (VLAN 40). Proxmox Linux Bridge per VLAN on each host.</a:t>
            </a:r>
            <a:endParaRPr sz="950" dirty="0">
              <a:solidFill>
                <a:schemeClr val="dk1"/>
              </a:solidFill>
              <a:latin typeface="Calibri"/>
              <a:ea typeface="Calibri"/>
              <a:cs typeface="Calibri"/>
              <a:sym typeface="Calibri"/>
            </a:endParaRPr>
          </a:p>
        </p:txBody>
      </p:sp>
      <p:sp>
        <p:nvSpPr>
          <p:cNvPr id="215" name="Google Shape;215;p8"/>
          <p:cNvSpPr/>
          <p:nvPr/>
        </p:nvSpPr>
        <p:spPr>
          <a:xfrm>
            <a:off x="4754880" y="2240280"/>
            <a:ext cx="4206240" cy="1234440"/>
          </a:xfrm>
          <a:prstGeom prst="rect">
            <a:avLst/>
          </a:prstGeom>
          <a:solidFill>
            <a:srgbClr val="FFFFFF"/>
          </a:solidFill>
          <a:ln w="12700" cap="flat" cmpd="sng">
            <a:solidFill>
              <a:srgbClr val="E2E8F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216" name="Google Shape;216;p8"/>
          <p:cNvSpPr/>
          <p:nvPr/>
        </p:nvSpPr>
        <p:spPr>
          <a:xfrm>
            <a:off x="4754880" y="2240280"/>
            <a:ext cx="4206240" cy="64008"/>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217" name="Google Shape;217;p8"/>
          <p:cNvSpPr/>
          <p:nvPr/>
        </p:nvSpPr>
        <p:spPr>
          <a:xfrm>
            <a:off x="4892040" y="2350008"/>
            <a:ext cx="393192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2B4A"/>
              </a:buClr>
              <a:buSzPts val="1100"/>
              <a:buFont typeface="Calibri"/>
              <a:buNone/>
            </a:pPr>
            <a:r>
              <a:rPr lang="en-US" sz="1100" b="1" dirty="0">
                <a:solidFill>
                  <a:srgbClr val="1A2B4A"/>
                </a:solidFill>
                <a:latin typeface="Calibri"/>
                <a:ea typeface="Calibri"/>
                <a:cs typeface="Calibri"/>
                <a:sym typeface="Calibri"/>
              </a:rPr>
              <a:t>Storage</a:t>
            </a:r>
            <a:endParaRPr sz="1100" dirty="0">
              <a:solidFill>
                <a:schemeClr val="dk1"/>
              </a:solidFill>
              <a:latin typeface="Calibri"/>
              <a:ea typeface="Calibri"/>
              <a:cs typeface="Calibri"/>
              <a:sym typeface="Calibri"/>
            </a:endParaRPr>
          </a:p>
        </p:txBody>
      </p:sp>
      <p:sp>
        <p:nvSpPr>
          <p:cNvPr id="218" name="Google Shape;218;p8"/>
          <p:cNvSpPr/>
          <p:nvPr/>
        </p:nvSpPr>
        <p:spPr>
          <a:xfrm>
            <a:off x="4892040" y="2697480"/>
            <a:ext cx="3931920" cy="71323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F172A"/>
              </a:buClr>
              <a:buSzPts val="950"/>
              <a:buFont typeface="Calibri"/>
              <a:buNone/>
            </a:pPr>
            <a:r>
              <a:rPr lang="en-US" sz="950" dirty="0">
                <a:solidFill>
                  <a:srgbClr val="0F172A"/>
                </a:solidFill>
                <a:latin typeface="Calibri"/>
                <a:ea typeface="Calibri"/>
                <a:cs typeface="Calibri"/>
                <a:sym typeface="Calibri"/>
              </a:rPr>
              <a:t>Local ZFS (Zettabyte File System) mirrored pools per host for VM storage. NAS (NFS/CIFS) for shared storage and backups. Proxmox Backup Server (PBS) on a dedicated VM for daily snapshots.</a:t>
            </a:r>
            <a:endParaRPr sz="950" dirty="0">
              <a:solidFill>
                <a:schemeClr val="dk1"/>
              </a:solidFill>
              <a:latin typeface="Calibri"/>
              <a:ea typeface="Calibri"/>
              <a:cs typeface="Calibri"/>
              <a:sym typeface="Calibri"/>
            </a:endParaRPr>
          </a:p>
        </p:txBody>
      </p:sp>
      <p:sp>
        <p:nvSpPr>
          <p:cNvPr id="219" name="Google Shape;219;p8"/>
          <p:cNvSpPr/>
          <p:nvPr/>
        </p:nvSpPr>
        <p:spPr>
          <a:xfrm>
            <a:off x="274320" y="3657600"/>
            <a:ext cx="4206240" cy="1234440"/>
          </a:xfrm>
          <a:prstGeom prst="rect">
            <a:avLst/>
          </a:prstGeom>
          <a:solidFill>
            <a:srgbClr val="FFFFFF"/>
          </a:solidFill>
          <a:ln w="12700" cap="flat" cmpd="sng">
            <a:solidFill>
              <a:srgbClr val="E2E8F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220" name="Google Shape;220;p8"/>
          <p:cNvSpPr/>
          <p:nvPr/>
        </p:nvSpPr>
        <p:spPr>
          <a:xfrm>
            <a:off x="274320" y="3657600"/>
            <a:ext cx="4206240" cy="64008"/>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221" name="Google Shape;221;p8"/>
          <p:cNvSpPr/>
          <p:nvPr/>
        </p:nvSpPr>
        <p:spPr>
          <a:xfrm>
            <a:off x="411480" y="3767328"/>
            <a:ext cx="393192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2B4A"/>
              </a:buClr>
              <a:buSzPts val="1100"/>
              <a:buFont typeface="Calibri"/>
              <a:buNone/>
            </a:pPr>
            <a:r>
              <a:rPr lang="en-US" sz="1100" b="1" dirty="0">
                <a:solidFill>
                  <a:srgbClr val="1A2B4A"/>
                </a:solidFill>
                <a:latin typeface="Calibri"/>
                <a:ea typeface="Calibri"/>
                <a:cs typeface="Calibri"/>
                <a:sym typeface="Calibri"/>
              </a:rPr>
              <a:t>Management Tools</a:t>
            </a:r>
            <a:endParaRPr sz="1100" dirty="0">
              <a:solidFill>
                <a:schemeClr val="dk1"/>
              </a:solidFill>
              <a:latin typeface="Calibri"/>
              <a:ea typeface="Calibri"/>
              <a:cs typeface="Calibri"/>
              <a:sym typeface="Calibri"/>
            </a:endParaRPr>
          </a:p>
        </p:txBody>
      </p:sp>
      <p:sp>
        <p:nvSpPr>
          <p:cNvPr id="222" name="Google Shape;222;p8"/>
          <p:cNvSpPr/>
          <p:nvPr/>
        </p:nvSpPr>
        <p:spPr>
          <a:xfrm>
            <a:off x="411480" y="4114800"/>
            <a:ext cx="3931920" cy="71323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F172A"/>
              </a:buClr>
              <a:buSzPts val="950"/>
              <a:buFont typeface="Calibri"/>
              <a:buNone/>
            </a:pPr>
            <a:r>
              <a:rPr lang="en-US" sz="950" dirty="0">
                <a:solidFill>
                  <a:srgbClr val="0F172A"/>
                </a:solidFill>
                <a:latin typeface="Calibri"/>
                <a:ea typeface="Calibri"/>
                <a:cs typeface="Calibri"/>
                <a:sym typeface="Calibri"/>
              </a:rPr>
              <a:t>Proxmox VE Web UI (built-in) — single pane of glass for all VMs, containers, and cluster health. No additional management server required.</a:t>
            </a:r>
            <a:endParaRPr sz="950" dirty="0">
              <a:solidFill>
                <a:schemeClr val="dk1"/>
              </a:solidFill>
              <a:latin typeface="Calibri"/>
              <a:ea typeface="Calibri"/>
              <a:cs typeface="Calibri"/>
              <a:sym typeface="Calibri"/>
            </a:endParaRPr>
          </a:p>
        </p:txBody>
      </p:sp>
      <p:sp>
        <p:nvSpPr>
          <p:cNvPr id="223" name="Google Shape;223;p8"/>
          <p:cNvSpPr/>
          <p:nvPr/>
        </p:nvSpPr>
        <p:spPr>
          <a:xfrm>
            <a:off x="4754880" y="3657600"/>
            <a:ext cx="4206240" cy="1234440"/>
          </a:xfrm>
          <a:prstGeom prst="rect">
            <a:avLst/>
          </a:prstGeom>
          <a:solidFill>
            <a:srgbClr val="FFFFFF"/>
          </a:solidFill>
          <a:ln w="12700" cap="flat" cmpd="sng">
            <a:solidFill>
              <a:srgbClr val="E2E8F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224" name="Google Shape;224;p8"/>
          <p:cNvSpPr/>
          <p:nvPr/>
        </p:nvSpPr>
        <p:spPr>
          <a:xfrm>
            <a:off x="4754880" y="3657600"/>
            <a:ext cx="4206240" cy="64008"/>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225" name="Google Shape;225;p8"/>
          <p:cNvSpPr/>
          <p:nvPr/>
        </p:nvSpPr>
        <p:spPr>
          <a:xfrm>
            <a:off x="4892040" y="3767328"/>
            <a:ext cx="393192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2B4A"/>
              </a:buClr>
              <a:buSzPts val="1100"/>
              <a:buFont typeface="Calibri"/>
              <a:buNone/>
            </a:pPr>
            <a:r>
              <a:rPr lang="en-US" sz="1100" b="1" dirty="0">
                <a:solidFill>
                  <a:srgbClr val="1A2B4A"/>
                </a:solidFill>
                <a:latin typeface="Calibri"/>
                <a:ea typeface="Calibri"/>
                <a:cs typeface="Calibri"/>
                <a:sym typeface="Calibri"/>
              </a:rPr>
              <a:t>HA &amp; Continuity</a:t>
            </a:r>
            <a:endParaRPr sz="1100" dirty="0">
              <a:solidFill>
                <a:schemeClr val="dk1"/>
              </a:solidFill>
              <a:latin typeface="Calibri"/>
              <a:ea typeface="Calibri"/>
              <a:cs typeface="Calibri"/>
              <a:sym typeface="Calibri"/>
            </a:endParaRPr>
          </a:p>
        </p:txBody>
      </p:sp>
      <p:sp>
        <p:nvSpPr>
          <p:cNvPr id="226" name="Google Shape;226;p8"/>
          <p:cNvSpPr/>
          <p:nvPr/>
        </p:nvSpPr>
        <p:spPr>
          <a:xfrm>
            <a:off x="4892040" y="4114800"/>
            <a:ext cx="3931920" cy="71323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F172A"/>
              </a:buClr>
              <a:buSzPts val="950"/>
              <a:buFont typeface="Calibri"/>
              <a:buNone/>
            </a:pPr>
            <a:r>
              <a:rPr lang="en-US" sz="950" dirty="0">
                <a:solidFill>
                  <a:srgbClr val="0F172A"/>
                </a:solidFill>
                <a:latin typeface="Calibri"/>
                <a:ea typeface="Calibri"/>
                <a:cs typeface="Calibri"/>
                <a:sym typeface="Calibri"/>
              </a:rPr>
              <a:t>Proxmox HA Manager automatically restarts VMs on surviving nodes if a host fails. Live migration with zero downtime for planned maintenance.</a:t>
            </a:r>
            <a:endParaRPr sz="950" dirty="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9"/>
          <p:cNvSpPr/>
          <p:nvPr/>
        </p:nvSpPr>
        <p:spPr>
          <a:xfrm>
            <a:off x="0" y="0"/>
            <a:ext cx="164592" cy="5143500"/>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233" name="Google Shape;233;p9"/>
          <p:cNvSpPr/>
          <p:nvPr/>
        </p:nvSpPr>
        <p:spPr>
          <a:xfrm>
            <a:off x="164592" y="5029200"/>
            <a:ext cx="8979408" cy="114300"/>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234" name="Google Shape;234;p9"/>
          <p:cNvSpPr/>
          <p:nvPr/>
        </p:nvSpPr>
        <p:spPr>
          <a:xfrm>
            <a:off x="411480" y="457200"/>
            <a:ext cx="841248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4B8A6"/>
              </a:buClr>
              <a:buSzPts val="1200"/>
              <a:buFont typeface="Calibri"/>
              <a:buNone/>
            </a:pPr>
            <a:r>
              <a:rPr lang="en-US" sz="1200" b="1" dirty="0">
                <a:solidFill>
                  <a:srgbClr val="14B8A6"/>
                </a:solidFill>
                <a:latin typeface="Calibri"/>
                <a:ea typeface="Calibri"/>
                <a:cs typeface="Calibri"/>
                <a:sym typeface="Calibri"/>
              </a:rPr>
              <a:t>CONCLUSION</a:t>
            </a:r>
            <a:endParaRPr sz="1200" dirty="0">
              <a:solidFill>
                <a:schemeClr val="dk1"/>
              </a:solidFill>
              <a:latin typeface="Calibri"/>
              <a:ea typeface="Calibri"/>
              <a:cs typeface="Calibri"/>
              <a:sym typeface="Calibri"/>
            </a:endParaRPr>
          </a:p>
        </p:txBody>
      </p:sp>
      <p:sp>
        <p:nvSpPr>
          <p:cNvPr id="235" name="Google Shape;235;p9"/>
          <p:cNvSpPr/>
          <p:nvPr/>
        </p:nvSpPr>
        <p:spPr>
          <a:xfrm>
            <a:off x="411480" y="914400"/>
            <a:ext cx="8412480" cy="64008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3000"/>
              <a:buFont typeface="Calibri"/>
              <a:buNone/>
            </a:pPr>
            <a:r>
              <a:rPr lang="en-US" sz="3000" b="1" dirty="0">
                <a:solidFill>
                  <a:srgbClr val="FFFFFF"/>
                </a:solidFill>
                <a:latin typeface="Calibri"/>
                <a:ea typeface="Calibri"/>
                <a:cs typeface="Calibri"/>
                <a:sym typeface="Calibri"/>
              </a:rPr>
              <a:t>Proxmox VE is the right choice.</a:t>
            </a:r>
            <a:endParaRPr sz="3000" dirty="0">
              <a:solidFill>
                <a:schemeClr val="dk1"/>
              </a:solidFill>
              <a:latin typeface="Calibri"/>
              <a:ea typeface="Calibri"/>
              <a:cs typeface="Calibri"/>
              <a:sym typeface="Calibri"/>
            </a:endParaRPr>
          </a:p>
        </p:txBody>
      </p:sp>
      <p:sp>
        <p:nvSpPr>
          <p:cNvPr id="236" name="Google Shape;236;p9"/>
          <p:cNvSpPr/>
          <p:nvPr/>
        </p:nvSpPr>
        <p:spPr>
          <a:xfrm>
            <a:off x="411480" y="1600200"/>
            <a:ext cx="8321040" cy="1645920"/>
          </a:xfrm>
          <a:prstGeom prst="rect">
            <a:avLst/>
          </a:prstGeom>
          <a:noFill/>
          <a:ln>
            <a:noFill/>
          </a:ln>
        </p:spPr>
        <p:txBody>
          <a:bodyPr spcFirstLastPara="1" wrap="square" lIns="91425" tIns="45700" rIns="91425" bIns="45700" anchor="ctr" anchorCtr="0">
            <a:noAutofit/>
          </a:bodyPr>
          <a:lstStyle/>
          <a:p>
            <a:pPr marL="0" marR="0" lvl="0" indent="0" algn="l" rtl="0">
              <a:lnSpc>
                <a:spcPct val="130000"/>
              </a:lnSpc>
              <a:spcBef>
                <a:spcPts val="0"/>
              </a:spcBef>
              <a:spcAft>
                <a:spcPts val="0"/>
              </a:spcAft>
              <a:buClr>
                <a:srgbClr val="E2E8F0"/>
              </a:buClr>
              <a:buSzPts val="1300"/>
              <a:buFont typeface="Calibri"/>
              <a:buNone/>
            </a:pPr>
            <a:r>
              <a:rPr lang="en-US" sz="1300" dirty="0">
                <a:solidFill>
                  <a:srgbClr val="E2E8F0"/>
                </a:solidFill>
                <a:latin typeface="Calibri"/>
                <a:ea typeface="Calibri"/>
                <a:cs typeface="Calibri"/>
                <a:sym typeface="Calibri"/>
              </a:rPr>
              <a:t>Proxmox VE provides the best balance of cost, capability, and scalability for this SMB scenario. VMware vSphere is prohibitively expensive for this scale under Broadcom's new licensing model, and Hyper-V introduces Windows Server licensing costs without a commensurate feature advantage. Proxmox VE's built-in HA, live migration, ZFS, and intuitive web UI make it the clear, cost-effective winner.</a:t>
            </a:r>
            <a:endParaRPr sz="1300" dirty="0">
              <a:solidFill>
                <a:schemeClr val="dk1"/>
              </a:solidFill>
              <a:latin typeface="Calibri"/>
              <a:ea typeface="Calibri"/>
              <a:cs typeface="Calibri"/>
              <a:sym typeface="Calibri"/>
            </a:endParaRPr>
          </a:p>
        </p:txBody>
      </p:sp>
      <p:sp>
        <p:nvSpPr>
          <p:cNvPr id="237" name="Google Shape;237;p9"/>
          <p:cNvSpPr/>
          <p:nvPr/>
        </p:nvSpPr>
        <p:spPr>
          <a:xfrm>
            <a:off x="411480" y="3383280"/>
            <a:ext cx="2560320" cy="1280160"/>
          </a:xfrm>
          <a:prstGeom prst="rect">
            <a:avLst/>
          </a:prstGeom>
          <a:solidFill>
            <a:srgbClr val="1E3A5F"/>
          </a:solidFill>
          <a:ln w="12700" cap="flat" cmpd="sng">
            <a:solidFill>
              <a:srgbClr val="2D548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238" name="Google Shape;238;p9"/>
          <p:cNvSpPr/>
          <p:nvPr/>
        </p:nvSpPr>
        <p:spPr>
          <a:xfrm>
            <a:off x="411480" y="3383280"/>
            <a:ext cx="2560320" cy="64008"/>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239" name="Google Shape;239;p9"/>
          <p:cNvSpPr/>
          <p:nvPr/>
        </p:nvSpPr>
        <p:spPr>
          <a:xfrm>
            <a:off x="411480" y="3474720"/>
            <a:ext cx="2560320" cy="6400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4B8A6"/>
              </a:buClr>
              <a:buSzPts val="3200"/>
              <a:buFont typeface="Calibri"/>
              <a:buNone/>
            </a:pPr>
            <a:r>
              <a:rPr lang="en-US" sz="3200" b="1" dirty="0">
                <a:solidFill>
                  <a:srgbClr val="14B8A6"/>
                </a:solidFill>
                <a:latin typeface="Calibri"/>
                <a:ea typeface="Calibri"/>
                <a:cs typeface="Calibri"/>
                <a:sym typeface="Calibri"/>
              </a:rPr>
              <a:t>$0</a:t>
            </a:r>
            <a:endParaRPr sz="3200" dirty="0">
              <a:solidFill>
                <a:schemeClr val="dk1"/>
              </a:solidFill>
              <a:latin typeface="Calibri"/>
              <a:ea typeface="Calibri"/>
              <a:cs typeface="Calibri"/>
              <a:sym typeface="Calibri"/>
            </a:endParaRPr>
          </a:p>
        </p:txBody>
      </p:sp>
      <p:sp>
        <p:nvSpPr>
          <p:cNvPr id="240" name="Google Shape;240;p9"/>
          <p:cNvSpPr/>
          <p:nvPr/>
        </p:nvSpPr>
        <p:spPr>
          <a:xfrm>
            <a:off x="411480" y="4160520"/>
            <a:ext cx="2560320" cy="36576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E2E8F0"/>
              </a:buClr>
              <a:buSzPts val="1000"/>
              <a:buFont typeface="Calibri"/>
              <a:buNone/>
            </a:pPr>
            <a:r>
              <a:rPr lang="en-US" sz="1000" dirty="0">
                <a:solidFill>
                  <a:srgbClr val="E2E8F0"/>
                </a:solidFill>
                <a:latin typeface="Calibri"/>
                <a:ea typeface="Calibri"/>
                <a:cs typeface="Calibri"/>
                <a:sym typeface="Calibri"/>
              </a:rPr>
              <a:t>Licensing cost</a:t>
            </a:r>
            <a:endParaRPr sz="1000" dirty="0">
              <a:solidFill>
                <a:schemeClr val="dk1"/>
              </a:solidFill>
              <a:latin typeface="Calibri"/>
              <a:ea typeface="Calibri"/>
              <a:cs typeface="Calibri"/>
              <a:sym typeface="Calibri"/>
            </a:endParaRPr>
          </a:p>
        </p:txBody>
      </p:sp>
      <p:sp>
        <p:nvSpPr>
          <p:cNvPr id="241" name="Google Shape;241;p9"/>
          <p:cNvSpPr/>
          <p:nvPr/>
        </p:nvSpPr>
        <p:spPr>
          <a:xfrm>
            <a:off x="3246120" y="3383280"/>
            <a:ext cx="2560320" cy="1280160"/>
          </a:xfrm>
          <a:prstGeom prst="rect">
            <a:avLst/>
          </a:prstGeom>
          <a:solidFill>
            <a:srgbClr val="1E3A5F"/>
          </a:solidFill>
          <a:ln w="12700" cap="flat" cmpd="sng">
            <a:solidFill>
              <a:srgbClr val="2D548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242" name="Google Shape;242;p9"/>
          <p:cNvSpPr/>
          <p:nvPr/>
        </p:nvSpPr>
        <p:spPr>
          <a:xfrm>
            <a:off x="3246120" y="3383280"/>
            <a:ext cx="2560320" cy="64008"/>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243" name="Google Shape;243;p9"/>
          <p:cNvSpPr/>
          <p:nvPr/>
        </p:nvSpPr>
        <p:spPr>
          <a:xfrm>
            <a:off x="3246120" y="3474720"/>
            <a:ext cx="2560320" cy="6400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4B8A6"/>
              </a:buClr>
              <a:buSzPts val="3200"/>
              <a:buFont typeface="Calibri"/>
              <a:buNone/>
            </a:pPr>
            <a:r>
              <a:rPr lang="en-US" sz="3200" b="1" dirty="0">
                <a:solidFill>
                  <a:srgbClr val="14B8A6"/>
                </a:solidFill>
                <a:latin typeface="Calibri"/>
                <a:ea typeface="Calibri"/>
                <a:cs typeface="Calibri"/>
                <a:sym typeface="Calibri"/>
              </a:rPr>
              <a:t>9 VMs</a:t>
            </a:r>
            <a:endParaRPr sz="3200" dirty="0">
              <a:solidFill>
                <a:schemeClr val="dk1"/>
              </a:solidFill>
              <a:latin typeface="Calibri"/>
              <a:ea typeface="Calibri"/>
              <a:cs typeface="Calibri"/>
              <a:sym typeface="Calibri"/>
            </a:endParaRPr>
          </a:p>
        </p:txBody>
      </p:sp>
      <p:sp>
        <p:nvSpPr>
          <p:cNvPr id="244" name="Google Shape;244;p9"/>
          <p:cNvSpPr/>
          <p:nvPr/>
        </p:nvSpPr>
        <p:spPr>
          <a:xfrm>
            <a:off x="3246120" y="4160520"/>
            <a:ext cx="2560320" cy="36576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E2E8F0"/>
              </a:buClr>
              <a:buSzPts val="1000"/>
              <a:buFont typeface="Calibri"/>
              <a:buNone/>
            </a:pPr>
            <a:r>
              <a:rPr lang="en-US" sz="1000" dirty="0">
                <a:solidFill>
                  <a:srgbClr val="E2E8F0"/>
                </a:solidFill>
                <a:latin typeface="Calibri"/>
                <a:ea typeface="Calibri"/>
                <a:cs typeface="Calibri"/>
                <a:sym typeface="Calibri"/>
              </a:rPr>
              <a:t>Deployed across 3 hosts</a:t>
            </a:r>
            <a:endParaRPr sz="1000" dirty="0">
              <a:solidFill>
                <a:schemeClr val="dk1"/>
              </a:solidFill>
              <a:latin typeface="Calibri"/>
              <a:ea typeface="Calibri"/>
              <a:cs typeface="Calibri"/>
              <a:sym typeface="Calibri"/>
            </a:endParaRPr>
          </a:p>
        </p:txBody>
      </p:sp>
      <p:sp>
        <p:nvSpPr>
          <p:cNvPr id="245" name="Google Shape;245;p9"/>
          <p:cNvSpPr/>
          <p:nvPr/>
        </p:nvSpPr>
        <p:spPr>
          <a:xfrm>
            <a:off x="6080760" y="3383280"/>
            <a:ext cx="2560320" cy="1280160"/>
          </a:xfrm>
          <a:prstGeom prst="rect">
            <a:avLst/>
          </a:prstGeom>
          <a:solidFill>
            <a:srgbClr val="1E3A5F"/>
          </a:solidFill>
          <a:ln w="12700" cap="flat" cmpd="sng">
            <a:solidFill>
              <a:srgbClr val="2D5480"/>
            </a:solidFill>
            <a:prstDash val="solid"/>
            <a:round/>
            <a:headEnd type="none" w="sm" len="sm"/>
            <a:tailEnd type="none" w="sm" len="sm"/>
          </a:ln>
          <a:effectLst>
            <a:outerShdw blurRad="101600" dist="381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246" name="Google Shape;246;p9"/>
          <p:cNvSpPr/>
          <p:nvPr/>
        </p:nvSpPr>
        <p:spPr>
          <a:xfrm>
            <a:off x="6080760" y="3383280"/>
            <a:ext cx="2560320" cy="64008"/>
          </a:xfrm>
          <a:prstGeom prst="rect">
            <a:avLst/>
          </a:prstGeom>
          <a:solidFill>
            <a:srgbClr val="0D9488"/>
          </a:solidFill>
          <a:ln w="12700" cap="flat" cmpd="sng">
            <a:solidFill>
              <a:srgbClr val="0D948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247" name="Google Shape;247;p9"/>
          <p:cNvSpPr/>
          <p:nvPr/>
        </p:nvSpPr>
        <p:spPr>
          <a:xfrm>
            <a:off x="6080760" y="3474720"/>
            <a:ext cx="2560320" cy="6400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4B8A6"/>
              </a:buClr>
              <a:buSzPts val="3200"/>
              <a:buFont typeface="Calibri"/>
              <a:buNone/>
            </a:pPr>
            <a:r>
              <a:rPr lang="en-US" sz="3200" b="1" dirty="0">
                <a:solidFill>
                  <a:srgbClr val="14B8A6"/>
                </a:solidFill>
                <a:latin typeface="Calibri"/>
                <a:ea typeface="Calibri"/>
                <a:cs typeface="Calibri"/>
                <a:sym typeface="Calibri"/>
              </a:rPr>
              <a:t>3-Node</a:t>
            </a:r>
            <a:endParaRPr sz="3200" dirty="0">
              <a:solidFill>
                <a:schemeClr val="dk1"/>
              </a:solidFill>
              <a:latin typeface="Calibri"/>
              <a:ea typeface="Calibri"/>
              <a:cs typeface="Calibri"/>
              <a:sym typeface="Calibri"/>
            </a:endParaRPr>
          </a:p>
        </p:txBody>
      </p:sp>
      <p:sp>
        <p:nvSpPr>
          <p:cNvPr id="248" name="Google Shape;248;p9"/>
          <p:cNvSpPr/>
          <p:nvPr/>
        </p:nvSpPr>
        <p:spPr>
          <a:xfrm>
            <a:off x="6080760" y="4160520"/>
            <a:ext cx="2560320" cy="36576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E2E8F0"/>
              </a:buClr>
              <a:buSzPts val="1000"/>
              <a:buFont typeface="Calibri"/>
              <a:buNone/>
            </a:pPr>
            <a:r>
              <a:rPr lang="en-US" sz="1000" dirty="0">
                <a:solidFill>
                  <a:srgbClr val="E2E8F0"/>
                </a:solidFill>
                <a:latin typeface="Calibri"/>
                <a:ea typeface="Calibri"/>
                <a:cs typeface="Calibri"/>
                <a:sym typeface="Calibri"/>
              </a:rPr>
              <a:t>HA Cluster</a:t>
            </a:r>
            <a:endParaRPr sz="1000" dirty="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g3d4404df731_0_0"/>
          <p:cNvSpPr txBox="1"/>
          <p:nvPr/>
        </p:nvSpPr>
        <p:spPr>
          <a:xfrm>
            <a:off x="511475" y="180100"/>
            <a:ext cx="8457300" cy="62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800" b="1" dirty="0"/>
              <a:t>References &amp; Citations</a:t>
            </a:r>
            <a:endParaRPr sz="2800" b="1" dirty="0"/>
          </a:p>
        </p:txBody>
      </p:sp>
      <p:sp>
        <p:nvSpPr>
          <p:cNvPr id="256" name="Google Shape;256;g3d4404df731_0_0"/>
          <p:cNvSpPr txBox="1"/>
          <p:nvPr/>
        </p:nvSpPr>
        <p:spPr>
          <a:xfrm>
            <a:off x="320374" y="826508"/>
            <a:ext cx="8556648" cy="4316991"/>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000" dirty="0">
                <a:latin typeface="Arial" panose="020B0604020202020204" pitchFamily="34" charset="0"/>
                <a:cs typeface="Arial" panose="020B0604020202020204" pitchFamily="34" charset="0"/>
              </a:rPr>
              <a:t>VMware vSphere</a:t>
            </a:r>
            <a:endParaRPr sz="1000" dirty="0">
              <a:latin typeface="Arial" panose="020B0604020202020204" pitchFamily="34" charset="0"/>
              <a:cs typeface="Arial" panose="020B0604020202020204" pitchFamily="34" charset="0"/>
            </a:endParaRPr>
          </a:p>
          <a:p>
            <a:pPr marL="0" lvl="0" indent="0" algn="l" rtl="0">
              <a:spcBef>
                <a:spcPts val="0"/>
              </a:spcBef>
              <a:spcAft>
                <a:spcPts val="0"/>
              </a:spcAft>
              <a:buNone/>
            </a:pPr>
            <a:r>
              <a:rPr lang="en-US" sz="1000" dirty="0">
                <a:latin typeface="Arial" panose="020B0604020202020204" pitchFamily="34" charset="0"/>
                <a:cs typeface="Arial" panose="020B0604020202020204" pitchFamily="34" charset="0"/>
              </a:rPr>
              <a:t>Broadcom/VMware. (2026). VMware vSphere | Virtualization Technology. Retrieved April 2, 2026, from </a:t>
            </a:r>
            <a:r>
              <a:rPr lang="en-US" sz="1000" u="sng" dirty="0">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https://www.vmware.com/products/cloud-infrastructure/vsphere</a:t>
            </a:r>
            <a:endParaRPr sz="1000" dirty="0">
              <a:latin typeface="Arial" panose="020B0604020202020204" pitchFamily="34" charset="0"/>
              <a:cs typeface="Arial" panose="020B0604020202020204" pitchFamily="34" charset="0"/>
            </a:endParaRPr>
          </a:p>
          <a:p>
            <a:pPr marL="0" lvl="0" indent="0" algn="l" rtl="0">
              <a:spcBef>
                <a:spcPts val="0"/>
              </a:spcBef>
              <a:spcAft>
                <a:spcPts val="0"/>
              </a:spcAft>
              <a:buNone/>
            </a:pPr>
            <a:endParaRPr sz="1000" dirty="0">
              <a:latin typeface="Arial" panose="020B0604020202020204" pitchFamily="34" charset="0"/>
              <a:cs typeface="Arial" panose="020B0604020202020204" pitchFamily="34" charset="0"/>
            </a:endParaRPr>
          </a:p>
          <a:p>
            <a:pPr marL="0" lvl="0" indent="0" algn="l" rtl="0">
              <a:spcBef>
                <a:spcPts val="0"/>
              </a:spcBef>
              <a:spcAft>
                <a:spcPts val="0"/>
              </a:spcAft>
              <a:buNone/>
            </a:pPr>
            <a:r>
              <a:rPr lang="en-US" sz="1000" dirty="0">
                <a:latin typeface="Arial" panose="020B0604020202020204" pitchFamily="34" charset="0"/>
                <a:cs typeface="Arial" panose="020B0604020202020204" pitchFamily="34" charset="0"/>
              </a:rPr>
              <a:t>Microsoft Hyper-V — Pricing</a:t>
            </a:r>
            <a:endParaRPr sz="1000" dirty="0">
              <a:latin typeface="Arial" panose="020B0604020202020204" pitchFamily="34" charset="0"/>
              <a:cs typeface="Arial" panose="020B0604020202020204" pitchFamily="34" charset="0"/>
            </a:endParaRPr>
          </a:p>
          <a:p>
            <a:pPr marL="0" lvl="0" indent="0" algn="l" rtl="0">
              <a:spcBef>
                <a:spcPts val="0"/>
              </a:spcBef>
              <a:spcAft>
                <a:spcPts val="0"/>
              </a:spcAft>
              <a:buNone/>
            </a:pPr>
            <a:r>
              <a:rPr lang="en-US" sz="1000" dirty="0">
                <a:latin typeface="Arial" panose="020B0604020202020204" pitchFamily="34" charset="0"/>
                <a:cs typeface="Arial" panose="020B0604020202020204" pitchFamily="34" charset="0"/>
              </a:rPr>
              <a:t>Microsoft. (2026). Windows Server 2025 Licensing &amp; Pricing. Retrieved April 2, 2026, from </a:t>
            </a:r>
            <a:r>
              <a:rPr lang="en-US" sz="1000" u="sng" dirty="0">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https://www.microsoft.com/en-us/windows-server/pricing</a:t>
            </a:r>
            <a:endParaRPr sz="1000" dirty="0">
              <a:latin typeface="Arial" panose="020B0604020202020204" pitchFamily="34" charset="0"/>
              <a:cs typeface="Arial" panose="020B0604020202020204" pitchFamily="34" charset="0"/>
            </a:endParaRPr>
          </a:p>
          <a:p>
            <a:pPr marL="0" lvl="0" indent="0" algn="l" rtl="0">
              <a:spcBef>
                <a:spcPts val="0"/>
              </a:spcBef>
              <a:spcAft>
                <a:spcPts val="0"/>
              </a:spcAft>
              <a:buNone/>
            </a:pPr>
            <a:endParaRPr sz="1000" dirty="0">
              <a:latin typeface="Arial" panose="020B0604020202020204" pitchFamily="34" charset="0"/>
              <a:cs typeface="Arial" panose="020B0604020202020204" pitchFamily="34" charset="0"/>
            </a:endParaRPr>
          </a:p>
          <a:p>
            <a:pPr marL="0" lvl="0" indent="0" algn="l" rtl="0">
              <a:spcBef>
                <a:spcPts val="0"/>
              </a:spcBef>
              <a:spcAft>
                <a:spcPts val="0"/>
              </a:spcAft>
              <a:buNone/>
            </a:pPr>
            <a:r>
              <a:rPr lang="en-US" sz="1000" dirty="0">
                <a:latin typeface="Arial" panose="020B0604020202020204" pitchFamily="34" charset="0"/>
                <a:cs typeface="Arial" panose="020B0604020202020204" pitchFamily="34" charset="0"/>
              </a:rPr>
              <a:t>Microsoft Hyper-V — Overview</a:t>
            </a:r>
            <a:endParaRPr sz="1000" dirty="0">
              <a:latin typeface="Arial" panose="020B0604020202020204" pitchFamily="34" charset="0"/>
              <a:cs typeface="Arial" panose="020B0604020202020204" pitchFamily="34" charset="0"/>
            </a:endParaRPr>
          </a:p>
          <a:p>
            <a:pPr marL="0" lvl="0" indent="0" algn="l" rtl="0">
              <a:spcBef>
                <a:spcPts val="0"/>
              </a:spcBef>
              <a:spcAft>
                <a:spcPts val="0"/>
              </a:spcAft>
              <a:buNone/>
            </a:pPr>
            <a:r>
              <a:rPr lang="en-US" sz="1000" dirty="0">
                <a:latin typeface="Arial" panose="020B0604020202020204" pitchFamily="34" charset="0"/>
                <a:cs typeface="Arial" panose="020B0604020202020204" pitchFamily="34" charset="0"/>
              </a:rPr>
              <a:t>Microsoft. (2026). Hyper-V virtualization in Windows Server and Windows. Microsoft Learn. Retrieved April 2, 2026, from </a:t>
            </a:r>
            <a:r>
              <a:rPr lang="en-US" sz="1000" u="sng" dirty="0">
                <a:latin typeface="Arial" panose="020B0604020202020204" pitchFamily="34" charset="0"/>
                <a:cs typeface="Arial" panose="020B0604020202020204" pitchFamily="34" charset="0"/>
                <a:hlinkClick r:id="rId5">
                  <a:extLst>
                    <a:ext uri="{A12FA001-AC4F-418D-AE19-62706E023703}">
                      <ahyp:hlinkClr xmlns:ahyp="http://schemas.microsoft.com/office/drawing/2018/hyperlinkcolor" val="tx"/>
                    </a:ext>
                  </a:extLst>
                </a:hlinkClick>
              </a:rPr>
              <a:t>https://learn.microsoft.com/en-us/windows-server/virtualization/hyper-v/overview</a:t>
            </a:r>
            <a:endParaRPr sz="1000" dirty="0">
              <a:latin typeface="Arial" panose="020B0604020202020204" pitchFamily="34" charset="0"/>
              <a:cs typeface="Arial" panose="020B0604020202020204" pitchFamily="34" charset="0"/>
            </a:endParaRPr>
          </a:p>
          <a:p>
            <a:pPr marL="0" lvl="0" indent="0" algn="l" rtl="0">
              <a:spcBef>
                <a:spcPts val="0"/>
              </a:spcBef>
              <a:spcAft>
                <a:spcPts val="0"/>
              </a:spcAft>
              <a:buNone/>
            </a:pPr>
            <a:endParaRPr sz="1000" dirty="0">
              <a:latin typeface="Arial" panose="020B0604020202020204" pitchFamily="34" charset="0"/>
              <a:cs typeface="Arial" panose="020B0604020202020204" pitchFamily="34" charset="0"/>
            </a:endParaRPr>
          </a:p>
          <a:p>
            <a:pPr marL="0" lvl="0" indent="0" algn="l" rtl="0">
              <a:spcBef>
                <a:spcPts val="0"/>
              </a:spcBef>
              <a:spcAft>
                <a:spcPts val="0"/>
              </a:spcAft>
              <a:buNone/>
            </a:pPr>
            <a:r>
              <a:rPr lang="en-US" sz="1000" dirty="0">
                <a:latin typeface="Arial" panose="020B0604020202020204" pitchFamily="34" charset="0"/>
                <a:cs typeface="Arial" panose="020B0604020202020204" pitchFamily="34" charset="0"/>
              </a:rPr>
              <a:t>Proxmox Virtual Environment — Overview</a:t>
            </a:r>
            <a:endParaRPr sz="1000" dirty="0">
              <a:latin typeface="Arial" panose="020B0604020202020204" pitchFamily="34" charset="0"/>
              <a:cs typeface="Arial" panose="020B0604020202020204" pitchFamily="34" charset="0"/>
            </a:endParaRPr>
          </a:p>
          <a:p>
            <a:pPr marL="0" lvl="0" indent="0" algn="l" rtl="0">
              <a:spcBef>
                <a:spcPts val="0"/>
              </a:spcBef>
              <a:spcAft>
                <a:spcPts val="0"/>
              </a:spcAft>
              <a:buNone/>
            </a:pPr>
            <a:r>
              <a:rPr lang="en-US" sz="1000" dirty="0">
                <a:latin typeface="Arial" panose="020B0604020202020204" pitchFamily="34" charset="0"/>
                <a:cs typeface="Arial" panose="020B0604020202020204" pitchFamily="34" charset="0"/>
              </a:rPr>
              <a:t>Proxmox Server Solutions GmbH. (2026). Proxmox Virtual Environment. Retrieved April 2, 2026, from </a:t>
            </a:r>
            <a:r>
              <a:rPr lang="en-US" sz="1000" u="sng" dirty="0">
                <a:latin typeface="Arial" panose="020B0604020202020204" pitchFamily="34" charset="0"/>
                <a:cs typeface="Arial" panose="020B0604020202020204" pitchFamily="34" charset="0"/>
                <a:hlinkClick r:id="rId6">
                  <a:extLst>
                    <a:ext uri="{A12FA001-AC4F-418D-AE19-62706E023703}">
                      <ahyp:hlinkClr xmlns:ahyp="http://schemas.microsoft.com/office/drawing/2018/hyperlinkcolor" val="tx"/>
                    </a:ext>
                  </a:extLst>
                </a:hlinkClick>
              </a:rPr>
              <a:t>https://www.proxmox.com/en/products/proxmox-virtual-environment/overview</a:t>
            </a:r>
            <a:endParaRPr sz="1000" dirty="0">
              <a:latin typeface="Arial" panose="020B0604020202020204" pitchFamily="34" charset="0"/>
              <a:cs typeface="Arial" panose="020B0604020202020204" pitchFamily="34" charset="0"/>
            </a:endParaRPr>
          </a:p>
          <a:p>
            <a:pPr marL="0" lvl="0" indent="0" algn="l" rtl="0">
              <a:spcBef>
                <a:spcPts val="0"/>
              </a:spcBef>
              <a:spcAft>
                <a:spcPts val="0"/>
              </a:spcAft>
              <a:buNone/>
            </a:pPr>
            <a:endParaRPr sz="1000" dirty="0">
              <a:latin typeface="Arial" panose="020B0604020202020204" pitchFamily="34" charset="0"/>
              <a:cs typeface="Arial" panose="020B0604020202020204" pitchFamily="34" charset="0"/>
            </a:endParaRPr>
          </a:p>
          <a:p>
            <a:pPr marL="0" lvl="0" indent="0" algn="l" rtl="0">
              <a:spcBef>
                <a:spcPts val="0"/>
              </a:spcBef>
              <a:spcAft>
                <a:spcPts val="0"/>
              </a:spcAft>
              <a:buNone/>
            </a:pPr>
            <a:r>
              <a:rPr lang="en-US" sz="1000" dirty="0">
                <a:latin typeface="Arial" panose="020B0604020202020204" pitchFamily="34" charset="0"/>
                <a:cs typeface="Arial" panose="020B0604020202020204" pitchFamily="34" charset="0"/>
              </a:rPr>
              <a:t>Proxmox Virtual Environment — Pricing</a:t>
            </a:r>
            <a:endParaRPr sz="1000" dirty="0">
              <a:latin typeface="Arial" panose="020B0604020202020204" pitchFamily="34" charset="0"/>
              <a:cs typeface="Arial" panose="020B0604020202020204" pitchFamily="34" charset="0"/>
            </a:endParaRPr>
          </a:p>
          <a:p>
            <a:pPr marL="0" lvl="0" indent="0" algn="l" rtl="0">
              <a:spcBef>
                <a:spcPts val="0"/>
              </a:spcBef>
              <a:spcAft>
                <a:spcPts val="0"/>
              </a:spcAft>
              <a:buNone/>
            </a:pPr>
            <a:r>
              <a:rPr lang="en-US" sz="1000" dirty="0">
                <a:latin typeface="Arial" panose="020B0604020202020204" pitchFamily="34" charset="0"/>
                <a:cs typeface="Arial" panose="020B0604020202020204" pitchFamily="34" charset="0"/>
              </a:rPr>
              <a:t>Proxmox Server Solutions GmbH. (2026). Pricing for Subscription Plans. Retrieved April 2, 2026, from </a:t>
            </a:r>
            <a:r>
              <a:rPr lang="en-US" sz="1000" u="sng" dirty="0">
                <a:latin typeface="Arial" panose="020B0604020202020204" pitchFamily="34" charset="0"/>
                <a:cs typeface="Arial" panose="020B0604020202020204" pitchFamily="34" charset="0"/>
                <a:hlinkClick r:id="rId7">
                  <a:extLst>
                    <a:ext uri="{A12FA001-AC4F-418D-AE19-62706E023703}">
                      <ahyp:hlinkClr xmlns:ahyp="http://schemas.microsoft.com/office/drawing/2018/hyperlinkcolor" val="tx"/>
                    </a:ext>
                  </a:extLst>
                </a:hlinkClick>
              </a:rPr>
              <a:t>https://www.proxmox.com/en/products/proxmox-virtual-environment/pricing</a:t>
            </a:r>
            <a:endParaRPr sz="1000" dirty="0">
              <a:latin typeface="Arial" panose="020B0604020202020204" pitchFamily="34" charset="0"/>
              <a:cs typeface="Arial" panose="020B0604020202020204" pitchFamily="34" charset="0"/>
            </a:endParaRPr>
          </a:p>
          <a:p>
            <a:pPr marL="0" lvl="0" indent="0" algn="l" rtl="0">
              <a:spcBef>
                <a:spcPts val="0"/>
              </a:spcBef>
              <a:spcAft>
                <a:spcPts val="0"/>
              </a:spcAft>
              <a:buNone/>
            </a:pPr>
            <a:endParaRPr sz="1000" dirty="0">
              <a:latin typeface="Arial" panose="020B0604020202020204" pitchFamily="34" charset="0"/>
              <a:cs typeface="Arial" panose="020B0604020202020204" pitchFamily="34" charset="0"/>
            </a:endParaRPr>
          </a:p>
          <a:p>
            <a:pPr marL="0" lvl="0" indent="0" algn="l" rtl="0">
              <a:spcBef>
                <a:spcPts val="0"/>
              </a:spcBef>
              <a:spcAft>
                <a:spcPts val="0"/>
              </a:spcAft>
              <a:buNone/>
            </a:pPr>
            <a:r>
              <a:rPr lang="en-US" sz="1000" dirty="0">
                <a:latin typeface="Arial" panose="020B0604020202020204" pitchFamily="34" charset="0"/>
                <a:cs typeface="Arial" panose="020B0604020202020204" pitchFamily="34" charset="0"/>
              </a:rPr>
              <a:t>KVM (Kernel-based Virtual Machine)</a:t>
            </a:r>
            <a:endParaRPr sz="1000" dirty="0">
              <a:latin typeface="Arial" panose="020B0604020202020204" pitchFamily="34" charset="0"/>
              <a:cs typeface="Arial" panose="020B0604020202020204" pitchFamily="34" charset="0"/>
            </a:endParaRPr>
          </a:p>
          <a:p>
            <a:pPr marL="0" lvl="0" indent="0" algn="l" rtl="0">
              <a:spcBef>
                <a:spcPts val="0"/>
              </a:spcBef>
              <a:spcAft>
                <a:spcPts val="0"/>
              </a:spcAft>
              <a:buNone/>
            </a:pPr>
            <a:r>
              <a:rPr lang="en-US" sz="1000" dirty="0">
                <a:latin typeface="Arial" panose="020B0604020202020204" pitchFamily="34" charset="0"/>
                <a:cs typeface="Arial" panose="020B0604020202020204" pitchFamily="34" charset="0"/>
              </a:rPr>
              <a:t>Red Hat, Inc. (2024, November 1). What is KVM? Retrieved April 2, 2026, from </a:t>
            </a:r>
            <a:r>
              <a:rPr lang="en-US" sz="1000" u="sng" dirty="0">
                <a:latin typeface="Arial" panose="020B0604020202020204" pitchFamily="34" charset="0"/>
                <a:cs typeface="Arial" panose="020B0604020202020204" pitchFamily="34" charset="0"/>
                <a:hlinkClick r:id="rId8">
                  <a:extLst>
                    <a:ext uri="{A12FA001-AC4F-418D-AE19-62706E023703}">
                      <ahyp:hlinkClr xmlns:ahyp="http://schemas.microsoft.com/office/drawing/2018/hyperlinkcolor" val="tx"/>
                    </a:ext>
                  </a:extLst>
                </a:hlinkClick>
              </a:rPr>
              <a:t>https://www.redhat.com/en/topics/virtualization/what-is-KVM</a:t>
            </a:r>
            <a:endParaRPr sz="1000" dirty="0">
              <a:latin typeface="Arial" panose="020B0604020202020204" pitchFamily="34" charset="0"/>
              <a:cs typeface="Arial" panose="020B0604020202020204" pitchFamily="34" charset="0"/>
            </a:endParaRPr>
          </a:p>
          <a:p>
            <a:pPr marL="0" lvl="0" indent="0" algn="l" rtl="0">
              <a:spcBef>
                <a:spcPts val="0"/>
              </a:spcBef>
              <a:spcAft>
                <a:spcPts val="0"/>
              </a:spcAft>
              <a:buNone/>
            </a:pPr>
            <a:endParaRPr sz="1000" dirty="0">
              <a:latin typeface="Arial" panose="020B0604020202020204" pitchFamily="34" charset="0"/>
              <a:cs typeface="Arial" panose="020B0604020202020204" pitchFamily="34" charset="0"/>
            </a:endParaRPr>
          </a:p>
          <a:p>
            <a:pPr marL="0" lvl="0" indent="0" algn="l" rtl="0">
              <a:spcBef>
                <a:spcPts val="0"/>
              </a:spcBef>
              <a:spcAft>
                <a:spcPts val="0"/>
              </a:spcAft>
              <a:buNone/>
            </a:pPr>
            <a:r>
              <a:rPr lang="en-US" sz="1000" dirty="0">
                <a:latin typeface="Arial" panose="020B0604020202020204" pitchFamily="34" charset="0"/>
                <a:cs typeface="Arial" panose="020B0604020202020204" pitchFamily="34" charset="0"/>
              </a:rPr>
              <a:t>Red Hat Enterprise Linux Pricing</a:t>
            </a:r>
            <a:endParaRPr sz="1000" dirty="0">
              <a:latin typeface="Arial" panose="020B0604020202020204" pitchFamily="34" charset="0"/>
              <a:cs typeface="Arial" panose="020B0604020202020204" pitchFamily="34" charset="0"/>
            </a:endParaRPr>
          </a:p>
          <a:p>
            <a:pPr marL="0" lvl="0" indent="0" algn="l" rtl="0">
              <a:spcBef>
                <a:spcPts val="0"/>
              </a:spcBef>
              <a:spcAft>
                <a:spcPts val="0"/>
              </a:spcAft>
              <a:buNone/>
            </a:pPr>
            <a:r>
              <a:rPr lang="en-US" sz="1000" dirty="0">
                <a:latin typeface="Arial" panose="020B0604020202020204" pitchFamily="34" charset="0"/>
                <a:cs typeface="Arial" panose="020B0604020202020204" pitchFamily="34" charset="0"/>
              </a:rPr>
              <a:t>Red Hat, Inc. (2026). Buy Red Hat Enterprise Linux Subscriptions. Retrieved April 2, 2026, from </a:t>
            </a:r>
            <a:r>
              <a:rPr lang="en-US" sz="1000" u="sng" dirty="0">
                <a:latin typeface="Arial" panose="020B0604020202020204" pitchFamily="34" charset="0"/>
                <a:cs typeface="Arial" panose="020B0604020202020204" pitchFamily="34" charset="0"/>
                <a:hlinkClick r:id="rId9">
                  <a:extLst>
                    <a:ext uri="{A12FA001-AC4F-418D-AE19-62706E023703}">
                      <ahyp:hlinkClr xmlns:ahyp="http://schemas.microsoft.com/office/drawing/2018/hyperlinkcolor" val="tx"/>
                    </a:ext>
                  </a:extLst>
                </a:hlinkClick>
              </a:rPr>
              <a:t>https://www.redhat.com/en/store/linux-platforms</a:t>
            </a:r>
            <a:endParaRPr sz="1000" dirty="0">
              <a:latin typeface="Arial" panose="020B0604020202020204" pitchFamily="34" charset="0"/>
              <a:cs typeface="Arial" panose="020B0604020202020204" pitchFamily="34" charset="0"/>
            </a:endParaRPr>
          </a:p>
          <a:p>
            <a:pPr marL="0" lvl="0" indent="0" algn="l" rtl="0">
              <a:spcBef>
                <a:spcPts val="0"/>
              </a:spcBef>
              <a:spcAft>
                <a:spcPts val="0"/>
              </a:spcAft>
              <a:buNone/>
            </a:pPr>
            <a:endParaRPr sz="1000" dirty="0">
              <a:latin typeface="Arial" panose="020B0604020202020204" pitchFamily="34" charset="0"/>
              <a:cs typeface="Arial" panose="020B0604020202020204" pitchFamily="34" charset="0"/>
            </a:endParaRPr>
          </a:p>
          <a:p>
            <a:pPr marL="0" lvl="0" indent="0" algn="l" rtl="0">
              <a:spcBef>
                <a:spcPts val="0"/>
              </a:spcBef>
              <a:spcAft>
                <a:spcPts val="0"/>
              </a:spcAft>
              <a:buNone/>
            </a:pPr>
            <a:r>
              <a:rPr lang="en-US" sz="1000" dirty="0">
                <a:latin typeface="Arial" panose="020B0604020202020204" pitchFamily="34" charset="0"/>
                <a:cs typeface="Arial" panose="020B0604020202020204" pitchFamily="34" charset="0"/>
              </a:rPr>
              <a:t>Xen Project Hypervisor</a:t>
            </a:r>
            <a:endParaRPr sz="1000" dirty="0">
              <a:latin typeface="Arial" panose="020B0604020202020204" pitchFamily="34" charset="0"/>
              <a:cs typeface="Arial" panose="020B0604020202020204" pitchFamily="34" charset="0"/>
            </a:endParaRPr>
          </a:p>
          <a:p>
            <a:pPr marL="0" lvl="0" indent="0" algn="l" rtl="0">
              <a:spcBef>
                <a:spcPts val="0"/>
              </a:spcBef>
              <a:spcAft>
                <a:spcPts val="0"/>
              </a:spcAft>
              <a:buNone/>
            </a:pPr>
            <a:r>
              <a:rPr lang="en-US" sz="1000" dirty="0">
                <a:latin typeface="Arial" panose="020B0604020202020204" pitchFamily="34" charset="0"/>
                <a:cs typeface="Arial" panose="020B0604020202020204" pitchFamily="34" charset="0"/>
              </a:rPr>
              <a:t>The Linux Foundation / Xen Project. (2026). Xen Project — Open Source Virtualization. Retrieved April 2, 2026, from https://xenproject.org</a:t>
            </a:r>
            <a:endParaRPr sz="1000" dirty="0">
              <a:latin typeface="Arial" panose="020B0604020202020204" pitchFamily="34" charset="0"/>
              <a:cs typeface="Arial" panose="020B0604020202020204" pitchFamily="34" charset="0"/>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Ion</Template>
  <TotalTime>123</TotalTime>
  <Words>2759</Words>
  <Application>Microsoft Office PowerPoint</Application>
  <PresentationFormat>On-screen Show (16:9)</PresentationFormat>
  <Paragraphs>355</Paragraphs>
  <Slides>11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Century Gothic</vt:lpstr>
      <vt:lpstr>Segoe UI</vt:lpstr>
      <vt:lpstr>Wingdings 3</vt:lpstr>
      <vt:lpstr>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PptxGenJS</dc:creator>
  <cp:lastModifiedBy>Alfredo Garza</cp:lastModifiedBy>
  <cp:revision>6</cp:revision>
  <dcterms:created xsi:type="dcterms:W3CDTF">2026-02-25T22:50:58Z</dcterms:created>
  <dcterms:modified xsi:type="dcterms:W3CDTF">2026-04-26T01:08:41Z</dcterms:modified>
</cp:coreProperties>
</file>