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71884F-2D5B-46A3-BA74-2B899BFAA078}" v="16" dt="2026-04-25T13:12:06.854"/>
  </p1510:revLst>
</p1510:revInfo>
</file>

<file path=ppt/tableStyles.xml><?xml version="1.0" encoding="utf-8"?>
<a:tblStyleLst xmlns:a="http://schemas.openxmlformats.org/drawingml/2006/main" def="{3DB775B8-E623-466D-B67C-6B1615F0E35B}">
  <a:tblStyle styleId="{3DB775B8-E623-466D-B67C-6B1615F0E35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8403" autoAdjust="0"/>
  </p:normalViewPr>
  <p:slideViewPr>
    <p:cSldViewPr snapToGrid="0">
      <p:cViewPr varScale="1">
        <p:scale>
          <a:sx n="137" d="100"/>
          <a:sy n="137" d="100"/>
        </p:scale>
        <p:origin x="80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fredo Garza" userId="e63e6a9df3c3cfcc" providerId="LiveId" clId="{E3FB836F-FADD-4E5F-953B-986FCEF11CBC}"/>
    <pc:docChg chg="undo custSel modSld">
      <pc:chgData name="Alfredo Garza" userId="e63e6a9df3c3cfcc" providerId="LiveId" clId="{E3FB836F-FADD-4E5F-953B-986FCEF11CBC}" dt="2026-04-25T13:12:17.043" v="58" actId="33524"/>
      <pc:docMkLst>
        <pc:docMk/>
      </pc:docMkLst>
      <pc:sldChg chg="modNotesTx">
        <pc:chgData name="Alfredo Garza" userId="e63e6a9df3c3cfcc" providerId="LiveId" clId="{E3FB836F-FADD-4E5F-953B-986FCEF11CBC}" dt="2026-04-25T00:56:44.905" v="29" actId="14"/>
        <pc:sldMkLst>
          <pc:docMk/>
          <pc:sldMk cId="0" sldId="256"/>
        </pc:sldMkLst>
      </pc:sldChg>
      <pc:sldChg chg="modSp mod">
        <pc:chgData name="Alfredo Garza" userId="e63e6a9df3c3cfcc" providerId="LiveId" clId="{E3FB836F-FADD-4E5F-953B-986FCEF11CBC}" dt="2026-04-25T01:02:18.555" v="51" actId="14100"/>
        <pc:sldMkLst>
          <pc:docMk/>
          <pc:sldMk cId="0" sldId="257"/>
        </pc:sldMkLst>
        <pc:spChg chg="mod">
          <ac:chgData name="Alfredo Garza" userId="e63e6a9df3c3cfcc" providerId="LiveId" clId="{E3FB836F-FADD-4E5F-953B-986FCEF11CBC}" dt="2026-04-25T01:02:18.555" v="51" actId="14100"/>
          <ac:spMkLst>
            <pc:docMk/>
            <pc:sldMk cId="0" sldId="257"/>
            <ac:spMk id="49" creationId="{00000000-0000-0000-0000-000000000000}"/>
          </ac:spMkLst>
        </pc:spChg>
      </pc:sldChg>
      <pc:sldChg chg="modSp mod modNotesTx">
        <pc:chgData name="Alfredo Garza" userId="e63e6a9df3c3cfcc" providerId="LiveId" clId="{E3FB836F-FADD-4E5F-953B-986FCEF11CBC}" dt="2026-04-25T13:12:17.043" v="58" actId="33524"/>
        <pc:sldMkLst>
          <pc:docMk/>
          <pc:sldMk cId="0" sldId="258"/>
        </pc:sldMkLst>
        <pc:spChg chg="mod">
          <ac:chgData name="Alfredo Garza" userId="e63e6a9df3c3cfcc" providerId="LiveId" clId="{E3FB836F-FADD-4E5F-953B-986FCEF11CBC}" dt="2026-04-25T01:05:32.899" v="53"/>
          <ac:spMkLst>
            <pc:docMk/>
            <pc:sldMk cId="0" sldId="258"/>
            <ac:spMk id="74" creationId="{00000000-0000-0000-0000-000000000000}"/>
          </ac:spMkLst>
        </pc:spChg>
      </pc:sldChg>
      <pc:sldChg chg="modSp mod">
        <pc:chgData name="Alfredo Garza" userId="e63e6a9df3c3cfcc" providerId="LiveId" clId="{E3FB836F-FADD-4E5F-953B-986FCEF11CBC}" dt="2026-04-25T01:01:31.670" v="32" actId="20577"/>
        <pc:sldMkLst>
          <pc:docMk/>
          <pc:sldMk cId="0" sldId="259"/>
        </pc:sldMkLst>
        <pc:spChg chg="mod">
          <ac:chgData name="Alfredo Garza" userId="e63e6a9df3c3cfcc" providerId="LiveId" clId="{E3FB836F-FADD-4E5F-953B-986FCEF11CBC}" dt="2026-04-25T01:01:31.670" v="32" actId="20577"/>
          <ac:spMkLst>
            <pc:docMk/>
            <pc:sldMk cId="0" sldId="259"/>
            <ac:spMk id="95" creationId="{00000000-0000-0000-0000-000000000000}"/>
          </ac:spMkLst>
        </pc:spChg>
      </pc:sldChg>
      <pc:sldChg chg="modSp mod modNotesTx">
        <pc:chgData name="Alfredo Garza" userId="e63e6a9df3c3cfcc" providerId="LiveId" clId="{E3FB836F-FADD-4E5F-953B-986FCEF11CBC}" dt="2026-04-25T00:53:45.529" v="27" actId="6549"/>
        <pc:sldMkLst>
          <pc:docMk/>
          <pc:sldMk cId="0" sldId="261"/>
        </pc:sldMkLst>
        <pc:spChg chg="mod">
          <ac:chgData name="Alfredo Garza" userId="e63e6a9df3c3cfcc" providerId="LiveId" clId="{E3FB836F-FADD-4E5F-953B-986FCEF11CBC}" dt="2026-04-25T00:51:38.225" v="5"/>
          <ac:spMkLst>
            <pc:docMk/>
            <pc:sldMk cId="0" sldId="261"/>
            <ac:spMk id="135" creationId="{00000000-0000-0000-0000-000000000000}"/>
          </ac:spMkLst>
        </pc:spChg>
        <pc:spChg chg="mod">
          <ac:chgData name="Alfredo Garza" userId="e63e6a9df3c3cfcc" providerId="LiveId" clId="{E3FB836F-FADD-4E5F-953B-986FCEF11CBC}" dt="2026-04-25T00:50:44.295" v="0" actId="20577"/>
          <ac:spMkLst>
            <pc:docMk/>
            <pc:sldMk cId="0" sldId="261"/>
            <ac:spMk id="137" creationId="{00000000-0000-0000-0000-000000000000}"/>
          </ac:spMkLst>
        </pc:spChg>
        <pc:spChg chg="mod">
          <ac:chgData name="Alfredo Garza" userId="e63e6a9df3c3cfcc" providerId="LiveId" clId="{E3FB836F-FADD-4E5F-953B-986FCEF11CBC}" dt="2026-04-25T00:52:56.811" v="26" actId="1036"/>
          <ac:spMkLst>
            <pc:docMk/>
            <pc:sldMk cId="0" sldId="261"/>
            <ac:spMk id="139" creationId="{00000000-0000-0000-0000-000000000000}"/>
          </ac:spMkLst>
        </pc:spChg>
      </pc:sldChg>
      <pc:sldChg chg="modSp mod">
        <pc:chgData name="Alfredo Garza" userId="e63e6a9df3c3cfcc" providerId="LiveId" clId="{E3FB836F-FADD-4E5F-953B-986FCEF11CBC}" dt="2026-04-25T12:55:00.991" v="54" actId="6549"/>
        <pc:sldMkLst>
          <pc:docMk/>
          <pc:sldMk cId="0" sldId="263"/>
        </pc:sldMkLst>
        <pc:spChg chg="mod">
          <ac:chgData name="Alfredo Garza" userId="e63e6a9df3c3cfcc" providerId="LiveId" clId="{E3FB836F-FADD-4E5F-953B-986FCEF11CBC}" dt="2026-04-25T12:55:00.991" v="54" actId="6549"/>
          <ac:spMkLst>
            <pc:docMk/>
            <pc:sldMk cId="0" sldId="263"/>
            <ac:spMk id="21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dirty="0"/>
              <a:t>Good afternoon everyone, my name is Alfredo Garza, and I’m presenting on behalf of Team </a:t>
            </a:r>
            <a:r>
              <a:rPr lang="en-US" dirty="0" err="1"/>
              <a:t>PhredoLexus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Today I’ll be walking you through our project, </a:t>
            </a:r>
            <a:r>
              <a:rPr lang="en-US" dirty="0" err="1"/>
              <a:t>NewsBot</a:t>
            </a:r>
            <a:r>
              <a:rPr lang="en-US" dirty="0"/>
              <a:t> Intelligence System 2.0. This is an evolution of our midterm classifier. Instead of just labeling articles, this version focuses on extracting meaningful insights from news data.</a:t>
            </a:r>
          </a:p>
          <a:p>
            <a:pPr lvl="0"/>
            <a:r>
              <a:rPr lang="en-US" dirty="0"/>
              <a:t>The goal was to move from simple classification to something that actually provides actionable intelligence.</a:t>
            </a:r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5" name="Google Shape;2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dirty="0"/>
              <a:t>At a high level, our midterm project focused on classifying BBC News articles into categories like sports, business, and technology.</a:t>
            </a:r>
          </a:p>
          <a:p>
            <a:r>
              <a:rPr lang="en-US" dirty="0"/>
              <a:t>That worked well, but it only answered one question: what category does this article belong to?</a:t>
            </a:r>
          </a:p>
          <a:p>
            <a:r>
              <a:rPr lang="en-US" dirty="0"/>
              <a:t>For version 2.0, we expanded the system to answer deeper questions. What themes exist across the data, what tone is being used, and which people or locations are being mentioned?</a:t>
            </a:r>
          </a:p>
          <a:p>
            <a:r>
              <a:rPr lang="en-US" dirty="0"/>
              <a:t>To do this, we made three major upgrades.</a:t>
            </a:r>
          </a:p>
          <a:p>
            <a:r>
              <a:rPr lang="en-US" dirty="0"/>
              <a:t>First, we implemented spaCy for more advanced preprocessing, including tokenization, part-of-speech tagging, and lemmatization.</a:t>
            </a:r>
          </a:p>
          <a:p>
            <a:r>
              <a:rPr lang="en-US" dirty="0"/>
              <a:t>Second, we added Latent Dirichlet Allocation, or LDA, to automatically discover hidden topics in the dataset.</a:t>
            </a:r>
          </a:p>
          <a:p>
            <a:r>
              <a:rPr lang="en-US" dirty="0"/>
              <a:t>Third, we introduced sentiment analysis to measure tone on a continuous scale instead of using simple keyword counts.</a:t>
            </a:r>
          </a:p>
          <a:p>
            <a:r>
              <a:rPr lang="en-US" dirty="0"/>
              <a:t>Together, these changes transformed the system from a classifier into a more complete intelligence pipeline.</a:t>
            </a:r>
          </a:p>
        </p:txBody>
      </p:sp>
      <p:sp>
        <p:nvSpPr>
          <p:cNvPr id="26" name="Google Shape;26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3" name="Google Shape;5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dirty="0"/>
              <a:t>This slide shows how the system is structured from end to end.</a:t>
            </a:r>
          </a:p>
          <a:p>
            <a:r>
              <a:rPr lang="en-US" dirty="0"/>
              <a:t>We start with raw BBC News data, which is passed into spaCy for preprocessing. This step handles tokenization, normalization, and lemmatization.</a:t>
            </a:r>
          </a:p>
          <a:p>
            <a:r>
              <a:rPr lang="en-US" dirty="0"/>
              <a:t>From there, the data moves into what we call the intelligence layer. This is where topic modeling and sentiment analysis are applied in parallel.</a:t>
            </a:r>
          </a:p>
          <a:p>
            <a:r>
              <a:rPr lang="en-US" dirty="0"/>
              <a:t>Finally, everything is combined into a unified output that includes classification results along with additional insights.</a:t>
            </a:r>
          </a:p>
          <a:p>
            <a:endParaRPr lang="en-US" dirty="0"/>
          </a:p>
          <a:p>
            <a:r>
              <a:rPr lang="en-US" dirty="0"/>
              <a:t>We implemented a Transformer-based NER pipeline using BERT. </a:t>
            </a:r>
            <a:r>
              <a:rPr lang="en-US"/>
              <a:t>To ensure portability for different environments, we built in a fallback mechanism, so the system remains functional even without external API authentication</a:t>
            </a:r>
          </a:p>
          <a:p>
            <a:endParaRPr lang="en-US" dirty="0"/>
          </a:p>
          <a:p>
            <a:r>
              <a:rPr lang="en-US" dirty="0"/>
              <a:t>One important design decision here is modularity. Each component is independent, which means we can swap models or upgrade parts of the system without rebuilding everything.</a:t>
            </a:r>
          </a:p>
          <a:p>
            <a:r>
              <a:rPr lang="en-US" dirty="0"/>
              <a:t>For example, we tested multiple classification models and selected the best-performing one based on accuracy.</a:t>
            </a:r>
          </a:p>
        </p:txBody>
      </p:sp>
      <p:sp>
        <p:nvSpPr>
          <p:cNvPr id="54" name="Google Shape;5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7" name="Google Shape;7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dirty="0"/>
              <a:t>This slide highlights two of the major intelligence features we added.</a:t>
            </a:r>
          </a:p>
          <a:p>
            <a:r>
              <a:rPr lang="en-US" dirty="0"/>
              <a:t>On the left is topic modeling using LDA. The model automatically groups articles into themes based on word distributions.</a:t>
            </a:r>
          </a:p>
          <a:p>
            <a:r>
              <a:rPr lang="en-US" dirty="0"/>
              <a:t>For example, one topic focuses on government and economic terms, another on sports, another on entertainment, and another on technology.</a:t>
            </a:r>
          </a:p>
          <a:p>
            <a:r>
              <a:rPr lang="en-US" dirty="0"/>
              <a:t>These topics are discovered without any labels, which makes this approach useful for exploring large datasets.</a:t>
            </a:r>
          </a:p>
          <a:p>
            <a:r>
              <a:rPr lang="en-US" dirty="0"/>
              <a:t>On the right is sentiment analysis. In the earlier version, sentiment was based on simple keyword counting, which was very limited.</a:t>
            </a:r>
          </a:p>
          <a:p>
            <a:r>
              <a:rPr lang="en-US" dirty="0"/>
              <a:t>In this version, we use a more advanced approach to assign a continuous polarity score. This allows us to capture subtle differences in tone, such as mildly positive versus strongly positive reporting.</a:t>
            </a:r>
          </a:p>
          <a:p>
            <a:r>
              <a:rPr lang="en-US" dirty="0"/>
              <a:t>The key advantage is that we can now understand both what the article is about and how it is being presented.</a:t>
            </a:r>
          </a:p>
        </p:txBody>
      </p:sp>
      <p:sp>
        <p:nvSpPr>
          <p:cNvPr id="78" name="Google Shape;7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1" name="Google Shape;101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dirty="0"/>
              <a:t>This slide introduces two additional capabilities: named entity recognition and multilingual support.</a:t>
            </a:r>
          </a:p>
          <a:p>
            <a:r>
              <a:rPr lang="en-US" dirty="0"/>
              <a:t>Using </a:t>
            </a:r>
            <a:r>
              <a:rPr lang="en-US" dirty="0" err="1"/>
              <a:t>spaCy’s</a:t>
            </a:r>
            <a:r>
              <a:rPr lang="en-US" dirty="0"/>
              <a:t> NER pipeline, we can automatically extract real-world entities such as organizations, locations, people, and dates.</a:t>
            </a:r>
          </a:p>
          <a:p>
            <a:r>
              <a:rPr lang="en-US" dirty="0"/>
              <a:t>This adds valuable context to each article by identifying the key actors and places being discussed.</a:t>
            </a:r>
          </a:p>
          <a:p>
            <a:r>
              <a:rPr lang="en-US" dirty="0"/>
              <a:t>We also extended the system to handle multilingual input.</a:t>
            </a:r>
          </a:p>
          <a:p>
            <a:r>
              <a:rPr lang="en-US" dirty="0"/>
              <a:t>Articles written in other languages can be detected, translated into English, and then processed through the same pipeline.</a:t>
            </a:r>
          </a:p>
          <a:p>
            <a:r>
              <a:rPr lang="en-US" dirty="0"/>
              <a:t>This allows the system to scale beyond a single data source and work with global news content.</a:t>
            </a:r>
          </a:p>
        </p:txBody>
      </p:sp>
      <p:sp>
        <p:nvSpPr>
          <p:cNvPr id="102" name="Google Shape;102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30" name="Google Shape;13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dirty="0"/>
              <a:t>We evaluated multiple classification models, including Multinomial Naive Bayes, Logistic Regression, and Linear Support Vector Classification.</a:t>
            </a:r>
          </a:p>
          <a:p>
            <a:r>
              <a:rPr lang="en-US" dirty="0"/>
              <a:t>Based on our testing, Logistic Regression achieved the highest accuracy, reaching approximately 98.88 percent on the test dataset using TF-IDF features.</a:t>
            </a:r>
          </a:p>
          <a:p>
            <a:r>
              <a:rPr lang="en-US" dirty="0"/>
              <a:t>While the accuracy is strong, the bigger improvement is in the amount of information we extract per article.</a:t>
            </a:r>
          </a:p>
          <a:p>
            <a:r>
              <a:rPr lang="en-US" dirty="0"/>
              <a:t>The original version produced only a category label. This version generates multiple outputs, including classification, topic distribution, sentiment score, and extracted entities.</a:t>
            </a:r>
          </a:p>
          <a:p>
            <a:r>
              <a:rPr lang="en-US" dirty="0"/>
              <a:t>This significantly increases the analytical value of each article and moves the system closer to a real-world intelligence tool.</a:t>
            </a:r>
          </a:p>
        </p:txBody>
      </p:sp>
      <p:sp>
        <p:nvSpPr>
          <p:cNvPr id="131" name="Google Shape;131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4" name="Google Shape;16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dirty="0"/>
              <a:t>When we input a sentence, spaCy processes each token and performs lemmatization. For example, the word “announced” is reduced to its root form “announce.”</a:t>
            </a:r>
          </a:p>
          <a:p>
            <a:r>
              <a:rPr lang="en-US" dirty="0"/>
              <a:t>This helps standardize the text and improves model performance.</a:t>
            </a:r>
          </a:p>
          <a:p>
            <a:r>
              <a:rPr lang="en-US" dirty="0"/>
              <a:t>We can also run real-time predictions. In this example, the system correctly classifies a technology-related sentence with high confidence.</a:t>
            </a:r>
          </a:p>
          <a:p>
            <a:r>
              <a:rPr lang="en-US" dirty="0"/>
              <a:t>Behind the scenes, the full pipeline runs in a single pass, including preprocessing, topic modeling, sentiment analysis, and classification.</a:t>
            </a:r>
          </a:p>
          <a:p>
            <a:r>
              <a:rPr lang="en-US" dirty="0"/>
              <a:t>This allows us to process articles quickly and efficiently.</a:t>
            </a:r>
          </a:p>
        </p:txBody>
      </p:sp>
      <p:sp>
        <p:nvSpPr>
          <p:cNvPr id="165" name="Google Shape;165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92" name="Google Shape;192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dirty="0"/>
              <a:t>To wrap up, </a:t>
            </a:r>
            <a:r>
              <a:rPr lang="en-US" dirty="0" err="1"/>
              <a:t>NewsBot</a:t>
            </a:r>
            <a:r>
              <a:rPr lang="en-US" dirty="0"/>
              <a:t> 2.0 represents a major step forward from a simple classifier to a more complete intelligence system.</a:t>
            </a:r>
          </a:p>
          <a:p>
            <a:r>
              <a:rPr lang="en-US" dirty="0"/>
              <a:t>Looking ahead, there are several areas for expansion.</a:t>
            </a:r>
          </a:p>
          <a:p>
            <a:r>
              <a:rPr lang="en-US" dirty="0"/>
              <a:t>First, we plan to build a Streamlit-based web interface so users can interact with the system in real time without needing a notebook environment.</a:t>
            </a:r>
          </a:p>
          <a:p>
            <a:r>
              <a:rPr lang="en-US" dirty="0"/>
              <a:t>Second, we want to integrate large language models to generate short summaries for each article.</a:t>
            </a:r>
          </a:p>
          <a:p>
            <a:r>
              <a:rPr lang="en-US" dirty="0"/>
              <a:t>Finally, we plan to expand our data sources to include additional news providers and fully leverage the multilingual pipeline.</a:t>
            </a:r>
          </a:p>
          <a:p>
            <a:r>
              <a:rPr lang="en-US" dirty="0"/>
              <a:t>Overall, this project demonstrates how machine learning and NLP techniques can be combined to turn raw text data into actionable insights.</a:t>
            </a:r>
          </a:p>
        </p:txBody>
      </p:sp>
      <p:sp>
        <p:nvSpPr>
          <p:cNvPr id="193" name="Google Shape;193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9F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" name="Google Shape;17;p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23360" y="640080"/>
            <a:ext cx="1097280" cy="109728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Trebuchet MS"/>
              <a:buNone/>
            </a:pPr>
            <a:r>
              <a:rPr lang="en-US" sz="4000" b="1" i="0" u="none" strike="noStrike" cap="none" dirty="0" err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NewsBot</a:t>
            </a:r>
            <a:r>
              <a:rPr lang="en-US" sz="4000" b="1" i="0" u="none" strike="noStrike" cap="none" dirty="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 Intelligence System 2.0</a:t>
            </a:r>
            <a:endParaRPr sz="4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2000"/>
              <a:buFont typeface="Calibri"/>
              <a:buNone/>
            </a:pPr>
            <a:r>
              <a:rPr lang="en-US" sz="2000" b="0" i="1" u="none" strike="noStrike" cap="none">
                <a:solidFill>
                  <a:srgbClr val="00BCD4"/>
                </a:solidFill>
                <a:latin typeface="Calibri"/>
                <a:ea typeface="Calibri"/>
                <a:cs typeface="Calibri"/>
                <a:sym typeface="Calibri"/>
              </a:rPr>
              <a:t>From Classification to Actionable Intelligence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3200400" y="3474720"/>
            <a:ext cx="2743200" cy="27432"/>
          </a:xfrm>
          <a:prstGeom prst="rect">
            <a:avLst/>
          </a:prstGeom>
          <a:solidFill>
            <a:srgbClr val="1A9FD4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457200" y="374904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E5A0"/>
              </a:buClr>
              <a:buSzPts val="1600"/>
              <a:buFont typeface="Calibri"/>
              <a:buNone/>
            </a:pPr>
            <a:r>
              <a:rPr lang="en-US" sz="1600" b="1" i="0" u="none" strike="noStrike" cap="none" dirty="0">
                <a:solidFill>
                  <a:srgbClr val="00E5A0"/>
                </a:solidFill>
                <a:latin typeface="Calibri"/>
                <a:ea typeface="Calibri"/>
                <a:cs typeface="Calibri"/>
                <a:sym typeface="Calibri"/>
              </a:rPr>
              <a:t>Team </a:t>
            </a:r>
            <a:r>
              <a:rPr lang="en-US" sz="1600" b="1" i="0" u="none" strike="noStrike" cap="none" dirty="0" err="1">
                <a:solidFill>
                  <a:srgbClr val="00E5A0"/>
                </a:solidFill>
                <a:latin typeface="Calibri"/>
                <a:ea typeface="Calibri"/>
                <a:cs typeface="Calibri"/>
                <a:sym typeface="Calibri"/>
              </a:rPr>
              <a:t>PhredoLexus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DA4BF"/>
              </a:buClr>
              <a:buSzPts val="1400"/>
              <a:buFont typeface="Calibri"/>
              <a:buNone/>
            </a:pPr>
            <a:r>
              <a:rPr lang="en-US" sz="1400" b="0" i="0" u="none" strike="noStrike" cap="none" dirty="0">
                <a:solidFill>
                  <a:srgbClr val="8DA4BF"/>
                </a:solidFill>
                <a:latin typeface="Calibri"/>
                <a:ea typeface="Calibri"/>
                <a:cs typeface="Calibri"/>
                <a:sym typeface="Calibri"/>
              </a:rPr>
              <a:t>Presented by Alfredo Garza and Alexis Chavez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A9F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9F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rebuchet MS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Overview &amp; Objectives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548640" y="1188720"/>
            <a:ext cx="8046720" cy="1005840"/>
          </a:xfrm>
          <a:prstGeom prst="rect">
            <a:avLst/>
          </a:prstGeom>
          <a:solidFill>
            <a:srgbClr val="142236"/>
          </a:solidFill>
          <a:ln>
            <a:noFill/>
          </a:ln>
          <a:effectLst>
            <a:outerShdw blurRad="76200" dist="254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548640" y="1188720"/>
            <a:ext cx="73152" cy="1005840"/>
          </a:xfrm>
          <a:prstGeom prst="rect">
            <a:avLst/>
          </a:prstGeom>
          <a:solidFill>
            <a:srgbClr val="00E5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2" name="Google Shape;32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2960" y="13716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/>
          <p:nvPr/>
        </p:nvSpPr>
        <p:spPr>
          <a:xfrm>
            <a:off x="1417320" y="1280160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E5A0"/>
              </a:buClr>
              <a:buSzPts val="1800"/>
              <a:buFont typeface="Trebuchet MS"/>
              <a:buNone/>
            </a:pPr>
            <a:r>
              <a:rPr lang="en-US" sz="1800" b="1" i="0" u="none" strike="noStrike" cap="none">
                <a:solidFill>
                  <a:srgbClr val="00E5A0"/>
                </a:solidFill>
                <a:latin typeface="Trebuchet MS"/>
                <a:ea typeface="Trebuchet MS"/>
                <a:cs typeface="Trebuchet MS"/>
                <a:sym typeface="Trebuchet MS"/>
              </a:rPr>
              <a:t>The Goal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1417320" y="164592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Transitioning a midterm classifier into a full-scale intelligence platform.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548640" y="246888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Key Upgrades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548640" y="2880360"/>
            <a:ext cx="8046720" cy="621792"/>
          </a:xfrm>
          <a:prstGeom prst="rect">
            <a:avLst/>
          </a:prstGeom>
          <a:solidFill>
            <a:srgbClr val="142236"/>
          </a:solidFill>
          <a:ln>
            <a:noFill/>
          </a:ln>
          <a:effectLst>
            <a:outerShdw blurRad="76200" dist="254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548640" y="2880360"/>
            <a:ext cx="73152" cy="621792"/>
          </a:xfrm>
          <a:prstGeom prst="rect">
            <a:avLst/>
          </a:prstGeom>
          <a:solidFill>
            <a:srgbClr val="1A9F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8" name="Google Shape;38;p4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22960" y="29718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4"/>
          <p:cNvSpPr/>
          <p:nvPr/>
        </p:nvSpPr>
        <p:spPr>
          <a:xfrm>
            <a:off x="1371600" y="2898648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9FD4"/>
              </a:buClr>
              <a:buSzPts val="1400"/>
              <a:buFont typeface="Trebuchet MS"/>
              <a:buNone/>
            </a:pPr>
            <a:r>
              <a:rPr lang="en-US" sz="1400" b="1" i="0" u="none" strike="noStrike" cap="none">
                <a:solidFill>
                  <a:srgbClr val="1A9FD4"/>
                </a:solidFill>
                <a:latin typeface="Trebuchet MS"/>
                <a:ea typeface="Trebuchet MS"/>
                <a:cs typeface="Trebuchet MS"/>
                <a:sym typeface="Trebuchet MS"/>
              </a:rPr>
              <a:t>Advanced NLP with spaCy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1371600" y="3182112"/>
            <a:ext cx="7040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DA4B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DA4BF"/>
                </a:solidFill>
                <a:latin typeface="Calibri"/>
                <a:ea typeface="Calibri"/>
                <a:cs typeface="Calibri"/>
                <a:sym typeface="Calibri"/>
              </a:rPr>
              <a:t>Industrial-strength tokenization, POS tagging, and lemmatization replace basic regex preprocessing.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548640" y="3611880"/>
            <a:ext cx="8046720" cy="621792"/>
          </a:xfrm>
          <a:prstGeom prst="rect">
            <a:avLst/>
          </a:prstGeom>
          <a:solidFill>
            <a:srgbClr val="142236"/>
          </a:solidFill>
          <a:ln>
            <a:noFill/>
          </a:ln>
          <a:effectLst>
            <a:outerShdw blurRad="76200" dist="254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548640" y="3611880"/>
            <a:ext cx="73152" cy="62179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3" name="Google Shape;43;p4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22960" y="37033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4"/>
          <p:cNvSpPr/>
          <p:nvPr/>
        </p:nvSpPr>
        <p:spPr>
          <a:xfrm>
            <a:off x="1371600" y="3630168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1400"/>
              <a:buFont typeface="Trebuchet MS"/>
              <a:buNone/>
            </a:pPr>
            <a:r>
              <a:rPr lang="en-US" sz="1400" b="1" i="0" u="none" strike="noStrike" cap="none">
                <a:solidFill>
                  <a:srgbClr val="00BCD4"/>
                </a:solidFill>
                <a:latin typeface="Trebuchet MS"/>
                <a:ea typeface="Trebuchet MS"/>
                <a:cs typeface="Trebuchet MS"/>
                <a:sym typeface="Trebuchet MS"/>
              </a:rPr>
              <a:t>Latent Theme Discovery with LDA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1371600" y="3913632"/>
            <a:ext cx="7040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DA4B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DA4BF"/>
                </a:solidFill>
                <a:latin typeface="Calibri"/>
                <a:ea typeface="Calibri"/>
                <a:cs typeface="Calibri"/>
                <a:sym typeface="Calibri"/>
              </a:rPr>
              <a:t>Unsupervised topic modeling surfaces hidden thematic patterns across the entire corpus automatically.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548640" y="4343400"/>
            <a:ext cx="8046720" cy="621792"/>
          </a:xfrm>
          <a:prstGeom prst="rect">
            <a:avLst/>
          </a:prstGeom>
          <a:solidFill>
            <a:srgbClr val="142236"/>
          </a:solidFill>
          <a:ln>
            <a:noFill/>
          </a:ln>
          <a:effectLst>
            <a:outerShdw blurRad="76200" dist="254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548640" y="4343400"/>
            <a:ext cx="73152" cy="621792"/>
          </a:xfrm>
          <a:prstGeom prst="rect">
            <a:avLst/>
          </a:prstGeom>
          <a:solidFill>
            <a:srgbClr val="00E5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8" name="Google Shape;48;p4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22960" y="44348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4"/>
          <p:cNvSpPr/>
          <p:nvPr/>
        </p:nvSpPr>
        <p:spPr>
          <a:xfrm>
            <a:off x="1371599" y="4361688"/>
            <a:ext cx="390214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E5A0"/>
              </a:buClr>
              <a:buSzPts val="1400"/>
              <a:buFont typeface="Trebuchet MS"/>
              <a:buNone/>
            </a:pPr>
            <a:r>
              <a:rPr lang="en-US" sz="1400" b="1" i="0" u="none" strike="noStrike" cap="none" dirty="0">
                <a:solidFill>
                  <a:srgbClr val="00E5A0"/>
                </a:solidFill>
                <a:latin typeface="Trebuchet MS"/>
                <a:ea typeface="Trebuchet MS"/>
                <a:cs typeface="Trebuchet MS"/>
                <a:sym typeface="Trebuchet MS"/>
              </a:rPr>
              <a:t>Granular Sentiment Tracking via NLTK VADER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1371600" y="4645152"/>
            <a:ext cx="7040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DA4BF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>
                <a:solidFill>
                  <a:srgbClr val="8DA4BF"/>
                </a:solidFill>
                <a:latin typeface="Calibri"/>
                <a:ea typeface="Calibri"/>
                <a:cs typeface="Calibri"/>
                <a:sym typeface="Calibri"/>
              </a:rPr>
              <a:t>Polarity scoring replaces rule-based keyword counting for nuanced tone analysis per article.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9F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548640" y="274320"/>
            <a:ext cx="64008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rebuchet MS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System Architecture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6949440" y="32004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A9FD4"/>
              </a:buClr>
              <a:buSzPts val="1800"/>
              <a:buFont typeface="Calibri"/>
              <a:buNone/>
            </a:pPr>
            <a:r>
              <a:rPr lang="en-US" sz="1800" b="0" i="1" u="none" strike="noStrike" cap="none">
                <a:solidFill>
                  <a:srgbClr val="1A9FD4"/>
                </a:solidFill>
                <a:latin typeface="Calibri"/>
                <a:ea typeface="Calibri"/>
                <a:cs typeface="Calibri"/>
                <a:sym typeface="Calibri"/>
              </a:rPr>
              <a:t>The "Brain"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274320" y="1463040"/>
            <a:ext cx="1920240" cy="1280160"/>
          </a:xfrm>
          <a:prstGeom prst="rect">
            <a:avLst/>
          </a:prstGeom>
          <a:solidFill>
            <a:srgbClr val="142236"/>
          </a:solidFill>
          <a:ln w="25400" cap="flat" cmpd="sng">
            <a:solidFill>
              <a:srgbClr val="1A9FD4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274320" y="1508760"/>
            <a:ext cx="192024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9FD4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1A9FD4"/>
                </a:solidFill>
                <a:latin typeface="Trebuchet MS"/>
                <a:ea typeface="Trebuchet MS"/>
                <a:cs typeface="Trebuchet MS"/>
                <a:sym typeface="Trebuchet MS"/>
              </a:rPr>
              <a:t>Data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9FD4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1A9FD4"/>
                </a:solidFill>
                <a:latin typeface="Trebuchet MS"/>
                <a:ea typeface="Trebuchet MS"/>
                <a:cs typeface="Trebuchet MS"/>
                <a:sym typeface="Trebuchet MS"/>
              </a:rPr>
              <a:t>(BBC News)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" name="Google Shape;61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40280" y="1920240"/>
            <a:ext cx="4572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5"/>
          <p:cNvSpPr/>
          <p:nvPr/>
        </p:nvSpPr>
        <p:spPr>
          <a:xfrm>
            <a:off x="2468880" y="1463040"/>
            <a:ext cx="1920240" cy="1280160"/>
          </a:xfrm>
          <a:prstGeom prst="rect">
            <a:avLst/>
          </a:prstGeom>
          <a:solidFill>
            <a:srgbClr val="142236"/>
          </a:solidFill>
          <a:ln w="25400" cap="flat" cmpd="sng">
            <a:solidFill>
              <a:srgbClr val="00BCD4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2468880" y="1508760"/>
            <a:ext cx="192024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00BCD4"/>
                </a:solidFill>
                <a:latin typeface="Trebuchet MS"/>
                <a:ea typeface="Trebuchet MS"/>
                <a:cs typeface="Trebuchet MS"/>
                <a:sym typeface="Trebuchet MS"/>
              </a:rPr>
              <a:t>spaCy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00BCD4"/>
                </a:solidFill>
                <a:latin typeface="Trebuchet MS"/>
                <a:ea typeface="Trebuchet MS"/>
                <a:cs typeface="Trebuchet MS"/>
                <a:sym typeface="Trebuchet MS"/>
              </a:rPr>
              <a:t>Preprocessing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" name="Google Shape;64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34840" y="1920240"/>
            <a:ext cx="4572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5"/>
          <p:cNvSpPr/>
          <p:nvPr/>
        </p:nvSpPr>
        <p:spPr>
          <a:xfrm>
            <a:off x="4663440" y="1463040"/>
            <a:ext cx="1920240" cy="1280160"/>
          </a:xfrm>
          <a:prstGeom prst="rect">
            <a:avLst/>
          </a:prstGeom>
          <a:solidFill>
            <a:srgbClr val="142236"/>
          </a:solidFill>
          <a:ln w="25400" cap="flat" cmpd="sng">
            <a:solidFill>
              <a:srgbClr val="00E5A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4663440" y="1508760"/>
            <a:ext cx="192024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E5A0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00E5A0"/>
                </a:solidFill>
                <a:latin typeface="Trebuchet MS"/>
                <a:ea typeface="Trebuchet MS"/>
                <a:cs typeface="Trebuchet MS"/>
                <a:sym typeface="Trebuchet MS"/>
              </a:rPr>
              <a:t>Intelligence Layer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E5A0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00E5A0"/>
                </a:solidFill>
                <a:latin typeface="Trebuchet MS"/>
                <a:ea typeface="Trebuchet MS"/>
                <a:cs typeface="Trebuchet MS"/>
                <a:sym typeface="Trebuchet MS"/>
              </a:rPr>
              <a:t>(LDA / Sentiment)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" name="Google Shape;67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29400" y="1920240"/>
            <a:ext cx="4572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5"/>
          <p:cNvSpPr/>
          <p:nvPr/>
        </p:nvSpPr>
        <p:spPr>
          <a:xfrm>
            <a:off x="6858000" y="1463040"/>
            <a:ext cx="1920240" cy="1280160"/>
          </a:xfrm>
          <a:prstGeom prst="rect">
            <a:avLst/>
          </a:prstGeom>
          <a:solidFill>
            <a:srgbClr val="142236"/>
          </a:solidFill>
          <a:ln w="25400" cap="flat" cmpd="sng">
            <a:solidFill>
              <a:srgbClr val="FFD54F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6858000" y="1508760"/>
            <a:ext cx="192024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D54F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FFD54F"/>
                </a:solidFill>
                <a:latin typeface="Trebuchet MS"/>
                <a:ea typeface="Trebuchet MS"/>
                <a:cs typeface="Trebuchet MS"/>
                <a:sym typeface="Trebuchet MS"/>
              </a:rPr>
              <a:t>Output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D54F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FFD54F"/>
                </a:solidFill>
                <a:latin typeface="Trebuchet MS"/>
                <a:ea typeface="Trebuchet MS"/>
                <a:cs typeface="Trebuchet MS"/>
                <a:sym typeface="Trebuchet MS"/>
              </a:rPr>
              <a:t>(Classification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D54F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FFD54F"/>
                </a:solidFill>
                <a:latin typeface="Trebuchet MS"/>
                <a:ea typeface="Trebuchet MS"/>
                <a:cs typeface="Trebuchet MS"/>
                <a:sym typeface="Trebuchet MS"/>
              </a:rPr>
              <a:t>&amp; Insights)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548640" y="3200400"/>
            <a:ext cx="8046720" cy="1463040"/>
          </a:xfrm>
          <a:prstGeom prst="rect">
            <a:avLst/>
          </a:prstGeom>
          <a:solidFill>
            <a:srgbClr val="142236"/>
          </a:solidFill>
          <a:ln>
            <a:noFill/>
          </a:ln>
          <a:effectLst>
            <a:outerShdw blurRad="76200" dist="254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548640" y="3200400"/>
            <a:ext cx="73152" cy="1463040"/>
          </a:xfrm>
          <a:prstGeom prst="rect">
            <a:avLst/>
          </a:prstGeom>
          <a:solidFill>
            <a:srgbClr val="1A9F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2" name="Google Shape;72;p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22960" y="333756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5"/>
          <p:cNvSpPr/>
          <p:nvPr/>
        </p:nvSpPr>
        <p:spPr>
          <a:xfrm>
            <a:off x="1417320" y="3291840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9FD4"/>
              </a:buClr>
              <a:buSzPts val="1600"/>
              <a:buFont typeface="Trebuchet MS"/>
              <a:buNone/>
            </a:pPr>
            <a:r>
              <a:rPr lang="en-US" sz="1600" b="1" i="0" u="none" strike="noStrike" cap="none">
                <a:solidFill>
                  <a:srgbClr val="1A9FD4"/>
                </a:solidFill>
                <a:latin typeface="Trebuchet MS"/>
                <a:ea typeface="Trebuchet MS"/>
                <a:cs typeface="Trebuchet MS"/>
                <a:sym typeface="Trebuchet MS"/>
              </a:rPr>
              <a:t>Modular Design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1417320" y="3703320"/>
            <a:ext cx="69494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300"/>
              <a:buFont typeface="Calibri"/>
              <a:buNone/>
            </a:pPr>
            <a:r>
              <a:rPr lang="en-US" sz="1300" b="0" i="0" u="none" strike="noStrike" cap="none" dirty="0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Each component is independent and swappable. We tested multiple models, including Multinomial Naive Bayes, Logistic Regression, and </a:t>
            </a:r>
            <a:r>
              <a:rPr lang="en-US" sz="1300" b="0" i="0" u="none" strike="noStrike" cap="none" dirty="0" err="1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LinearSVC</a:t>
            </a:r>
            <a:r>
              <a:rPr lang="en-US" sz="1300" b="0" i="0" u="none" strike="noStrike" cap="none" dirty="0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. Because of this modular design, we can easily integrate transformer-based models or add an LLM summarization layer without needing to rebuild the entire pipeline.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9F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6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rebuchet MS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Module A: Topic Modeling &amp; Sentiment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457200" y="1188720"/>
            <a:ext cx="3931920" cy="3474720"/>
          </a:xfrm>
          <a:prstGeom prst="rect">
            <a:avLst/>
          </a:prstGeom>
          <a:solidFill>
            <a:srgbClr val="142236"/>
          </a:solidFill>
          <a:ln>
            <a:noFill/>
          </a:ln>
          <a:effectLst>
            <a:outerShdw blurRad="76200" dist="254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6"/>
          <p:cNvSpPr/>
          <p:nvPr/>
        </p:nvSpPr>
        <p:spPr>
          <a:xfrm>
            <a:off x="457200" y="1188720"/>
            <a:ext cx="3931920" cy="54864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4" name="Google Shape;84;p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1520" y="14173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6"/>
          <p:cNvSpPr/>
          <p:nvPr/>
        </p:nvSpPr>
        <p:spPr>
          <a:xfrm>
            <a:off x="1234440" y="141732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1600"/>
              <a:buFont typeface="Trebuchet MS"/>
              <a:buNone/>
            </a:pPr>
            <a:r>
              <a:rPr lang="en-US" sz="1600" b="1" i="0" u="none" strike="noStrike" cap="none">
                <a:solidFill>
                  <a:srgbClr val="00BCD4"/>
                </a:solidFill>
                <a:latin typeface="Trebuchet MS"/>
                <a:ea typeface="Trebuchet MS"/>
                <a:cs typeface="Trebuchet MS"/>
                <a:sym typeface="Trebuchet MS"/>
              </a:rPr>
              <a:t>Topic Modeling (LDA)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6" name="Google Shape;86;p6"/>
          <p:cNvGraphicFramePr/>
          <p:nvPr/>
        </p:nvGraphicFramePr>
        <p:xfrm>
          <a:off x="640080" y="1965960"/>
          <a:ext cx="3566150" cy="1670300"/>
        </p:xfrm>
        <a:graphic>
          <a:graphicData uri="http://schemas.openxmlformats.org/drawingml/2006/table">
            <a:tbl>
              <a:tblPr>
                <a:noFill/>
                <a:tableStyleId>{3DB775B8-E623-466D-B67C-6B1615F0E35B}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929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0B1929"/>
                          </a:solidFill>
                        </a:rPr>
                        <a:t>Topic</a:t>
                      </a:r>
                      <a:endParaRPr sz="11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1E3A5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3A5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3A5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3A5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9F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929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0B1929"/>
                          </a:solidFill>
                        </a:rPr>
                        <a:t>Top Words (Weight)</a:t>
                      </a:r>
                      <a:endParaRPr sz="11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1E3A5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3A5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3A5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3A5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9F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0F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E8F0FE"/>
                          </a:solidFill>
                        </a:rPr>
                        <a:t>Topic 0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1E3A5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3A5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3A5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3A5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4223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0F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E8F0FE"/>
                          </a:solidFill>
                        </a:rPr>
                        <a:t>government (0.032), economy (0.028), tax (0.025)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1E3A5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3A5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3A5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3A5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422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0F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E8F0FE"/>
                          </a:solidFill>
                        </a:rPr>
                        <a:t>Topic 1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1E3A5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3A5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3A5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3A5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4223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0F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E8F0FE"/>
                          </a:solidFill>
                        </a:rPr>
                        <a:t>player (0.041), game (0.035), win (0.030)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1E3A5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3A5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3A5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3A5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422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0F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E8F0FE"/>
                          </a:solidFill>
                        </a:rPr>
                        <a:t>Topic 2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1E3A5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3A5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3A5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3A5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4223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0F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E8F0FE"/>
                          </a:solidFill>
                        </a:rPr>
                        <a:t>film (0.038), music (0.029), award (0.024)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1E3A5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3A5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3A5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3A5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422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0F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E8F0FE"/>
                          </a:solidFill>
                        </a:rPr>
                        <a:t>Topic 3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1E3A5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3A5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3A5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3A5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4223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0F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strike="noStrike" cap="none">
                          <a:solidFill>
                            <a:srgbClr val="E8F0FE"/>
                          </a:solidFill>
                        </a:rPr>
                        <a:t>mobile (0.044), software (0.033), data (0.027)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1E3A5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3A5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3A5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3A5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422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7" name="Google Shape;87;p6"/>
          <p:cNvSpPr/>
          <p:nvPr/>
        </p:nvSpPr>
        <p:spPr>
          <a:xfrm>
            <a:off x="4754880" y="1188720"/>
            <a:ext cx="3931920" cy="3474720"/>
          </a:xfrm>
          <a:prstGeom prst="rect">
            <a:avLst/>
          </a:prstGeom>
          <a:solidFill>
            <a:srgbClr val="142236"/>
          </a:solidFill>
          <a:ln>
            <a:noFill/>
          </a:ln>
          <a:effectLst>
            <a:outerShdw blurRad="76200" dist="254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6"/>
          <p:cNvSpPr/>
          <p:nvPr/>
        </p:nvSpPr>
        <p:spPr>
          <a:xfrm>
            <a:off x="4754880" y="1188720"/>
            <a:ext cx="3931920" cy="54864"/>
          </a:xfrm>
          <a:prstGeom prst="rect">
            <a:avLst/>
          </a:prstGeom>
          <a:solidFill>
            <a:srgbClr val="00E5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9" name="Google Shape;89;p6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29200" y="14173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6"/>
          <p:cNvSpPr/>
          <p:nvPr/>
        </p:nvSpPr>
        <p:spPr>
          <a:xfrm>
            <a:off x="5532120" y="141732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E5A0"/>
              </a:buClr>
              <a:buSzPts val="1600"/>
              <a:buFont typeface="Trebuchet MS"/>
              <a:buNone/>
            </a:pPr>
            <a:r>
              <a:rPr lang="en-US" sz="1600" b="1" i="0" u="none" strike="noStrike" cap="none">
                <a:solidFill>
                  <a:srgbClr val="00E5A0"/>
                </a:solidFill>
                <a:latin typeface="Trebuchet MS"/>
                <a:ea typeface="Trebuchet MS"/>
                <a:cs typeface="Trebuchet MS"/>
                <a:sym typeface="Trebuchet MS"/>
              </a:rPr>
              <a:t>Sentiment Evolution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5029200" y="196596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DA4BF"/>
              </a:buClr>
              <a:buSzPts val="1200"/>
              <a:buFont typeface="Trebuchet MS"/>
              <a:buNone/>
            </a:pPr>
            <a:r>
              <a:rPr lang="en-US" sz="1200" b="1" i="0" u="none" strike="noStrike" cap="none">
                <a:solidFill>
                  <a:srgbClr val="8DA4BF"/>
                </a:solidFill>
                <a:latin typeface="Trebuchet MS"/>
                <a:ea typeface="Trebuchet MS"/>
                <a:cs typeface="Trebuchet MS"/>
                <a:sym typeface="Trebuchet MS"/>
              </a:rPr>
              <a:t>BEFORE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5029200" y="2240280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DA4B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DA4BF"/>
                </a:solidFill>
                <a:latin typeface="Calibri"/>
                <a:ea typeface="Calibri"/>
                <a:cs typeface="Calibri"/>
                <a:sym typeface="Calibri"/>
              </a:rPr>
              <a:t>Rule-based keyword counting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DA4B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DA4BF"/>
                </a:solidFill>
                <a:latin typeface="Calibri"/>
                <a:ea typeface="Calibri"/>
                <a:cs typeface="Calibri"/>
                <a:sym typeface="Calibri"/>
              </a:rPr>
              <a:t>(positive/negative word lists)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6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92240" y="278892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6"/>
          <p:cNvSpPr/>
          <p:nvPr/>
        </p:nvSpPr>
        <p:spPr>
          <a:xfrm>
            <a:off x="5029200" y="320040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E5A0"/>
              </a:buClr>
              <a:buSzPts val="1200"/>
              <a:buFont typeface="Trebuchet MS"/>
              <a:buNone/>
            </a:pPr>
            <a:r>
              <a:rPr lang="en-US" sz="1200" b="1" i="0" u="none" strike="noStrike" cap="none">
                <a:solidFill>
                  <a:srgbClr val="00E5A0"/>
                </a:solidFill>
                <a:latin typeface="Trebuchet MS"/>
                <a:ea typeface="Trebuchet MS"/>
                <a:cs typeface="Trebuchet MS"/>
                <a:sym typeface="Trebuchet MS"/>
              </a:rPr>
              <a:t>AFTER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5029200" y="3474720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Sentiment analysis using NLTK VADER and transformer-based models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Continuous, nuanced tone measurement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457200" y="4800600"/>
            <a:ext cx="8229600" cy="27432"/>
          </a:xfrm>
          <a:prstGeom prst="rect">
            <a:avLst/>
          </a:prstGeom>
          <a:solidFill>
            <a:srgbClr val="1A9FD4">
              <a:alpha val="4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7" name="Google Shape;97;p6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48640" y="461772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6"/>
          <p:cNvSpPr/>
          <p:nvPr/>
        </p:nvSpPr>
        <p:spPr>
          <a:xfrm>
            <a:off x="868680" y="457200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D54F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FFD54F"/>
                </a:solidFill>
                <a:latin typeface="Calibri"/>
                <a:ea typeface="Calibri"/>
                <a:cs typeface="Calibri"/>
                <a:sym typeface="Calibri"/>
              </a:rPr>
              <a:t>Value: See what the news is about and how it is being reported — simultaneously.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7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9F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7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rebuchet MS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Modules B &amp; C: Entities &amp; Multilingual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457200" y="1188720"/>
            <a:ext cx="3931920" cy="3291840"/>
          </a:xfrm>
          <a:prstGeom prst="rect">
            <a:avLst/>
          </a:prstGeom>
          <a:solidFill>
            <a:srgbClr val="142236"/>
          </a:solidFill>
          <a:ln>
            <a:noFill/>
          </a:ln>
          <a:effectLst>
            <a:outerShdw blurRad="76200" dist="254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7"/>
          <p:cNvSpPr/>
          <p:nvPr/>
        </p:nvSpPr>
        <p:spPr>
          <a:xfrm>
            <a:off x="457200" y="1188720"/>
            <a:ext cx="73152" cy="329184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8" name="Google Shape;108;p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1520" y="137160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7"/>
          <p:cNvSpPr/>
          <p:nvPr/>
        </p:nvSpPr>
        <p:spPr>
          <a:xfrm>
            <a:off x="1280160" y="1371600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1600"/>
              <a:buFont typeface="Trebuchet MS"/>
              <a:buNone/>
            </a:pPr>
            <a:r>
              <a:rPr lang="en-US" sz="1600" b="1" i="0" u="none" strike="noStrike" cap="none">
                <a:solidFill>
                  <a:srgbClr val="00BCD4"/>
                </a:solidFill>
                <a:latin typeface="Trebuchet MS"/>
                <a:ea typeface="Trebuchet MS"/>
                <a:cs typeface="Trebuchet MS"/>
                <a:sym typeface="Trebuchet MS"/>
              </a:rPr>
              <a:t>Named Entity Recognition (NER)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731520" y="1965960"/>
            <a:ext cx="34747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spaCy's NER pipeline identifies real-world entities automatically: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731520" y="2468880"/>
            <a:ext cx="822960" cy="320040"/>
          </a:xfrm>
          <a:prstGeom prst="rect">
            <a:avLst/>
          </a:prstGeom>
          <a:solidFill>
            <a:srgbClr val="1A9F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7"/>
          <p:cNvSpPr/>
          <p:nvPr/>
        </p:nvSpPr>
        <p:spPr>
          <a:xfrm>
            <a:off x="731520" y="2468880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B1929"/>
              </a:buClr>
              <a:buSzPts val="1100"/>
              <a:buFont typeface="Trebuchet MS"/>
              <a:buNone/>
            </a:pPr>
            <a:r>
              <a:rPr lang="en-US" sz="1100" b="1" i="0" u="none" strike="noStrike" cap="none">
                <a:solidFill>
                  <a:srgbClr val="0B1929"/>
                </a:solidFill>
                <a:latin typeface="Trebuchet MS"/>
                <a:ea typeface="Trebuchet MS"/>
                <a:cs typeface="Trebuchet MS"/>
                <a:sym typeface="Trebuchet MS"/>
              </a:rPr>
              <a:t>ORG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1691640" y="246888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BBC, Apple, FIFA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731520" y="2926080"/>
            <a:ext cx="822960" cy="32004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7"/>
          <p:cNvSpPr/>
          <p:nvPr/>
        </p:nvSpPr>
        <p:spPr>
          <a:xfrm>
            <a:off x="731520" y="2926080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B1929"/>
              </a:buClr>
              <a:buSzPts val="1100"/>
              <a:buFont typeface="Trebuchet MS"/>
              <a:buNone/>
            </a:pPr>
            <a:r>
              <a:rPr lang="en-US" sz="1100" b="1" i="0" u="none" strike="noStrike" cap="none">
                <a:solidFill>
                  <a:srgbClr val="0B1929"/>
                </a:solidFill>
                <a:latin typeface="Trebuchet MS"/>
                <a:ea typeface="Trebuchet MS"/>
                <a:cs typeface="Trebuchet MS"/>
                <a:sym typeface="Trebuchet MS"/>
              </a:rPr>
              <a:t>GPE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1691640" y="292608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London, United States, Tokyo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731520" y="3383280"/>
            <a:ext cx="822960" cy="320040"/>
          </a:xfrm>
          <a:prstGeom prst="rect">
            <a:avLst/>
          </a:prstGeom>
          <a:solidFill>
            <a:srgbClr val="00E5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7"/>
          <p:cNvSpPr/>
          <p:nvPr/>
        </p:nvSpPr>
        <p:spPr>
          <a:xfrm>
            <a:off x="731520" y="3383280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B1929"/>
              </a:buClr>
              <a:buSzPts val="1100"/>
              <a:buFont typeface="Trebuchet MS"/>
              <a:buNone/>
            </a:pPr>
            <a:r>
              <a:rPr lang="en-US" sz="1100" b="1" i="0" u="none" strike="noStrike" cap="none">
                <a:solidFill>
                  <a:srgbClr val="0B1929"/>
                </a:solidFill>
                <a:latin typeface="Trebuchet MS"/>
                <a:ea typeface="Trebuchet MS"/>
                <a:cs typeface="Trebuchet MS"/>
                <a:sym typeface="Trebuchet MS"/>
              </a:rPr>
              <a:t>PERSON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1691640" y="338328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Tony Blair, Elon Musk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731520" y="3840480"/>
            <a:ext cx="822960" cy="320040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7"/>
          <p:cNvSpPr/>
          <p:nvPr/>
        </p:nvSpPr>
        <p:spPr>
          <a:xfrm>
            <a:off x="731520" y="3840480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B1929"/>
              </a:buClr>
              <a:buSzPts val="1100"/>
              <a:buFont typeface="Trebuchet MS"/>
              <a:buNone/>
            </a:pPr>
            <a:r>
              <a:rPr lang="en-US" sz="1100" b="1" i="0" u="none" strike="noStrike" cap="none">
                <a:solidFill>
                  <a:srgbClr val="0B1929"/>
                </a:solidFill>
                <a:latin typeface="Trebuchet MS"/>
                <a:ea typeface="Trebuchet MS"/>
                <a:cs typeface="Trebuchet MS"/>
                <a:sym typeface="Trebuchet MS"/>
              </a:rPr>
              <a:t>DATE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1691640" y="384048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Monday, January 2024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4754880" y="1188720"/>
            <a:ext cx="3931920" cy="3291840"/>
          </a:xfrm>
          <a:prstGeom prst="rect">
            <a:avLst/>
          </a:prstGeom>
          <a:solidFill>
            <a:srgbClr val="142236"/>
          </a:solidFill>
          <a:ln>
            <a:noFill/>
          </a:ln>
          <a:effectLst>
            <a:outerShdw blurRad="76200" dist="254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4754880" y="1188720"/>
            <a:ext cx="73152" cy="3291840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5" name="Google Shape;125;p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29200" y="137160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7"/>
          <p:cNvSpPr/>
          <p:nvPr/>
        </p:nvSpPr>
        <p:spPr>
          <a:xfrm>
            <a:off x="5577840" y="1371600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D54F"/>
              </a:buClr>
              <a:buSzPts val="1600"/>
              <a:buFont typeface="Trebuchet MS"/>
              <a:buNone/>
            </a:pPr>
            <a:r>
              <a:rPr lang="en-US" sz="1600" b="1" i="0" u="none" strike="noStrike" cap="none">
                <a:solidFill>
                  <a:srgbClr val="FFD54F"/>
                </a:solidFill>
                <a:latin typeface="Trebuchet MS"/>
                <a:ea typeface="Trebuchet MS"/>
                <a:cs typeface="Trebuchet MS"/>
                <a:sym typeface="Trebuchet MS"/>
              </a:rPr>
              <a:t>Multilingual Capability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5029200" y="1965960"/>
            <a:ext cx="347472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Translation layers integrated so NewsBot can process global news feeds — not just English data.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D54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D54F"/>
                </a:solidFill>
                <a:latin typeface="Calibri"/>
                <a:ea typeface="Calibri"/>
                <a:cs typeface="Calibri"/>
                <a:sym typeface="Calibri"/>
              </a:rPr>
              <a:t>Supported Workflow: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Foreign-language article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Auto-detect source language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Translate to English via API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Feed into NLP pipeline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Classify &amp; extract insights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9F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8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rebuchet MS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Performance &amp; Results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548640" y="1280160"/>
            <a:ext cx="3840480" cy="2286000"/>
          </a:xfrm>
          <a:prstGeom prst="rect">
            <a:avLst/>
          </a:prstGeom>
          <a:solidFill>
            <a:srgbClr val="142236"/>
          </a:solidFill>
          <a:ln>
            <a:noFill/>
          </a:ln>
          <a:effectLst>
            <a:outerShdw blurRad="76200" dist="254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136" name="Google Shape;136;p8"/>
          <p:cNvSpPr/>
          <p:nvPr/>
        </p:nvSpPr>
        <p:spPr>
          <a:xfrm>
            <a:off x="548640" y="1280160"/>
            <a:ext cx="3840480" cy="54864"/>
          </a:xfrm>
          <a:prstGeom prst="rect">
            <a:avLst/>
          </a:prstGeom>
          <a:solidFill>
            <a:srgbClr val="00E5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8"/>
          <p:cNvSpPr/>
          <p:nvPr/>
        </p:nvSpPr>
        <p:spPr>
          <a:xfrm>
            <a:off x="548640" y="1554480"/>
            <a:ext cx="384048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E5A0"/>
              </a:buClr>
              <a:buSzPts val="6400"/>
              <a:buFont typeface="Trebuchet MS"/>
              <a:buNone/>
            </a:pPr>
            <a:r>
              <a:rPr lang="en-US" sz="6400" b="1" i="0" u="none" strike="noStrike" cap="none" dirty="0">
                <a:solidFill>
                  <a:srgbClr val="00E5A0"/>
                </a:solidFill>
                <a:latin typeface="Trebuchet MS"/>
                <a:ea typeface="Trebuchet MS"/>
                <a:cs typeface="Trebuchet MS"/>
                <a:sym typeface="Trebuchet MS"/>
              </a:rPr>
              <a:t>98.8%</a:t>
            </a:r>
            <a:endParaRPr sz="6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548640" y="265176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Classification Accuracy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548640" y="3072024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DA4BF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>
                <a:solidFill>
                  <a:srgbClr val="8DA4BF"/>
                </a:solidFill>
                <a:latin typeface="Calibri"/>
                <a:ea typeface="Calibri"/>
                <a:cs typeface="Calibri"/>
                <a:sym typeface="Calibri"/>
              </a:rPr>
              <a:t>Best-performing model: Logistic Regression with 98.88% accuracy using TF-IDF features.</a:t>
            </a:r>
            <a:endParaRPr lang="en-US"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4754880" y="1280160"/>
            <a:ext cx="3840480" cy="2286000"/>
          </a:xfrm>
          <a:prstGeom prst="rect">
            <a:avLst/>
          </a:prstGeom>
          <a:solidFill>
            <a:srgbClr val="142236"/>
          </a:solidFill>
          <a:ln>
            <a:noFill/>
          </a:ln>
          <a:effectLst>
            <a:outerShdw blurRad="76200" dist="254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8"/>
          <p:cNvSpPr/>
          <p:nvPr/>
        </p:nvSpPr>
        <p:spPr>
          <a:xfrm>
            <a:off x="4754880" y="1280160"/>
            <a:ext cx="3840480" cy="54864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8"/>
          <p:cNvSpPr/>
          <p:nvPr/>
        </p:nvSpPr>
        <p:spPr>
          <a:xfrm>
            <a:off x="4754880" y="1554480"/>
            <a:ext cx="384048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D54F"/>
              </a:buClr>
              <a:buSzPts val="6400"/>
              <a:buFont typeface="Trebuchet MS"/>
              <a:buNone/>
            </a:pPr>
            <a:r>
              <a:rPr lang="en-US" sz="6400" b="1" i="0" u="none" strike="noStrike" cap="none">
                <a:solidFill>
                  <a:srgbClr val="FFD54F"/>
                </a:solidFill>
                <a:latin typeface="Trebuchet MS"/>
                <a:ea typeface="Trebuchet MS"/>
                <a:cs typeface="Trebuchet MS"/>
                <a:sym typeface="Trebuchet MS"/>
              </a:rPr>
              <a:t>4x</a:t>
            </a:r>
            <a:endParaRPr sz="6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4754880" y="265176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More Metadata Per Article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4754880" y="301752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DA4B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DA4BF"/>
                </a:solidFill>
                <a:latin typeface="Calibri"/>
                <a:ea typeface="Calibri"/>
                <a:cs typeface="Calibri"/>
                <a:sym typeface="Calibri"/>
              </a:rPr>
              <a:t>vs. midterm version (category only)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548640" y="384048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What 2.0 Adds Per Article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548640" y="4297680"/>
            <a:ext cx="1920240" cy="640080"/>
          </a:xfrm>
          <a:prstGeom prst="rect">
            <a:avLst/>
          </a:prstGeom>
          <a:solidFill>
            <a:srgbClr val="142236"/>
          </a:solidFill>
          <a:ln>
            <a:noFill/>
          </a:ln>
          <a:effectLst>
            <a:outerShdw blurRad="76200" dist="254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8"/>
          <p:cNvSpPr/>
          <p:nvPr/>
        </p:nvSpPr>
        <p:spPr>
          <a:xfrm>
            <a:off x="548640" y="4297680"/>
            <a:ext cx="1920240" cy="45720"/>
          </a:xfrm>
          <a:prstGeom prst="rect">
            <a:avLst/>
          </a:prstGeom>
          <a:solidFill>
            <a:srgbClr val="1A9F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8"/>
          <p:cNvSpPr/>
          <p:nvPr/>
        </p:nvSpPr>
        <p:spPr>
          <a:xfrm>
            <a:off x="548640" y="4370832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9FD4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1A9FD4"/>
                </a:solidFill>
                <a:latin typeface="Trebuchet MS"/>
                <a:ea typeface="Trebuchet MS"/>
                <a:cs typeface="Trebuchet MS"/>
                <a:sym typeface="Trebuchet MS"/>
              </a:rPr>
              <a:t>Category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548640" y="4617720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DA4B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8DA4BF"/>
                </a:solidFill>
                <a:latin typeface="Calibri"/>
                <a:ea typeface="Calibri"/>
                <a:cs typeface="Calibri"/>
                <a:sym typeface="Calibri"/>
              </a:rPr>
              <a:t>Classification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2651760" y="4297680"/>
            <a:ext cx="1920240" cy="640080"/>
          </a:xfrm>
          <a:prstGeom prst="rect">
            <a:avLst/>
          </a:prstGeom>
          <a:solidFill>
            <a:srgbClr val="142236"/>
          </a:solidFill>
          <a:ln>
            <a:noFill/>
          </a:ln>
          <a:effectLst>
            <a:outerShdw blurRad="76200" dist="254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2651760" y="4297680"/>
            <a:ext cx="1920240" cy="457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8"/>
          <p:cNvSpPr/>
          <p:nvPr/>
        </p:nvSpPr>
        <p:spPr>
          <a:xfrm>
            <a:off x="2651760" y="4370832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00BCD4"/>
                </a:solidFill>
                <a:latin typeface="Trebuchet MS"/>
                <a:ea typeface="Trebuchet MS"/>
                <a:cs typeface="Trebuchet MS"/>
                <a:sym typeface="Trebuchet MS"/>
              </a:rPr>
              <a:t>Topics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2651760" y="4617720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DA4B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8DA4BF"/>
                </a:solidFill>
                <a:latin typeface="Calibri"/>
                <a:ea typeface="Calibri"/>
                <a:cs typeface="Calibri"/>
                <a:sym typeface="Calibri"/>
              </a:rPr>
              <a:t>LDA Themes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4754880" y="4297680"/>
            <a:ext cx="1920240" cy="640080"/>
          </a:xfrm>
          <a:prstGeom prst="rect">
            <a:avLst/>
          </a:prstGeom>
          <a:solidFill>
            <a:srgbClr val="142236"/>
          </a:solidFill>
          <a:ln>
            <a:noFill/>
          </a:ln>
          <a:effectLst>
            <a:outerShdw blurRad="76200" dist="254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8"/>
          <p:cNvSpPr/>
          <p:nvPr/>
        </p:nvSpPr>
        <p:spPr>
          <a:xfrm>
            <a:off x="4754880" y="4297680"/>
            <a:ext cx="1920240" cy="45720"/>
          </a:xfrm>
          <a:prstGeom prst="rect">
            <a:avLst/>
          </a:prstGeom>
          <a:solidFill>
            <a:srgbClr val="00E5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8"/>
          <p:cNvSpPr/>
          <p:nvPr/>
        </p:nvSpPr>
        <p:spPr>
          <a:xfrm>
            <a:off x="4754880" y="4370832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E5A0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00E5A0"/>
                </a:solidFill>
                <a:latin typeface="Trebuchet MS"/>
                <a:ea typeface="Trebuchet MS"/>
                <a:cs typeface="Trebuchet MS"/>
                <a:sym typeface="Trebuchet MS"/>
              </a:rPr>
              <a:t>Sentiment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4754880" y="4617720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DA4B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8DA4BF"/>
                </a:solidFill>
                <a:latin typeface="Calibri"/>
                <a:ea typeface="Calibri"/>
                <a:cs typeface="Calibri"/>
                <a:sym typeface="Calibri"/>
              </a:rPr>
              <a:t>Polarity Score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6858000" y="4297680"/>
            <a:ext cx="1920240" cy="640080"/>
          </a:xfrm>
          <a:prstGeom prst="rect">
            <a:avLst/>
          </a:prstGeom>
          <a:solidFill>
            <a:srgbClr val="142236"/>
          </a:solidFill>
          <a:ln>
            <a:noFill/>
          </a:ln>
          <a:effectLst>
            <a:outerShdw blurRad="76200" dist="254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8"/>
          <p:cNvSpPr/>
          <p:nvPr/>
        </p:nvSpPr>
        <p:spPr>
          <a:xfrm>
            <a:off x="6858000" y="4297680"/>
            <a:ext cx="1920240" cy="45720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6858000" y="4370832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D54F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FFD54F"/>
                </a:solidFill>
                <a:latin typeface="Trebuchet MS"/>
                <a:ea typeface="Trebuchet MS"/>
                <a:cs typeface="Trebuchet MS"/>
                <a:sym typeface="Trebuchet MS"/>
              </a:rPr>
              <a:t>Entities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6858000" y="4617720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DA4B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8DA4BF"/>
                </a:solidFill>
                <a:latin typeface="Calibri"/>
                <a:ea typeface="Calibri"/>
                <a:cs typeface="Calibri"/>
                <a:sym typeface="Calibri"/>
              </a:rPr>
              <a:t>ORG, GPE, PERSON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9F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9"/>
          <p:cNvSpPr/>
          <p:nvPr/>
        </p:nvSpPr>
        <p:spPr>
          <a:xfrm>
            <a:off x="548640" y="274320"/>
            <a:ext cx="64008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rebuchet MS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Live Demo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6400800" y="32004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A9FD4"/>
              </a:buClr>
              <a:buSzPts val="1800"/>
              <a:buFont typeface="Calibri"/>
              <a:buNone/>
            </a:pPr>
            <a:r>
              <a:rPr lang="en-US" sz="1800" b="0" i="1" u="none" strike="noStrike" cap="none">
                <a:solidFill>
                  <a:srgbClr val="1A9FD4"/>
                </a:solidFill>
                <a:latin typeface="Calibri"/>
                <a:ea typeface="Calibri"/>
                <a:cs typeface="Calibri"/>
                <a:sym typeface="Calibri"/>
              </a:rPr>
              <a:t>Google Colab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457200" y="1188720"/>
            <a:ext cx="8229600" cy="2468880"/>
          </a:xfrm>
          <a:prstGeom prst="rect">
            <a:avLst/>
          </a:prstGeom>
          <a:solidFill>
            <a:srgbClr val="0A0E14"/>
          </a:solidFill>
          <a:ln>
            <a:noFill/>
          </a:ln>
          <a:effectLst>
            <a:outerShdw blurRad="76200" dist="254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9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9"/>
          <p:cNvSpPr/>
          <p:nvPr/>
        </p:nvSpPr>
        <p:spPr>
          <a:xfrm>
            <a:off x="640080" y="11887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DA4BF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8DA4BF"/>
                </a:solidFill>
                <a:latin typeface="Consolas"/>
                <a:ea typeface="Consolas"/>
                <a:cs typeface="Consolas"/>
                <a:sym typeface="Consolas"/>
              </a:rPr>
              <a:t>newsbot_v2.ipynb — Colab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640080" y="1554480"/>
            <a:ext cx="7772400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E5A0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00E5A0"/>
                </a:solidFill>
                <a:latin typeface="Consolas"/>
                <a:ea typeface="Consolas"/>
                <a:cs typeface="Consolas"/>
                <a:sym typeface="Consolas"/>
              </a:rPr>
              <a:t>&gt;&gt;&gt; doc = nlp("The UK government announced new tech policy")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E8F0FE"/>
                </a:solidFill>
                <a:latin typeface="Consolas"/>
                <a:ea typeface="Consolas"/>
                <a:cs typeface="Consolas"/>
                <a:sym typeface="Consolas"/>
              </a:rPr>
              <a:t>&gt;&gt;&gt; for token in doc: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E8F0FE"/>
                </a:solidFill>
                <a:latin typeface="Consolas"/>
                <a:ea typeface="Consolas"/>
                <a:cs typeface="Consolas"/>
                <a:sym typeface="Consolas"/>
              </a:rPr>
              <a:t>...   print(token.text, token.lemma_, token.pos_)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DA4BF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8DA4BF"/>
                </a:solidFill>
                <a:latin typeface="Consolas"/>
                <a:ea typeface="Consolas"/>
                <a:cs typeface="Consolas"/>
                <a:sym typeface="Consolas"/>
              </a:rPr>
              <a:t>The            the            DET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DA4BF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8DA4BF"/>
                </a:solidFill>
                <a:latin typeface="Consolas"/>
                <a:ea typeface="Consolas"/>
                <a:cs typeface="Consolas"/>
                <a:sym typeface="Consolas"/>
              </a:rPr>
              <a:t>UK             UK             PROPN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DA4BF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8DA4BF"/>
                </a:solidFill>
                <a:latin typeface="Consolas"/>
                <a:ea typeface="Consolas"/>
                <a:cs typeface="Consolas"/>
                <a:sym typeface="Consolas"/>
              </a:rPr>
              <a:t>government     government     NOUN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D54F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FFD54F"/>
                </a:solidFill>
                <a:latin typeface="Consolas"/>
                <a:ea typeface="Consolas"/>
                <a:cs typeface="Consolas"/>
                <a:sym typeface="Consolas"/>
              </a:rPr>
              <a:t>announced      announce       VERB   &lt;&lt; lemmatized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E5A0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00E5A0"/>
                </a:solidFill>
                <a:latin typeface="Consolas"/>
                <a:ea typeface="Consolas"/>
                <a:cs typeface="Consolas"/>
                <a:sym typeface="Consolas"/>
              </a:rPr>
              <a:t>&gt;&gt;&gt; predict("New mobile app uses AI for health tracking")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00BCD4"/>
                </a:solidFill>
                <a:latin typeface="Consolas"/>
                <a:ea typeface="Consolas"/>
                <a:cs typeface="Consolas"/>
                <a:sym typeface="Consolas"/>
              </a:rPr>
              <a:t>Category: tech  |  Confidence: 0.94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548640" y="388620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Demo Highlights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457200" y="4297680"/>
            <a:ext cx="2560320" cy="777240"/>
          </a:xfrm>
          <a:prstGeom prst="rect">
            <a:avLst/>
          </a:prstGeom>
          <a:solidFill>
            <a:srgbClr val="142236"/>
          </a:solidFill>
          <a:ln>
            <a:noFill/>
          </a:ln>
          <a:effectLst>
            <a:outerShdw blurRad="76200" dist="254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9"/>
          <p:cNvSpPr/>
          <p:nvPr/>
        </p:nvSpPr>
        <p:spPr>
          <a:xfrm>
            <a:off x="457200" y="4297680"/>
            <a:ext cx="64008" cy="777240"/>
          </a:xfrm>
          <a:prstGeom prst="rect">
            <a:avLst/>
          </a:prstGeom>
          <a:solidFill>
            <a:srgbClr val="1A9F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7" name="Google Shape;177;p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0080" y="438912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9"/>
          <p:cNvSpPr/>
          <p:nvPr/>
        </p:nvSpPr>
        <p:spPr>
          <a:xfrm>
            <a:off x="1005840" y="434340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9FD4"/>
              </a:buClr>
              <a:buSzPts val="1200"/>
              <a:buFont typeface="Trebuchet MS"/>
              <a:buNone/>
            </a:pPr>
            <a:r>
              <a:rPr lang="en-US" sz="1200" b="1" i="0" u="none" strike="noStrike" cap="none">
                <a:solidFill>
                  <a:srgbClr val="1A9FD4"/>
                </a:solidFill>
                <a:latin typeface="Trebuchet MS"/>
                <a:ea typeface="Trebuchet MS"/>
                <a:cs typeface="Trebuchet MS"/>
                <a:sym typeface="Trebuchet MS"/>
              </a:rPr>
              <a:t>Lemmatization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1005840" y="461772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DA4B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DA4BF"/>
                </a:solidFill>
                <a:latin typeface="Calibri"/>
                <a:ea typeface="Calibri"/>
                <a:cs typeface="Calibri"/>
                <a:sym typeface="Calibri"/>
              </a:rPr>
              <a:t>"announced" → "announce"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DA4B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DA4BF"/>
                </a:solidFill>
                <a:latin typeface="Calibri"/>
                <a:ea typeface="Calibri"/>
                <a:cs typeface="Calibri"/>
                <a:sym typeface="Calibri"/>
              </a:rPr>
              <a:t>Complex words reduced to root forms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3291840" y="4297680"/>
            <a:ext cx="2560320" cy="777240"/>
          </a:xfrm>
          <a:prstGeom prst="rect">
            <a:avLst/>
          </a:prstGeom>
          <a:solidFill>
            <a:srgbClr val="142236"/>
          </a:solidFill>
          <a:ln>
            <a:noFill/>
          </a:ln>
          <a:effectLst>
            <a:outerShdw blurRad="76200" dist="254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9"/>
          <p:cNvSpPr/>
          <p:nvPr/>
        </p:nvSpPr>
        <p:spPr>
          <a:xfrm>
            <a:off x="3291840" y="4297680"/>
            <a:ext cx="64008" cy="777240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2" name="Google Shape;182;p9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74720" y="438912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9"/>
          <p:cNvSpPr/>
          <p:nvPr/>
        </p:nvSpPr>
        <p:spPr>
          <a:xfrm>
            <a:off x="3840480" y="434340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D54F"/>
              </a:buClr>
              <a:buSzPts val="1200"/>
              <a:buFont typeface="Trebuchet MS"/>
              <a:buNone/>
            </a:pPr>
            <a:r>
              <a:rPr lang="en-US" sz="1200" b="1" i="0" u="none" strike="noStrike" cap="none">
                <a:solidFill>
                  <a:srgbClr val="FFD54F"/>
                </a:solidFill>
                <a:latin typeface="Trebuchet MS"/>
                <a:ea typeface="Trebuchet MS"/>
                <a:cs typeface="Trebuchet MS"/>
                <a:sym typeface="Trebuchet MS"/>
              </a:rPr>
              <a:t>Live Prediction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3840480" y="461772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DA4B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DA4BF"/>
                </a:solidFill>
                <a:latin typeface="Calibri"/>
                <a:ea typeface="Calibri"/>
                <a:cs typeface="Calibri"/>
                <a:sym typeface="Calibri"/>
              </a:rPr>
              <a:t>Real-time classification with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DA4B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DA4BF"/>
                </a:solidFill>
                <a:latin typeface="Calibri"/>
                <a:ea typeface="Calibri"/>
                <a:cs typeface="Calibri"/>
                <a:sym typeface="Calibri"/>
              </a:rPr>
              <a:t>confidence scoring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6126480" y="4297680"/>
            <a:ext cx="2560320" cy="777240"/>
          </a:xfrm>
          <a:prstGeom prst="rect">
            <a:avLst/>
          </a:prstGeom>
          <a:solidFill>
            <a:srgbClr val="142236"/>
          </a:solidFill>
          <a:ln>
            <a:noFill/>
          </a:ln>
          <a:effectLst>
            <a:outerShdw blurRad="76200" dist="254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9"/>
          <p:cNvSpPr/>
          <p:nvPr/>
        </p:nvSpPr>
        <p:spPr>
          <a:xfrm>
            <a:off x="6126480" y="4297680"/>
            <a:ext cx="64008" cy="777240"/>
          </a:xfrm>
          <a:prstGeom prst="rect">
            <a:avLst/>
          </a:prstGeom>
          <a:solidFill>
            <a:srgbClr val="00E5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7" name="Google Shape;187;p9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09360" y="438912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9"/>
          <p:cNvSpPr/>
          <p:nvPr/>
        </p:nvSpPr>
        <p:spPr>
          <a:xfrm>
            <a:off x="6675120" y="434340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E5A0"/>
              </a:buClr>
              <a:buSzPts val="1200"/>
              <a:buFont typeface="Trebuchet MS"/>
              <a:buNone/>
            </a:pPr>
            <a:r>
              <a:rPr lang="en-US" sz="1200" b="1" i="0" u="none" strike="noStrike" cap="none">
                <a:solidFill>
                  <a:srgbClr val="00E5A0"/>
                </a:solidFill>
                <a:latin typeface="Trebuchet MS"/>
                <a:ea typeface="Trebuchet MS"/>
                <a:cs typeface="Trebuchet MS"/>
                <a:sym typeface="Trebuchet MS"/>
              </a:rPr>
              <a:t>Full Pipeline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6675120" y="461772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DA4B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DA4BF"/>
                </a:solidFill>
                <a:latin typeface="Calibri"/>
                <a:ea typeface="Calibri"/>
                <a:cs typeface="Calibri"/>
                <a:sym typeface="Calibri"/>
              </a:rPr>
              <a:t>Preprocessing → Analysis →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DA4B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DA4BF"/>
                </a:solidFill>
                <a:latin typeface="Calibri"/>
                <a:ea typeface="Calibri"/>
                <a:cs typeface="Calibri"/>
                <a:sym typeface="Calibri"/>
              </a:rPr>
              <a:t>Classification in one pass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9F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1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rebuchet MS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Conclusion &amp; Future Roadmap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0"/>
          <p:cNvSpPr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E5A0"/>
              </a:buClr>
              <a:buSzPts val="2000"/>
              <a:buFont typeface="Trebuchet MS"/>
              <a:buNone/>
            </a:pPr>
            <a:r>
              <a:rPr lang="en-US" sz="2000" b="1" i="0" u="none" strike="noStrike" cap="none">
                <a:solidFill>
                  <a:srgbClr val="00E5A0"/>
                </a:solidFill>
                <a:latin typeface="Trebuchet MS"/>
                <a:ea typeface="Trebuchet MS"/>
                <a:cs typeface="Trebuchet MS"/>
                <a:sym typeface="Trebuchet MS"/>
              </a:rPr>
              <a:t>Next Steps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548640" y="1645920"/>
            <a:ext cx="8046720" cy="822960"/>
          </a:xfrm>
          <a:prstGeom prst="rect">
            <a:avLst/>
          </a:prstGeom>
          <a:solidFill>
            <a:srgbClr val="142236"/>
          </a:solidFill>
          <a:ln>
            <a:noFill/>
          </a:ln>
          <a:effectLst>
            <a:outerShdw blurRad="76200" dist="254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"/>
          <p:cNvSpPr/>
          <p:nvPr/>
        </p:nvSpPr>
        <p:spPr>
          <a:xfrm>
            <a:off x="548640" y="1645920"/>
            <a:ext cx="73152" cy="822960"/>
          </a:xfrm>
          <a:prstGeom prst="rect">
            <a:avLst/>
          </a:prstGeom>
          <a:solidFill>
            <a:srgbClr val="1A9F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0" name="Google Shape;200;p1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2960" y="182880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0"/>
          <p:cNvSpPr/>
          <p:nvPr/>
        </p:nvSpPr>
        <p:spPr>
          <a:xfrm>
            <a:off x="1417320" y="1737360"/>
            <a:ext cx="6858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9FD4"/>
              </a:buClr>
              <a:buSzPts val="1600"/>
              <a:buFont typeface="Trebuchet MS"/>
              <a:buNone/>
            </a:pPr>
            <a:r>
              <a:rPr lang="en-US" sz="1600" b="1" i="0" u="none" strike="noStrike" cap="none">
                <a:solidFill>
                  <a:srgbClr val="1A9FD4"/>
                </a:solidFill>
                <a:latin typeface="Trebuchet MS"/>
                <a:ea typeface="Trebuchet MS"/>
                <a:cs typeface="Trebuchet MS"/>
                <a:sym typeface="Trebuchet MS"/>
              </a:rPr>
              <a:t>Streamlit Frontend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1417320" y="2057400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Interactive web dashboard for real-time news monitoring, filtering, and visualization — no Colab required.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548640" y="2606040"/>
            <a:ext cx="8046720" cy="822960"/>
          </a:xfrm>
          <a:prstGeom prst="rect">
            <a:avLst/>
          </a:prstGeom>
          <a:solidFill>
            <a:srgbClr val="142236"/>
          </a:solidFill>
          <a:ln>
            <a:noFill/>
          </a:ln>
          <a:effectLst>
            <a:outerShdw blurRad="76200" dist="254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0"/>
          <p:cNvSpPr/>
          <p:nvPr/>
        </p:nvSpPr>
        <p:spPr>
          <a:xfrm>
            <a:off x="548640" y="2606040"/>
            <a:ext cx="73152" cy="82296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5" name="Google Shape;205;p10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22960" y="27889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0"/>
          <p:cNvSpPr/>
          <p:nvPr/>
        </p:nvSpPr>
        <p:spPr>
          <a:xfrm>
            <a:off x="1417320" y="2697480"/>
            <a:ext cx="6858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1600"/>
              <a:buFont typeface="Trebuchet MS"/>
              <a:buNone/>
            </a:pPr>
            <a:r>
              <a:rPr lang="en-US" sz="1600" b="1" i="0" u="none" strike="noStrike" cap="none">
                <a:solidFill>
                  <a:srgbClr val="00BCD4"/>
                </a:solidFill>
                <a:latin typeface="Trebuchet MS"/>
                <a:ea typeface="Trebuchet MS"/>
                <a:cs typeface="Trebuchet MS"/>
                <a:sym typeface="Trebuchet MS"/>
              </a:rPr>
              <a:t>LLM Summaries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1417320" y="3017520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Integrate Large Language Model summaries to auto-generate concise article briefs alongside classification results.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548640" y="3566160"/>
            <a:ext cx="8046720" cy="822960"/>
          </a:xfrm>
          <a:prstGeom prst="rect">
            <a:avLst/>
          </a:prstGeom>
          <a:solidFill>
            <a:srgbClr val="142236"/>
          </a:solidFill>
          <a:ln>
            <a:noFill/>
          </a:ln>
          <a:effectLst>
            <a:outerShdw blurRad="76200" dist="254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0"/>
          <p:cNvSpPr/>
          <p:nvPr/>
        </p:nvSpPr>
        <p:spPr>
          <a:xfrm>
            <a:off x="548640" y="3566160"/>
            <a:ext cx="73152" cy="822960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0" name="Google Shape;210;p10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22960" y="374904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0"/>
          <p:cNvSpPr/>
          <p:nvPr/>
        </p:nvSpPr>
        <p:spPr>
          <a:xfrm>
            <a:off x="1417320" y="3657600"/>
            <a:ext cx="6858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D54F"/>
              </a:buClr>
              <a:buSzPts val="1600"/>
              <a:buFont typeface="Trebuchet MS"/>
              <a:buNone/>
            </a:pPr>
            <a:r>
              <a:rPr lang="en-US" sz="1600" b="1" i="0" u="none" strike="noStrike" cap="none">
                <a:solidFill>
                  <a:srgbClr val="FFD54F"/>
                </a:solidFill>
                <a:latin typeface="Trebuchet MS"/>
                <a:ea typeface="Trebuchet MS"/>
                <a:cs typeface="Trebuchet MS"/>
                <a:sym typeface="Trebuchet MS"/>
              </a:rPr>
              <a:t>Expanded Sources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1417320" y="3977640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Scale beyond BBC to Reuters, AP, and international feeds with full multilingual support.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3" name="Google Shape;213;p10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97280" y="416052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0"/>
          <p:cNvSpPr/>
          <p:nvPr/>
        </p:nvSpPr>
        <p:spPr>
          <a:xfrm>
            <a:off x="1463040" y="411480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D54F"/>
              </a:buClr>
              <a:buSzPts val="1400"/>
              <a:buFont typeface="Calibri"/>
              <a:buNone/>
            </a:pPr>
            <a:r>
              <a:rPr lang="en-US" sz="1400" b="0" i="1" u="none" strike="noStrike" cap="none">
                <a:solidFill>
                  <a:srgbClr val="FFD54F"/>
                </a:solidFill>
                <a:latin typeface="Calibri"/>
                <a:ea typeface="Calibri"/>
                <a:cs typeface="Calibri"/>
                <a:sym typeface="Calibri"/>
              </a:rPr>
              <a:t>"NewsBot 2.0 is now a production-ready tool for automated media monitoring."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2286000" y="4572000"/>
            <a:ext cx="4572000" cy="27432"/>
          </a:xfrm>
          <a:prstGeom prst="rect">
            <a:avLst/>
          </a:prstGeom>
          <a:solidFill>
            <a:srgbClr val="1A9FD4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0"/>
          <p:cNvSpPr/>
          <p:nvPr/>
        </p:nvSpPr>
        <p:spPr>
          <a:xfrm>
            <a:off x="457200" y="46634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E5A0"/>
              </a:buClr>
              <a:buSzPts val="1400"/>
              <a:buFont typeface="Calibri"/>
              <a:buNone/>
            </a:pPr>
            <a:r>
              <a:rPr lang="en-US" sz="1400" b="1" i="0" u="none" strike="noStrike" cap="none" dirty="0">
                <a:solidFill>
                  <a:srgbClr val="00E5A0"/>
                </a:solidFill>
                <a:latin typeface="Calibri"/>
                <a:ea typeface="Calibri"/>
                <a:cs typeface="Calibri"/>
                <a:sym typeface="Calibri"/>
              </a:rPr>
              <a:t>Team </a:t>
            </a:r>
            <a:r>
              <a:rPr lang="en-US" sz="1400" b="1" i="0" u="none" strike="noStrike" cap="none" dirty="0" err="1">
                <a:solidFill>
                  <a:srgbClr val="00E5A0"/>
                </a:solidFill>
                <a:latin typeface="Calibri"/>
                <a:ea typeface="Calibri"/>
                <a:cs typeface="Calibri"/>
                <a:sym typeface="Calibri"/>
              </a:rPr>
              <a:t>PhredoLexus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1607</Words>
  <Application>Microsoft Office PowerPoint</Application>
  <PresentationFormat>On-screen Show (16:9)</PresentationFormat>
  <Paragraphs>175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Alfredo Garza</cp:lastModifiedBy>
  <cp:revision>1</cp:revision>
  <dcterms:modified xsi:type="dcterms:W3CDTF">2026-04-25T13:12:21Z</dcterms:modified>
</cp:coreProperties>
</file>